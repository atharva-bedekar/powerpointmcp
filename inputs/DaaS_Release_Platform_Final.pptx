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0" r:id="rId14"/>
    <p:sldId id="262" r:id="rId15"/>
    <p:sldId id="271" r:id="rId16"/>
    <p:sldId id="272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D5BFE1-0A73-4788-B0B6-0F02121DA4CA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ppendix" id="{AFB73B8E-7233-436D-839A-56B163018637}">
          <p14:sldIdLst>
            <p14:sldId id="260"/>
            <p14:sldId id="262"/>
            <p14:sldId id="271"/>
            <p14:sldId id="272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CF91E-8042-1B68-6706-661310A57114}" v="152" dt="2026-08-18T09:17:47.238"/>
    <p1510:client id="{3F3CA17A-9255-F174-F84A-4639D180B555}" v="3" dt="2026-08-18T06:02:45.227"/>
    <p1510:client id="{454AFEBC-E206-08DD-D7CA-BF47A40EF1DE}" v="92" dt="2026-08-18T03:45:23.642"/>
    <p1510:client id="{49D485AD-EEDC-BCC7-886E-3F3FF5C8E6A4}" v="158" dt="2026-08-19T10:13:34.481"/>
    <p1510:client id="{865A0AD0-AD62-37B4-7D9F-51E0668C2664}" v="5" dt="2026-08-18T03:48:26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18780-D62B-455F-8804-CF09E5FAA332}" type="datetimeFigureOut"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D1642-B3AD-4497-88F0-EEFE42CEC7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8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A918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2A9187"/>
                </a:solidFill>
                <a:latin typeface="Calibri"/>
                <a:ea typeface="Calibri"/>
                <a:cs typeface="Calibri"/>
              </a:rPr>
              <a:t>DEPLOYMENT AS A SERVICE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3600" b="1">
                <a:solidFill>
                  <a:srgbClr val="FFFFFF"/>
                </a:solidFill>
                <a:latin typeface="Cambria"/>
                <a:ea typeface="Cambria"/>
              </a:rPr>
              <a:t>AI-Driven</a:t>
            </a:r>
            <a:endParaRPr lang="en-US" sz="360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Release Platform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defines the process. The platform executes it. Nothing about the workflow is hard-coded.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High-Level Functional Architecture · Client Demo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Steps to Onboard — Then Every Release Just Runs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Connect and Configure happen once per client. After that, every deployment runs through the platform automatically — no code change to add a client or change a process.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002060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1762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3E5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371600" y="21122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371600" y="2459736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· one-time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724988" y="4100866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1261872" y="2971800"/>
            <a:ext cx="44348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Cloud accounts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323697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subscriptions &amp; environments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724988" y="3503023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261872" y="353872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repos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261872" y="380390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with its repository and branches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724988" y="2970493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261872" y="410565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1261872" y="4370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raise, review, and approve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724988" y="4647765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261872" y="467258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Teams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1261872" y="49377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ride existing channels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6080760" y="196596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9659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002060"/>
          </a:solidFill>
          <a:ln>
            <a:solidFill>
              <a:srgbClr val="0070C0"/>
            </a:solidFill>
          </a:ln>
        </p:spPr>
      </p:sp>
      <p:sp>
        <p:nvSpPr>
          <p:cNvPr id="29" name="Shape 27"/>
          <p:cNvSpPr/>
          <p:nvPr/>
        </p:nvSpPr>
        <p:spPr>
          <a:xfrm>
            <a:off x="6336792" y="21762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6C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903720" y="211226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903720" y="2459736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· one-time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6387737" y="2946980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793992" y="29718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793992" y="323697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governance around existing CI/CD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6387737" y="3535680"/>
            <a:ext cx="292608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6793992" y="353872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6793992" y="380390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parallel, or conditional per env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6387737" y="4102608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793992" y="410565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6793992" y="4370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Config-only, Hotfix, Infra-only</a:t>
            </a:r>
            <a:endParaRPr lang="en-US" sz="950"/>
          </a:p>
        </p:txBody>
      </p:sp>
      <p:sp>
        <p:nvSpPr>
          <p:cNvPr id="46" name="Text 44"/>
          <p:cNvSpPr/>
          <p:nvPr/>
        </p:nvSpPr>
        <p:spPr>
          <a:xfrm>
            <a:off x="6387738" y="4647764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6793992" y="467258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rules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793992" y="49377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 events, per-page enable/disable</a:t>
            </a:r>
            <a:endParaRPr lang="en-US" sz="950"/>
          </a:p>
        </p:txBody>
      </p:sp>
      <p:sp>
        <p:nvSpPr>
          <p:cNvPr id="49" name="Text 47"/>
          <p:cNvSpPr/>
          <p:nvPr/>
        </p:nvSpPr>
        <p:spPr>
          <a:xfrm>
            <a:off x="5879592" y="336042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/>
          </a:p>
        </p:txBody>
      </p:sp>
      <p:sp>
        <p:nvSpPr>
          <p:cNvPr id="50" name="Shape 48"/>
          <p:cNvSpPr/>
          <p:nvPr/>
        </p:nvSpPr>
        <p:spPr>
          <a:xfrm>
            <a:off x="548640" y="544068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02060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44068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deployment needs — phases, approvals, templates, notifications, environments — is defined here once and reused on every release.</a:t>
            </a:r>
            <a:endParaRPr lang="en-US" sz="1150"/>
          </a:p>
        </p:txBody>
      </p:sp>
      <p:sp>
        <p:nvSpPr>
          <p:cNvPr id="52" name="Text 5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Configured &amp; Orchestrated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2670048" y="120700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834640" y="12070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207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4956048" y="120700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120640" y="12070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4E9F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07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7498080" y="1207008"/>
            <a:ext cx="502920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Layers 1 &amp; 2 are what “Configure” defines and what “Run” executes.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246120" cy="4590288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7764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C3E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298448" y="3758184"/>
            <a:ext cx="24231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CLIENT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CONFIGURATION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9624" y="3986784"/>
            <a:ext cx="219456" cy="0"/>
          </a:xfrm>
          <a:prstGeom prst="line">
            <a:avLst/>
          </a:prstGeom>
          <a:noFill/>
          <a:ln w="317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0" y="1691640"/>
            <a:ext cx="7315200" cy="45902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947672"/>
            <a:ext cx="73152" cy="73152"/>
          </a:xfrm>
          <a:prstGeom prst="ellipse">
            <a:avLst/>
          </a:prstGeom>
          <a:solidFill>
            <a:srgbClr val="2C3E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874520"/>
            <a:ext cx="66751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Applications, Environments &amp; Release Definitions — registered once per account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43400" y="2478024"/>
            <a:ext cx="73152" cy="73152"/>
          </a:xfrm>
          <a:prstGeom prst="ellipse">
            <a:avLst/>
          </a:prstGeom>
          <a:solidFill>
            <a:srgbClr val="2C3E7B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40487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 — sequential, parallel, or conditional per stage, defined as configuration, not code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43400" y="3008376"/>
            <a:ext cx="73152" cy="73152"/>
          </a:xfrm>
          <a:prstGeom prst="ellipse">
            <a:avLst/>
          </a:prstGeom>
          <a:solidFill>
            <a:srgbClr val="2C3E7B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29352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Templates — Standard Release, Config-Only, Hotfix, Infra-Only — each mapped to its own phases and APIs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343400" y="3538728"/>
            <a:ext cx="73152" cy="73152"/>
          </a:xfrm>
          <a:prstGeom prst="ellipse">
            <a:avLst/>
          </a:prstGeom>
          <a:solidFill>
            <a:srgbClr val="2C3E7B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46557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Promotion, Notification &amp; Validation Rules — the gates and alerts that govern every release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343400" y="4069080"/>
            <a:ext cx="73152" cy="73152"/>
          </a:xfrm>
          <a:prstGeom prst="ellipse">
            <a:avLst/>
          </a:prstGeom>
          <a:solidFill>
            <a:srgbClr val="5A5486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9959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— runs configured phase chains (Discovery → Comparison → AI Readiness → Approval Gate → CI/CD → Validation)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343400" y="4599432"/>
            <a:ext cx="73152" cy="73152"/>
          </a:xfrm>
          <a:prstGeom prst="ellipse">
            <a:avLst/>
          </a:prstGeom>
          <a:solidFill>
            <a:srgbClr val="5A5486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4526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&amp; Audit Trail — tracks every release instance stage by stage, fully auditable end-to-end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343400" y="5129784"/>
            <a:ext cx="73152" cy="73152"/>
          </a:xfrm>
          <a:prstGeom prst="ellipse">
            <a:avLst/>
          </a:prstGeom>
          <a:solidFill>
            <a:srgbClr val="5A5486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50566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Approvers &amp; Gate Control — resolves Workflow Registry into real approvers at runtime with admin reordering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343400" y="5660136"/>
            <a:ext cx="73152" cy="73152"/>
          </a:xfrm>
          <a:prstGeom prst="ellipse">
            <a:avLst/>
          </a:prstGeom>
          <a:solidFill>
            <a:srgbClr val="5A5486"/>
          </a:solidFill>
          <a:ln/>
        </p:spPr>
      </p:sp>
      <p:sp>
        <p:nvSpPr>
          <p:cNvPr id="40" name="Text 38"/>
          <p:cNvSpPr/>
          <p:nvPr/>
        </p:nvSpPr>
        <p:spPr>
          <a:xfrm>
            <a:off x="4526280" y="55869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CI/CD Integration — seamlessly hands off to Azure DevOps, GitHub Actions, Jenkins without replacing existing tools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Intelligence, Execution &amp; Reporting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899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899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 pitchFamily="34" charset="-122"/>
                <a:cs typeface="Arial"/>
              </a:rPr>
              <a:t>3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8448" y="1417320"/>
            <a:ext cx="242316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AGENTIC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9624" y="2400300"/>
            <a:ext cx="219456" cy="0"/>
          </a:xfrm>
          <a:prstGeom prst="line">
            <a:avLst/>
          </a:prstGeom>
          <a:noFill/>
          <a:ln w="317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14800" y="1417320"/>
            <a:ext cx="7315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0020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709928"/>
            <a:ext cx="13990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2E8E82"/>
                </a:solidFill>
                <a:latin typeface="Calibri"/>
                <a:ea typeface="Calibri"/>
                <a:cs typeface="Calibri"/>
              </a:rPr>
              <a:t>Discovery Agent</a:t>
            </a: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 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425696" y="198424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snapshot</a:t>
            </a:r>
            <a:endParaRPr lang="en-US" sz="830"/>
          </a:p>
        </p:txBody>
      </p:sp>
      <p:sp>
        <p:nvSpPr>
          <p:cNvPr id="13" name="Shape 11"/>
          <p:cNvSpPr/>
          <p:nvPr/>
        </p:nvSpPr>
        <p:spPr>
          <a:xfrm>
            <a:off x="6062472" y="160020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709928"/>
            <a:ext cx="13990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2E8E82"/>
                </a:solidFill>
                <a:latin typeface="Calibri"/>
                <a:ea typeface="Calibri"/>
                <a:cs typeface="Calibri"/>
              </a:rPr>
              <a:t>Comparison Agent</a:t>
            </a: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 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190488" y="198424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vs. target delta</a:t>
            </a:r>
            <a:endParaRPr lang="en-US" sz="830"/>
          </a:p>
        </p:txBody>
      </p:sp>
      <p:sp>
        <p:nvSpPr>
          <p:cNvPr id="16" name="Shape 14"/>
          <p:cNvSpPr/>
          <p:nvPr/>
        </p:nvSpPr>
        <p:spPr>
          <a:xfrm>
            <a:off x="7827264" y="160020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709928"/>
            <a:ext cx="13990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2E8E82"/>
                </a:solidFill>
                <a:latin typeface="Calibri"/>
                <a:ea typeface="Calibri"/>
                <a:cs typeface="Calibri"/>
              </a:rPr>
              <a:t>Dependency Agent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7955280" y="198424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impacted</a:t>
            </a:r>
            <a:endParaRPr lang="en-US" sz="830"/>
          </a:p>
        </p:txBody>
      </p:sp>
      <p:sp>
        <p:nvSpPr>
          <p:cNvPr id="19" name="Shape 17"/>
          <p:cNvSpPr/>
          <p:nvPr/>
        </p:nvSpPr>
        <p:spPr>
          <a:xfrm>
            <a:off x="9592056" y="160020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0072" y="170992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9720072" y="198424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deploy?</a:t>
            </a:r>
            <a:endParaRPr lang="en-US" sz="830"/>
          </a:p>
        </p:txBody>
      </p:sp>
      <p:sp>
        <p:nvSpPr>
          <p:cNvPr id="22" name="Shape 20"/>
          <p:cNvSpPr/>
          <p:nvPr/>
        </p:nvSpPr>
        <p:spPr>
          <a:xfrm>
            <a:off x="4297680" y="246888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5696" y="2578608"/>
            <a:ext cx="13990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2E8E82"/>
                </a:solidFill>
                <a:latin typeface="Calibri"/>
                <a:ea typeface="Calibri"/>
                <a:cs typeface="Calibri"/>
              </a:rPr>
              <a:t>Risk Assessment Agent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425696" y="28529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rating</a:t>
            </a:r>
            <a:endParaRPr lang="en-US" sz="830"/>
          </a:p>
        </p:txBody>
      </p:sp>
      <p:sp>
        <p:nvSpPr>
          <p:cNvPr id="25" name="Shape 23"/>
          <p:cNvSpPr/>
          <p:nvPr/>
        </p:nvSpPr>
        <p:spPr>
          <a:xfrm>
            <a:off x="6062472" y="246888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578608"/>
            <a:ext cx="13990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2E8E82"/>
                </a:solidFill>
                <a:latin typeface="Calibri"/>
                <a:ea typeface="Calibri"/>
                <a:cs typeface="Calibri"/>
              </a:rPr>
              <a:t>Validation Agent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190488" y="28529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checks</a:t>
            </a:r>
            <a:endParaRPr lang="en-US" sz="830"/>
          </a:p>
        </p:txBody>
      </p:sp>
      <p:sp>
        <p:nvSpPr>
          <p:cNvPr id="28" name="Shape 26"/>
          <p:cNvSpPr/>
          <p:nvPr/>
        </p:nvSpPr>
        <p:spPr>
          <a:xfrm>
            <a:off x="7827264" y="2468880"/>
            <a:ext cx="1655064" cy="749808"/>
          </a:xfrm>
          <a:prstGeom prst="roundRect">
            <a:avLst>
              <a:gd name="adj" fmla="val 7317"/>
            </a:avLst>
          </a:prstGeom>
          <a:solidFill>
            <a:srgbClr val="E1F2EF"/>
          </a:solidFill>
          <a:ln w="12700">
            <a:solidFill>
              <a:srgbClr val="2E8E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578608"/>
            <a:ext cx="1399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Advisor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7955280" y="28529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Safe-to-rollback guidance</a:t>
            </a:r>
            <a:endParaRPr lang="en-US" sz="83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002060"/>
          </a:solidFill>
          <a:ln w="19050">
            <a:solidFill>
              <a:srgbClr val="2C3E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973068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973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4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98448" y="3566160"/>
            <a:ext cx="242316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EXECUTION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849624" y="4183380"/>
            <a:ext cx="219456" cy="0"/>
          </a:xfrm>
          <a:prstGeom prst="line">
            <a:avLst/>
          </a:prstGeom>
          <a:noFill/>
          <a:ln w="317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14800" y="3566160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·  GitHub  ·  Terraform  ·  ArgoCD  ·  Kubernetes  ·  Key Vault  ·  Databases</a:t>
            </a:r>
            <a:endParaRPr lang="en-US" sz="1150"/>
          </a:p>
        </p:txBody>
      </p:sp>
      <p:sp>
        <p:nvSpPr>
          <p:cNvPr id="38" name="Text 36"/>
          <p:cNvSpPr/>
          <p:nvPr/>
        </p:nvSpPr>
        <p:spPr>
          <a:xfrm>
            <a:off x="4343400" y="4169664"/>
            <a:ext cx="68580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Where change actually lands — DaaS triggers the CI/CD and cloud tooling, orchestrating it rather than replacing it.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4983480"/>
            <a:ext cx="3246120" cy="1234440"/>
          </a:xfrm>
          <a:prstGeom prst="roundRect">
            <a:avLst>
              <a:gd name="adj" fmla="val 7407"/>
            </a:avLst>
          </a:prstGeom>
          <a:solidFill>
            <a:srgbClr val="002060"/>
          </a:solidFill>
          <a:ln/>
        </p:spPr>
      </p:sp>
      <p:sp>
        <p:nvSpPr>
          <p:cNvPr id="40" name="Shape 38"/>
          <p:cNvSpPr/>
          <p:nvPr/>
        </p:nvSpPr>
        <p:spPr>
          <a:xfrm>
            <a:off x="777240" y="53903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390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 pitchFamily="34" charset="-122"/>
                <a:cs typeface="Arial"/>
              </a:rPr>
              <a:t>5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98448" y="4983480"/>
            <a:ext cx="242316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OBSERVABILITY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&amp; REPORTING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849624" y="5600700"/>
            <a:ext cx="219456" cy="0"/>
          </a:xfrm>
          <a:prstGeom prst="line">
            <a:avLst/>
          </a:prstGeom>
          <a:noFill/>
          <a:ln w="317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14800" y="4983480"/>
            <a:ext cx="7315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5166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Dashboard  ·  Environment Dashboard  ·  Release Summary  ·  Audit Trail  ·  Downloadable Reports</a:t>
            </a:r>
            <a:endParaRPr lang="en-US" sz="1150"/>
          </a:p>
        </p:txBody>
      </p:sp>
      <p:sp>
        <p:nvSpPr>
          <p:cNvPr id="46" name="Text 44"/>
          <p:cNvSpPr/>
          <p:nvPr/>
        </p:nvSpPr>
        <p:spPr>
          <a:xfrm>
            <a:off x="4343400" y="5586984"/>
            <a:ext cx="68580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Every action surfaces here — dashboards, summaries, a full audit trail, and downloadable reports for change-management records.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ADMIN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— Pub-Sub, Configurable Per Page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which events publish, who subscribes, on which channel — and can switch notifications off at page level.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· platform events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requested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started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175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failed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28346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triggered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977640" y="2011680"/>
            <a:ext cx="2148840" cy="1874520"/>
          </a:xfrm>
          <a:prstGeom prst="roundRect">
            <a:avLst>
              <a:gd name="adj" fmla="val 3902"/>
            </a:avLst>
          </a:prstGeom>
          <a:solidFill>
            <a:srgbClr val="002060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114800" y="297180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Admin rules decide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who gets what,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where, and when</a:t>
            </a:r>
          </a:p>
        </p:txBody>
      </p:sp>
      <p:sp>
        <p:nvSpPr>
          <p:cNvPr id="17" name="Shape 15"/>
          <p:cNvSpPr/>
          <p:nvPr/>
        </p:nvSpPr>
        <p:spPr>
          <a:xfrm>
            <a:off x="3383280" y="2926080"/>
            <a:ext cx="54864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926080"/>
            <a:ext cx="54864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20840" y="17373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· channels &amp; roles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6720840" y="2011680"/>
            <a:ext cx="470916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8686800" y="201168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Lead, Release Mgr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720840" y="2514600"/>
            <a:ext cx="470916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146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8686800" y="251460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channel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6720840" y="3017520"/>
            <a:ext cx="470916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0175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8686800" y="301752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#deployments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6720840" y="3520440"/>
            <a:ext cx="470916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5204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8686800" y="3520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ITSM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CONTROL — Admin can enable or disable notifications for any screen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4617720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page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85800" y="4983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3272" y="501091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325880" y="4983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2761488" y="45262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898648" y="4617720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run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2898648" y="4983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1" name="Shape 39"/>
          <p:cNvSpPr/>
          <p:nvPr/>
        </p:nvSpPr>
        <p:spPr>
          <a:xfrm>
            <a:off x="3246120" y="501091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538728" y="4983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4974336" y="45262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111496" y="4617720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5111496" y="4983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6" name="Shape 44"/>
          <p:cNvSpPr/>
          <p:nvPr/>
        </p:nvSpPr>
        <p:spPr>
          <a:xfrm>
            <a:off x="5458968" y="501091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751576" y="4983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7187184" y="45262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24344" y="4617720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summary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7324344" y="4983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9CEDB"/>
          </a:solidFill>
          <a:ln/>
        </p:spPr>
      </p:sp>
      <p:sp>
        <p:nvSpPr>
          <p:cNvPr id="51" name="Shape 49"/>
          <p:cNvSpPr/>
          <p:nvPr/>
        </p:nvSpPr>
        <p:spPr>
          <a:xfrm>
            <a:off x="7360920" y="501091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964424" y="4983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9400032" y="4526280"/>
            <a:ext cx="20299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537192" y="4617720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9537192" y="49834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56" name="Shape 54"/>
          <p:cNvSpPr/>
          <p:nvPr/>
        </p:nvSpPr>
        <p:spPr>
          <a:xfrm>
            <a:off x="9884664" y="501091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177272" y="4983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/>
          </a:p>
        </p:txBody>
      </p:sp>
      <p:sp>
        <p:nvSpPr>
          <p:cNvPr id="58" name="Text 5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VIEW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All Environments — One Screen</a:t>
            </a:r>
            <a:endParaRPr lang="en-US" sz="2600"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Leadership view across every onboarded customer, their applications, and the state of each environment.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8346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21208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126480" y="173736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7187184" y="173736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8247888" y="173736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9308592" y="173736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0369296" y="173736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945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Contoso Retail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834640" y="21945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212080" y="219456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236208" y="236829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23682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7296912" y="236829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21" name="Text 19"/>
          <p:cNvSpPr/>
          <p:nvPr/>
        </p:nvSpPr>
        <p:spPr>
          <a:xfrm>
            <a:off x="7296912" y="23682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8357616" y="236829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23682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24" name="Shape 22"/>
          <p:cNvSpPr/>
          <p:nvPr/>
        </p:nvSpPr>
        <p:spPr>
          <a:xfrm>
            <a:off x="9418320" y="236829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23682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10479024" y="236829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9CEDB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9024" y="236829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548640" y="2852928"/>
            <a:ext cx="10881360" cy="658368"/>
          </a:xfrm>
          <a:prstGeom prst="rect">
            <a:avLst/>
          </a:prstGeom>
          <a:solidFill>
            <a:srgbClr val="EDF1F9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28529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API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212080" y="285292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236208" y="302666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3026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7296912" y="302666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4" name="Text 32"/>
          <p:cNvSpPr/>
          <p:nvPr/>
        </p:nvSpPr>
        <p:spPr>
          <a:xfrm>
            <a:off x="7296912" y="3026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8357616" y="302666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3026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9418320" y="302666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0" y="3026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10479024" y="302666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9024" y="302666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548640" y="3511296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51129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Bank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2834640" y="351129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Service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5212080" y="351129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5.2.3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236208" y="36850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6" name="Text 44"/>
          <p:cNvSpPr/>
          <p:nvPr/>
        </p:nvSpPr>
        <p:spPr>
          <a:xfrm>
            <a:off x="6236208" y="36850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47" name="Shape 45"/>
          <p:cNvSpPr/>
          <p:nvPr/>
        </p:nvSpPr>
        <p:spPr>
          <a:xfrm>
            <a:off x="7296912" y="36850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48" name="Text 46"/>
          <p:cNvSpPr/>
          <p:nvPr/>
        </p:nvSpPr>
        <p:spPr>
          <a:xfrm>
            <a:off x="7296912" y="36850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49" name="Shape 47"/>
          <p:cNvSpPr/>
          <p:nvPr/>
        </p:nvSpPr>
        <p:spPr>
          <a:xfrm>
            <a:off x="8357616" y="36850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8357616" y="36850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800"/>
          </a:p>
        </p:txBody>
      </p:sp>
      <p:sp>
        <p:nvSpPr>
          <p:cNvPr id="51" name="Shape 49"/>
          <p:cNvSpPr/>
          <p:nvPr/>
        </p:nvSpPr>
        <p:spPr>
          <a:xfrm>
            <a:off x="9418320" y="36850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36850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10479024" y="368503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9CEDB"/>
          </a:solidFill>
          <a:ln/>
        </p:spPr>
      </p:sp>
      <p:sp>
        <p:nvSpPr>
          <p:cNvPr id="54" name="Text 52"/>
          <p:cNvSpPr/>
          <p:nvPr/>
        </p:nvSpPr>
        <p:spPr>
          <a:xfrm>
            <a:off x="10479024" y="368503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800"/>
          </a:p>
        </p:txBody>
      </p:sp>
      <p:sp>
        <p:nvSpPr>
          <p:cNvPr id="55" name="Shape 53"/>
          <p:cNvSpPr/>
          <p:nvPr/>
        </p:nvSpPr>
        <p:spPr>
          <a:xfrm>
            <a:off x="548640" y="4169664"/>
            <a:ext cx="10881360" cy="658368"/>
          </a:xfrm>
          <a:prstGeom prst="rect">
            <a:avLst/>
          </a:prstGeom>
          <a:solidFill>
            <a:srgbClr val="EDF1F9"/>
          </a:solidFill>
          <a:ln/>
        </p:spPr>
      </p:sp>
      <p:sp>
        <p:nvSpPr>
          <p:cNvPr id="56" name="Text 54"/>
          <p:cNvSpPr/>
          <p:nvPr/>
        </p:nvSpPr>
        <p:spPr>
          <a:xfrm>
            <a:off x="2834640" y="416966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App</a:t>
            </a:r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5212080" y="416966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3.0.7</a:t>
            </a:r>
            <a:endParaRPr lang="en-US" sz="1000"/>
          </a:p>
        </p:txBody>
      </p:sp>
      <p:sp>
        <p:nvSpPr>
          <p:cNvPr id="58" name="Shape 56"/>
          <p:cNvSpPr/>
          <p:nvPr/>
        </p:nvSpPr>
        <p:spPr>
          <a:xfrm>
            <a:off x="6236208" y="434340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59" name="Text 57"/>
          <p:cNvSpPr/>
          <p:nvPr/>
        </p:nvSpPr>
        <p:spPr>
          <a:xfrm>
            <a:off x="6236208" y="43434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7296912" y="434340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61" name="Text 59"/>
          <p:cNvSpPr/>
          <p:nvPr/>
        </p:nvSpPr>
        <p:spPr>
          <a:xfrm>
            <a:off x="7296912" y="43434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8357616" y="434340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63" name="Text 61"/>
          <p:cNvSpPr/>
          <p:nvPr/>
        </p:nvSpPr>
        <p:spPr>
          <a:xfrm>
            <a:off x="8357616" y="43434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9418320" y="434340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65" name="Text 63"/>
          <p:cNvSpPr/>
          <p:nvPr/>
        </p:nvSpPr>
        <p:spPr>
          <a:xfrm>
            <a:off x="9418320" y="43434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/>
          </a:p>
        </p:txBody>
      </p:sp>
      <p:sp>
        <p:nvSpPr>
          <p:cNvPr id="66" name="Shape 64"/>
          <p:cNvSpPr/>
          <p:nvPr/>
        </p:nvSpPr>
        <p:spPr>
          <a:xfrm>
            <a:off x="10479024" y="434340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7" name="Text 65"/>
          <p:cNvSpPr/>
          <p:nvPr/>
        </p:nvSpPr>
        <p:spPr>
          <a:xfrm>
            <a:off x="10479024" y="43434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548640" y="4828032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48280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Fabrikam Health</a:t>
            </a:r>
            <a:endParaRPr lang="en-US" sz="1100"/>
          </a:p>
        </p:txBody>
      </p:sp>
      <p:sp>
        <p:nvSpPr>
          <p:cNvPr id="70" name="Text 68"/>
          <p:cNvSpPr/>
          <p:nvPr/>
        </p:nvSpPr>
        <p:spPr>
          <a:xfrm>
            <a:off x="2834640" y="48280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050"/>
          </a:p>
        </p:txBody>
      </p:sp>
      <p:sp>
        <p:nvSpPr>
          <p:cNvPr id="71" name="Text 69"/>
          <p:cNvSpPr/>
          <p:nvPr/>
        </p:nvSpPr>
        <p:spPr>
          <a:xfrm>
            <a:off x="5212080" y="482803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4.1.2</a:t>
            </a:r>
            <a:endParaRPr lang="en-US" sz="1000"/>
          </a:p>
        </p:txBody>
      </p:sp>
      <p:sp>
        <p:nvSpPr>
          <p:cNvPr id="72" name="Shape 70"/>
          <p:cNvSpPr/>
          <p:nvPr/>
        </p:nvSpPr>
        <p:spPr>
          <a:xfrm>
            <a:off x="6236208" y="50017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73" name="Text 71"/>
          <p:cNvSpPr/>
          <p:nvPr/>
        </p:nvSpPr>
        <p:spPr>
          <a:xfrm>
            <a:off x="6236208" y="50017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74" name="Shape 72"/>
          <p:cNvSpPr/>
          <p:nvPr/>
        </p:nvSpPr>
        <p:spPr>
          <a:xfrm>
            <a:off x="7296912" y="50017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75" name="Text 73"/>
          <p:cNvSpPr/>
          <p:nvPr/>
        </p:nvSpPr>
        <p:spPr>
          <a:xfrm>
            <a:off x="7296912" y="50017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76" name="Shape 74"/>
          <p:cNvSpPr/>
          <p:nvPr/>
        </p:nvSpPr>
        <p:spPr>
          <a:xfrm>
            <a:off x="8357616" y="50017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77" name="Text 75"/>
          <p:cNvSpPr/>
          <p:nvPr/>
        </p:nvSpPr>
        <p:spPr>
          <a:xfrm>
            <a:off x="8357616" y="50017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9418320" y="50017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79" name="Text 77"/>
          <p:cNvSpPr/>
          <p:nvPr/>
        </p:nvSpPr>
        <p:spPr>
          <a:xfrm>
            <a:off x="9418320" y="50017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80" name="Shape 78"/>
          <p:cNvSpPr/>
          <p:nvPr/>
        </p:nvSpPr>
        <p:spPr>
          <a:xfrm>
            <a:off x="10479024" y="50017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81" name="Text 79"/>
          <p:cNvSpPr/>
          <p:nvPr/>
        </p:nvSpPr>
        <p:spPr>
          <a:xfrm>
            <a:off x="10479024" y="50017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00"/>
          </a:p>
        </p:txBody>
      </p:sp>
      <p:sp>
        <p:nvSpPr>
          <p:cNvPr id="82" name="Shape 80"/>
          <p:cNvSpPr/>
          <p:nvPr/>
        </p:nvSpPr>
        <p:spPr>
          <a:xfrm>
            <a:off x="548640" y="1737360"/>
            <a:ext cx="10881360" cy="3749040"/>
          </a:xfrm>
          <a:prstGeom prst="roundRect">
            <a:avLst>
              <a:gd name="adj" fmla="val 1463"/>
            </a:avLst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5669280"/>
            <a:ext cx="108813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Filter by customer, application, environment, or release — the same view drives both client-facing and internal oversight.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Summary — What's Actually Being Deployed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108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▾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840480" y="12984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Version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840480" y="1536192"/>
            <a:ext cx="23774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53619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 ▾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400800" y="153619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(latest · 3 prior versions available)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488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2.4.1  ·  Customer Portal  ·  Contoso Retail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6126480" y="2203704"/>
            <a:ext cx="1257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A9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126480" y="2514600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7383780" y="2203704"/>
            <a:ext cx="1257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A9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7383780" y="2514600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8641080" y="2203704"/>
            <a:ext cx="1257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A9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641080" y="2514600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9898380" y="2203704"/>
            <a:ext cx="1257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A9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9898380" y="2514600"/>
            <a:ext cx="12573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6583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5623560" y="313639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136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JIRA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804672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PORTAL-1142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2240280" y="35021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employee import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577840" y="35021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621792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886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PORTAL-1156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2240280" y="3886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login for contractors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5577840" y="38862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804672" y="4270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PORTAL-1163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2240280" y="42702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API timeout to 60s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577840" y="42702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731520" y="4654296"/>
            <a:ext cx="6217920" cy="38404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6542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PORTAL-1170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2240280" y="4654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session expiry on mobile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577840" y="46542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804672" y="50383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PORTAL-1174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2240280" y="5038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r>
              <a:rPr lang="en-US" sz="10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77840" y="50383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804672" y="549554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notes: scale-out to 4 AKS nodes before release · DB migration runs pre-deploy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7360920" y="2971800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8952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Introduced</a:t>
            </a:r>
            <a:endParaRPr lang="en-US" sz="1300"/>
          </a:p>
        </p:txBody>
      </p:sp>
      <p:sp>
        <p:nvSpPr>
          <p:cNvPr id="45" name="Text 43"/>
          <p:cNvSpPr/>
          <p:nvPr/>
        </p:nvSpPr>
        <p:spPr>
          <a:xfrm>
            <a:off x="7616952" y="35021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Configuration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9738360" y="359359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7" name="Text 45"/>
          <p:cNvSpPr/>
          <p:nvPr/>
        </p:nvSpPr>
        <p:spPr>
          <a:xfrm>
            <a:off x="97383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keys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7616952" y="3886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Secrets</a:t>
            </a:r>
            <a:endParaRPr lang="en-US" sz="1050"/>
          </a:p>
        </p:txBody>
      </p:sp>
      <p:sp>
        <p:nvSpPr>
          <p:cNvPr id="49" name="Shape 47"/>
          <p:cNvSpPr/>
          <p:nvPr/>
        </p:nvSpPr>
        <p:spPr>
          <a:xfrm>
            <a:off x="9738360" y="39776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50" name="Text 48"/>
          <p:cNvSpPr/>
          <p:nvPr/>
        </p:nvSpPr>
        <p:spPr>
          <a:xfrm>
            <a:off x="973836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· 1 rotate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7616952" y="4270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Infra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9738360" y="4361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53" name="Text 51"/>
          <p:cNvSpPr/>
          <p:nvPr/>
        </p:nvSpPr>
        <p:spPr>
          <a:xfrm>
            <a:off x="9738360" y="4361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change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7616952" y="4654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9738360" y="474573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56" name="Text 54"/>
          <p:cNvSpPr/>
          <p:nvPr/>
        </p:nvSpPr>
        <p:spPr>
          <a:xfrm>
            <a:off x="973836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v2.4.1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7616952" y="5038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/>
          </a:p>
        </p:txBody>
      </p:sp>
      <p:sp>
        <p:nvSpPr>
          <p:cNvPr id="58" name="Shape 56"/>
          <p:cNvSpPr/>
          <p:nvPr/>
        </p:nvSpPr>
        <p:spPr>
          <a:xfrm>
            <a:off x="9738360" y="512978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5462"/>
          </a:solidFill>
          <a:ln/>
        </p:spPr>
      </p:sp>
      <p:sp>
        <p:nvSpPr>
          <p:cNvPr id="59" name="Text 57"/>
          <p:cNvSpPr/>
          <p:nvPr/>
        </p:nvSpPr>
        <p:spPr>
          <a:xfrm>
            <a:off x="9738360" y="5129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migration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548640" y="54864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A9187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" y="5486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as PDF or Excel — attachable to the client's own change-management ticket.</a:t>
            </a:r>
            <a:endParaRPr lang="en-US" sz="1150"/>
          </a:p>
        </p:txBody>
      </p:sp>
      <p:sp>
        <p:nvSpPr>
          <p:cNvPr id="62" name="Text 6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63" name="Text 6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Summary — Sign-Offs &amp; Readiness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2651760" y="1901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4754880" y="1901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5943600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804672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754880" y="232257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/>
          </a:p>
        </p:txBody>
      </p:sp>
      <p:sp>
        <p:nvSpPr>
          <p:cNvPr id="14" name="Text 12"/>
          <p:cNvSpPr/>
          <p:nvPr/>
        </p:nvSpPr>
        <p:spPr>
          <a:xfrm>
            <a:off x="5943600" y="2194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09:12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621792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697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Owner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651760" y="2697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Owner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754880" y="282549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825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10:45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804672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2651760" y="32004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754880" y="332841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3284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594360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11:20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6217920" cy="502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Manager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265176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Manager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754880" y="383133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8313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5943600" y="3703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24h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804672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(PROD only)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265176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Board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754880" y="433425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CED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3342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5943600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7360920" y="137160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616952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STATUS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7616952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400"/>
          </a:p>
        </p:txBody>
      </p:sp>
      <p:sp>
        <p:nvSpPr>
          <p:cNvPr id="40" name="Text 38"/>
          <p:cNvSpPr/>
          <p:nvPr/>
        </p:nvSpPr>
        <p:spPr>
          <a:xfrm>
            <a:off x="9372600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proceed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7616952" y="2734056"/>
            <a:ext cx="292608" cy="292608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42" name="Text 40"/>
          <p:cNvSpPr/>
          <p:nvPr/>
        </p:nvSpPr>
        <p:spPr>
          <a:xfrm>
            <a:off x="761695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8019288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snapshot ready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7616952" y="3163824"/>
            <a:ext cx="292608" cy="292608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45" name="Text 43"/>
          <p:cNvSpPr/>
          <p:nvPr/>
        </p:nvSpPr>
        <p:spPr>
          <a:xfrm>
            <a:off x="7616952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8019288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available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7616952" y="3593592"/>
            <a:ext cx="292608" cy="292608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48" name="Text 46"/>
          <p:cNvSpPr/>
          <p:nvPr/>
        </p:nvSpPr>
        <p:spPr>
          <a:xfrm>
            <a:off x="7616952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8019288" y="35570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 ready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7616952" y="4023360"/>
            <a:ext cx="292608" cy="292608"/>
          </a:xfrm>
          <a:prstGeom prst="ellipse">
            <a:avLst/>
          </a:prstGeom>
          <a:solidFill>
            <a:srgbClr val="C69749"/>
          </a:solidFill>
          <a:ln/>
        </p:spPr>
      </p:sp>
      <p:sp>
        <p:nvSpPr>
          <p:cNvPr id="51" name="Text 49"/>
          <p:cNvSpPr/>
          <p:nvPr/>
        </p:nvSpPr>
        <p:spPr>
          <a:xfrm>
            <a:off x="7616952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8019288" y="3986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approvals complete</a:t>
            </a:r>
            <a:endParaRPr lang="en-US" sz="1050"/>
          </a:p>
        </p:txBody>
      </p:sp>
      <p:sp>
        <p:nvSpPr>
          <p:cNvPr id="53" name="Shape 51"/>
          <p:cNvSpPr/>
          <p:nvPr/>
        </p:nvSpPr>
        <p:spPr>
          <a:xfrm>
            <a:off x="7616952" y="4498848"/>
            <a:ext cx="3557016" cy="329184"/>
          </a:xfrm>
          <a:prstGeom prst="roundRect">
            <a:avLst>
              <a:gd name="adj" fmla="val 16667"/>
            </a:avLst>
          </a:prstGeom>
          <a:solidFill>
            <a:srgbClr val="141B47"/>
          </a:solidFill>
          <a:ln w="12700">
            <a:solidFill>
              <a:srgbClr val="C697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16952" y="44988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on: Release Manager sign-off</a:t>
            </a:r>
            <a:endParaRPr lang="en-US" sz="950"/>
          </a:p>
        </p:txBody>
      </p:sp>
      <p:sp>
        <p:nvSpPr>
          <p:cNvPr id="55" name="Text 53"/>
          <p:cNvSpPr/>
          <p:nvPr/>
        </p:nvSpPr>
        <p:spPr>
          <a:xfrm>
            <a:off x="548640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Every sign-off is captured with identity, timestamp, and the exact package reviewed — forming the audit trail.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Downloadable</a:t>
            </a:r>
            <a:endParaRPr lang="en-US" sz="270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generated automatically from real execution data — nothing assembled by hand.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2996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Summary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notes, changes introduced, JIRA release notes, affected services.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Excel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0288" y="202996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5111496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Summary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4590288" y="25420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stage, approver, decision, timestamp, and readiness status.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90288" y="3337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3337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Excel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8174736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3336" y="202996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22" name="Text 20"/>
          <p:cNvSpPr/>
          <p:nvPr/>
        </p:nvSpPr>
        <p:spPr>
          <a:xfrm>
            <a:off x="8403336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8924544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Report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8403336" y="25420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target state, deltas, risk, dependencies, recommendation.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8403336" y="33375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3337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427024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1298448" y="4251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Audit Trail</a:t>
            </a:r>
            <a:endParaRPr lang="en-US" sz="1250"/>
          </a:p>
        </p:txBody>
      </p:sp>
      <p:sp>
        <p:nvSpPr>
          <p:cNvPr id="31" name="Text 29"/>
          <p:cNvSpPr/>
          <p:nvPr/>
        </p:nvSpPr>
        <p:spPr>
          <a:xfrm>
            <a:off x="777240" y="47823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history — what ran, when, who approved, what was applied.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777240" y="5577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577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CSV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4361688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4590288" y="427024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36" name="Text 34"/>
          <p:cNvSpPr/>
          <p:nvPr/>
        </p:nvSpPr>
        <p:spPr>
          <a:xfrm>
            <a:off x="459028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37" name="Text 35"/>
          <p:cNvSpPr/>
          <p:nvPr/>
        </p:nvSpPr>
        <p:spPr>
          <a:xfrm>
            <a:off x="5111496" y="4251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1250"/>
          </a:p>
        </p:txBody>
      </p:sp>
      <p:sp>
        <p:nvSpPr>
          <p:cNvPr id="38" name="Text 36"/>
          <p:cNvSpPr/>
          <p:nvPr/>
        </p:nvSpPr>
        <p:spPr>
          <a:xfrm>
            <a:off x="4590288" y="47823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checks with pass / fail / warning per check.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90288" y="5577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0288" y="5577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Excel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8174736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42" name="Shape 40"/>
          <p:cNvSpPr/>
          <p:nvPr/>
        </p:nvSpPr>
        <p:spPr>
          <a:xfrm>
            <a:off x="8403336" y="4270248"/>
            <a:ext cx="402336" cy="402336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43" name="Text 41"/>
          <p:cNvSpPr/>
          <p:nvPr/>
        </p:nvSpPr>
        <p:spPr>
          <a:xfrm>
            <a:off x="8403336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4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8924544" y="4251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History</a:t>
            </a:r>
            <a:endParaRPr lang="en-US" sz="1250"/>
          </a:p>
        </p:txBody>
      </p:sp>
      <p:sp>
        <p:nvSpPr>
          <p:cNvPr id="45" name="Text 43"/>
          <p:cNvSpPr/>
          <p:nvPr/>
        </p:nvSpPr>
        <p:spPr>
          <a:xfrm>
            <a:off x="8403336" y="47823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history per environment across releases and customers.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8403336" y="5577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2A91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03336" y="5577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CSV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Deployment as a Service — Release  Platform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Waves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Each wave builds on the configuration model from the previous one — sequencing guidance, not committed dates.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2331720" y="1892808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foundation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5303520" y="18745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Environment Registry, Users &amp; Roles, Admin Console shell, Workflow Registry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8036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2331720" y="2990088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Engine, State Machine, Approval Engine, configurable deployment phases, Templates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2331720" y="4087368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 reporting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5303520" y="4069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Multi-customer platform view, Release Summary, Approval Summary, downloadable reports, JIRA notes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F3B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0749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749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4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2331720" y="5184648"/>
            <a:ext cx="2834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depth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303520" y="5166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pub-sub &amp; per-page control, Promotion Engine, Validation Engine, Rollback Manager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 Platform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2A918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Process. Our Platform.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workflow, approval chain, phase, template, and notification is something the client configures — not something we build for them.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A91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7B05B4-9EA8-10B4-3312-D44EAE2B8742}"/>
              </a:ext>
            </a:extLst>
          </p:cNvPr>
          <p:cNvGrpSpPr/>
          <p:nvPr/>
        </p:nvGrpSpPr>
        <p:grpSpPr>
          <a:xfrm>
            <a:off x="8696454" y="4456630"/>
            <a:ext cx="3372765" cy="2172572"/>
            <a:chOff x="4407483" y="4467516"/>
            <a:chExt cx="3372765" cy="2172572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9816632D-74EF-AF5D-F99E-ADD3CB7D8D4F}"/>
                </a:ext>
              </a:extLst>
            </p:cNvPr>
            <p:cNvSpPr txBox="1"/>
            <p:nvPr/>
          </p:nvSpPr>
          <p:spPr>
            <a:xfrm>
              <a:off x="4413103" y="4467516"/>
              <a:ext cx="3367145" cy="676902"/>
            </a:xfrm>
            <a:prstGeom prst="rect">
              <a:avLst/>
            </a:prstGeom>
            <a:noFill/>
          </p:spPr>
          <p:txBody>
            <a:bodyPr wrap="square" lIns="60948" tIns="30473" rIns="60948" bIns="30473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SemiBold"/>
                  <a:cs typeface="Poppins SemiBold"/>
                </a:rPr>
                <a:t>NITOR INFOTECH INC.</a:t>
              </a:r>
              <a:endParaRPr lang="en-US" sz="1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</a:endParaRPr>
            </a:p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900 National </a:t>
              </a:r>
              <a:r>
                <a:rPr kumimoji="0" lang="de-DE" sz="13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Pkwy</a:t>
              </a:r>
              <a:r>
                <a:rPr kumimoji="0" lang="de-DE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, Suite 210,</a:t>
              </a:r>
              <a:endParaRPr lang="de-DE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ExtraLight"/>
                <a:cs typeface="Poppins ExtraLight"/>
              </a:endParaRPr>
            </a:p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3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Schaumburg, IL 60173, USA</a:t>
              </a:r>
              <a:endParaRPr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ExtraLight"/>
                <a:cs typeface="Poppins ExtraLight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4D675398-9AF4-C578-E705-F951733A7780}"/>
                </a:ext>
              </a:extLst>
            </p:cNvPr>
            <p:cNvSpPr txBox="1"/>
            <p:nvPr/>
          </p:nvSpPr>
          <p:spPr>
            <a:xfrm>
              <a:off x="4407483" y="6373426"/>
              <a:ext cx="3313364" cy="266662"/>
            </a:xfrm>
            <a:prstGeom prst="rect">
              <a:avLst/>
            </a:prstGeom>
            <a:noFill/>
          </p:spPr>
          <p:txBody>
            <a:bodyPr wrap="square" lIns="60948" tIns="30473" rIns="60948" bIns="30473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www.nitorinfotech.com</a:t>
              </a:r>
              <a:endParaRPr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ExtraLight"/>
                <a:cs typeface="Poppins ExtraLight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9A529F81-142F-BA63-8303-F51B2439594C}"/>
                </a:ext>
              </a:extLst>
            </p:cNvPr>
            <p:cNvSpPr txBox="1"/>
            <p:nvPr/>
          </p:nvSpPr>
          <p:spPr>
            <a:xfrm>
              <a:off x="4413102" y="5327475"/>
              <a:ext cx="3307744" cy="882022"/>
            </a:xfrm>
            <a:prstGeom prst="rect">
              <a:avLst/>
            </a:prstGeom>
            <a:noFill/>
          </p:spPr>
          <p:txBody>
            <a:bodyPr wrap="square" lIns="60948" tIns="30473" rIns="60948" bIns="30473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SemiBold"/>
                  <a:cs typeface="Poppins SemiBold"/>
                </a:rPr>
                <a:t>GLOBAL DELIVERY CENTRE</a:t>
              </a:r>
              <a:r>
                <a:rPr kumimoji="0" lang="en-IN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SemiBold"/>
                  <a:cs typeface="Poppins SemiBold"/>
                </a:rPr>
                <a:t> </a:t>
              </a:r>
              <a:r>
                <a:rPr kumimoji="0" lang="en-IN" sz="13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SemiBold"/>
                  <a:cs typeface="Poppins SemiBold"/>
                </a:rPr>
                <a:t>PUNE, INDIA</a:t>
              </a:r>
              <a:endParaRPr lang="en-US" sz="1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</a:endParaRPr>
            </a:p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oppins ExtraLight"/>
                  <a:cs typeface="Poppins ExtraLight"/>
                </a:rPr>
                <a:t>Rhine, Block 1.5, Embassy Tech Zone, Rajiv Gandhi InfoTech Park, Hinjewadi Phase - II, Pune, Maharashtra 411057</a:t>
              </a:r>
              <a:endParaRPr 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ExtraLight"/>
                <a:cs typeface="Poppins ExtraLight"/>
              </a:endParaRPr>
            </a:p>
          </p:txBody>
        </p:sp>
      </p:grpSp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C8A6DD3-8070-B4D3-3293-3F5BEAA9F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30043" y="4384902"/>
            <a:ext cx="175260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every user sees after signing in — jump into the three things they need most.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1088136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82496"/>
            <a:ext cx="109728" cy="109728"/>
          </a:xfrm>
          <a:prstGeom prst="ellipse">
            <a:avLst/>
          </a:prstGeom>
          <a:solidFill>
            <a:srgbClr val="E0475A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682496"/>
            <a:ext cx="109728" cy="109728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682496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5361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Portal   ·   Contoso Retail   ·  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15361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as Alex Rivera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0881360" cy="4279392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38528"/>
            <a:ext cx="2194560" cy="4279392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57984"/>
            <a:ext cx="1792224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" y="25968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Workflow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" y="3035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39136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" y="4352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" y="4791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" y="5230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21579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Alex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84080" y="21762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176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New Request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0" y="246888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Contoso Retail  ·  Customer Portal environment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816352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852928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00400" y="31638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Deployments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91200" y="2816352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5974080" y="2852928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74080" y="31638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64880" y="2816352"/>
            <a:ext cx="2590800" cy="54864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8747760" y="2852928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47760" y="3163824"/>
            <a:ext cx="222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Run (30d)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17520" y="3511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017520" y="3785616"/>
            <a:ext cx="2590800" cy="1188720"/>
          </a:xfrm>
          <a:prstGeom prst="roundRect">
            <a:avLst>
              <a:gd name="adj" fmla="val 3846"/>
            </a:avLst>
          </a:prstGeom>
          <a:solidFill>
            <a:srgbClr val="F4F7F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2112" y="3931920"/>
            <a:ext cx="329184" cy="329184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38" name="Text 36"/>
          <p:cNvSpPr/>
          <p:nvPr/>
        </p:nvSpPr>
        <p:spPr>
          <a:xfrm>
            <a:off x="318211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21024" y="3931920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Workflow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82112" y="4315968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deployment pipeline from scratch.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82112" y="4663440"/>
            <a:ext cx="226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91200" y="3785616"/>
            <a:ext cx="2590800" cy="1188720"/>
          </a:xfrm>
          <a:prstGeom prst="roundRect">
            <a:avLst>
              <a:gd name="adj" fmla="val 3846"/>
            </a:avLst>
          </a:prstGeom>
          <a:solidFill>
            <a:srgbClr val="F4F7FC"/>
          </a:solidFill>
          <a:ln/>
        </p:spPr>
      </p:sp>
      <p:sp>
        <p:nvSpPr>
          <p:cNvPr id="43" name="Shape 41"/>
          <p:cNvSpPr/>
          <p:nvPr/>
        </p:nvSpPr>
        <p:spPr>
          <a:xfrm>
            <a:off x="5955792" y="3931920"/>
            <a:ext cx="329184" cy="329184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44" name="Shape 42"/>
          <p:cNvSpPr/>
          <p:nvPr/>
        </p:nvSpPr>
        <p:spPr>
          <a:xfrm rot="5400000">
            <a:off x="6065520" y="4014216"/>
            <a:ext cx="118872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94704" y="3931920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Existing Workflow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55792" y="4315968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request against a saved template.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55792" y="4663440"/>
            <a:ext cx="226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 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64880" y="3785616"/>
            <a:ext cx="2590800" cy="1188720"/>
          </a:xfrm>
          <a:prstGeom prst="roundRect">
            <a:avLst>
              <a:gd name="adj" fmla="val 3846"/>
            </a:avLst>
          </a:prstGeom>
          <a:solidFill>
            <a:srgbClr val="F4F7F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29472" y="3931920"/>
            <a:ext cx="329184" cy="329184"/>
          </a:xfrm>
          <a:prstGeom prst="ellipse">
            <a:avLst/>
          </a:prstGeom>
          <a:solidFill>
            <a:srgbClr val="2A9187"/>
          </a:solidFill>
          <a:ln/>
        </p:spPr>
      </p:sp>
      <p:sp>
        <p:nvSpPr>
          <p:cNvPr id="50" name="Text 48"/>
          <p:cNvSpPr/>
          <p:nvPr/>
        </p:nvSpPr>
        <p:spPr>
          <a:xfrm>
            <a:off x="872947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68384" y="3931920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Deployments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29472" y="4315968"/>
            <a:ext cx="226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across every environment.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729472" y="4663440"/>
            <a:ext cx="226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→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17520" y="5102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017520" y="5358384"/>
            <a:ext cx="8138160" cy="292608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56" name="Text 54"/>
          <p:cNvSpPr/>
          <p:nvPr/>
        </p:nvSpPr>
        <p:spPr>
          <a:xfrm>
            <a:off x="3154680" y="53583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— Release 2.4.1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961120" y="53583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921240" y="5394960"/>
            <a:ext cx="1097280" cy="219456"/>
          </a:xfrm>
          <a:prstGeom prst="roundRect">
            <a:avLst>
              <a:gd name="adj" fmla="val 208333"/>
            </a:avLst>
          </a:prstGeom>
          <a:solidFill>
            <a:srgbClr val="C69749"/>
          </a:solidFill>
          <a:ln/>
        </p:spPr>
      </p:sp>
      <p:sp>
        <p:nvSpPr>
          <p:cNvPr id="59" name="Text 57"/>
          <p:cNvSpPr/>
          <p:nvPr/>
        </p:nvSpPr>
        <p:spPr>
          <a:xfrm>
            <a:off x="9921240" y="5394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54680" y="56509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API — Release 1.9.0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961120" y="56509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921240" y="5687568"/>
            <a:ext cx="1097280" cy="219456"/>
          </a:xfrm>
          <a:prstGeom prst="roundRect">
            <a:avLst>
              <a:gd name="adj" fmla="val 208333"/>
            </a:avLst>
          </a:prstGeom>
          <a:solidFill>
            <a:srgbClr val="2A9187"/>
          </a:solidFill>
          <a:ln/>
        </p:spPr>
      </p:sp>
      <p:sp>
        <p:nvSpPr>
          <p:cNvPr id="63" name="Text 61"/>
          <p:cNvSpPr/>
          <p:nvPr/>
        </p:nvSpPr>
        <p:spPr>
          <a:xfrm>
            <a:off x="9921240" y="56875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Service — Release Platform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— Deployment Phases &amp; Approvals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88136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72184"/>
            <a:ext cx="109728" cy="109728"/>
          </a:xfrm>
          <a:prstGeom prst="ellipse">
            <a:avLst/>
          </a:prstGeom>
          <a:solidFill>
            <a:srgbClr val="E0475A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472184"/>
            <a:ext cx="109728" cy="109728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472184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325880"/>
            <a:ext cx="9692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Admin  ·  Contoso Retail  ·  Configuration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1728216"/>
            <a:ext cx="10881360" cy="4215384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28216"/>
            <a:ext cx="2194560" cy="421538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8928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804672" y="2350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Access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975104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072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Phases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804672" y="32644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804672" y="37216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804672" y="41788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04672" y="4636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Rules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01752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Phases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704088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 Customer Portal ▾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9829800" y="185623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18562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Phase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306324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379476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694944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86868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063240" y="26700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1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794760" y="26700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949440" y="2670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8686800" y="27797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1" name="Shape 29"/>
          <p:cNvSpPr/>
          <p:nvPr/>
        </p:nvSpPr>
        <p:spPr>
          <a:xfrm>
            <a:off x="9034272" y="28072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45168" y="2670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2971800" y="3127248"/>
            <a:ext cx="8229600" cy="4572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3063240" y="31272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2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3794760" y="3127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949440" y="31272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8686800" y="3236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38" name="Shape 36"/>
          <p:cNvSpPr/>
          <p:nvPr/>
        </p:nvSpPr>
        <p:spPr>
          <a:xfrm>
            <a:off x="9034272" y="32644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345168" y="3127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3063240" y="35844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3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794760" y="35844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949440" y="35844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8686800" y="36941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4" name="Shape 42"/>
          <p:cNvSpPr/>
          <p:nvPr/>
        </p:nvSpPr>
        <p:spPr>
          <a:xfrm>
            <a:off x="9034272" y="37216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345168" y="3584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2971800" y="4041648"/>
            <a:ext cx="8229600" cy="4572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47" name="Text 45"/>
          <p:cNvSpPr/>
          <p:nvPr/>
        </p:nvSpPr>
        <p:spPr>
          <a:xfrm>
            <a:off x="3063240" y="40416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4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3794760" y="4041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Approval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6949440" y="40416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</a:t>
            </a:r>
            <a:endParaRPr lang="en-US" sz="1000"/>
          </a:p>
        </p:txBody>
      </p:sp>
      <p:sp>
        <p:nvSpPr>
          <p:cNvPr id="50" name="Shape 48"/>
          <p:cNvSpPr/>
          <p:nvPr/>
        </p:nvSpPr>
        <p:spPr>
          <a:xfrm>
            <a:off x="8686800" y="41513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51" name="Shape 49"/>
          <p:cNvSpPr/>
          <p:nvPr/>
        </p:nvSpPr>
        <p:spPr>
          <a:xfrm>
            <a:off x="9034272" y="41788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345168" y="40416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53" name="Text 51"/>
          <p:cNvSpPr/>
          <p:nvPr/>
        </p:nvSpPr>
        <p:spPr>
          <a:xfrm>
            <a:off x="3063240" y="44988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5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3794760" y="4498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/>
          </a:p>
        </p:txBody>
      </p:sp>
      <p:sp>
        <p:nvSpPr>
          <p:cNvPr id="55" name="Text 53"/>
          <p:cNvSpPr/>
          <p:nvPr/>
        </p:nvSpPr>
        <p:spPr>
          <a:xfrm>
            <a:off x="6949440" y="44988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/>
          </a:p>
        </p:txBody>
      </p:sp>
      <p:sp>
        <p:nvSpPr>
          <p:cNvPr id="56" name="Shape 54"/>
          <p:cNvSpPr/>
          <p:nvPr/>
        </p:nvSpPr>
        <p:spPr>
          <a:xfrm>
            <a:off x="8686800" y="46085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57" name="Shape 55"/>
          <p:cNvSpPr/>
          <p:nvPr/>
        </p:nvSpPr>
        <p:spPr>
          <a:xfrm>
            <a:off x="9034272" y="46360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345168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2971800" y="4956048"/>
            <a:ext cx="8229600" cy="4572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60" name="Text 58"/>
          <p:cNvSpPr/>
          <p:nvPr/>
        </p:nvSpPr>
        <p:spPr>
          <a:xfrm>
            <a:off x="3063240" y="49560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6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3794760" y="49560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Validation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6949440" y="4956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/>
          </a:p>
        </p:txBody>
      </p:sp>
      <p:sp>
        <p:nvSpPr>
          <p:cNvPr id="63" name="Shape 61"/>
          <p:cNvSpPr/>
          <p:nvPr/>
        </p:nvSpPr>
        <p:spPr>
          <a:xfrm>
            <a:off x="8686800" y="50657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64" name="Shape 62"/>
          <p:cNvSpPr/>
          <p:nvPr/>
        </p:nvSpPr>
        <p:spPr>
          <a:xfrm>
            <a:off x="9034272" y="50932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9345168" y="4956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/>
          </a:p>
        </p:txBody>
      </p:sp>
      <p:sp>
        <p:nvSpPr>
          <p:cNvPr id="66" name="Text 64"/>
          <p:cNvSpPr/>
          <p:nvPr/>
        </p:nvSpPr>
        <p:spPr>
          <a:xfrm>
            <a:off x="3063240" y="54132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7</a:t>
            </a:r>
            <a:endParaRPr lang="en-US" sz="1000"/>
          </a:p>
        </p:txBody>
      </p:sp>
      <p:sp>
        <p:nvSpPr>
          <p:cNvPr id="67" name="Text 65"/>
          <p:cNvSpPr/>
          <p:nvPr/>
        </p:nvSpPr>
        <p:spPr>
          <a:xfrm>
            <a:off x="3794760" y="5413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Checkpoint</a:t>
            </a:r>
            <a:endParaRPr lang="en-US" sz="1100"/>
          </a:p>
        </p:txBody>
      </p:sp>
      <p:sp>
        <p:nvSpPr>
          <p:cNvPr id="68" name="Text 66"/>
          <p:cNvSpPr/>
          <p:nvPr/>
        </p:nvSpPr>
        <p:spPr>
          <a:xfrm>
            <a:off x="6949440" y="54132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69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</a:t>
            </a:r>
            <a:endParaRPr lang="en-US" sz="1000"/>
          </a:p>
        </p:txBody>
      </p:sp>
      <p:sp>
        <p:nvSpPr>
          <p:cNvPr id="69" name="Shape 67"/>
          <p:cNvSpPr/>
          <p:nvPr/>
        </p:nvSpPr>
        <p:spPr>
          <a:xfrm>
            <a:off x="8686800" y="5522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9CEDB"/>
          </a:solidFill>
          <a:ln/>
        </p:spPr>
      </p:sp>
      <p:sp>
        <p:nvSpPr>
          <p:cNvPr id="70" name="Shape 68"/>
          <p:cNvSpPr/>
          <p:nvPr/>
        </p:nvSpPr>
        <p:spPr>
          <a:xfrm>
            <a:off x="8723376" y="55504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9345168" y="54132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00"/>
          </a:p>
        </p:txBody>
      </p:sp>
      <p:sp>
        <p:nvSpPr>
          <p:cNvPr id="72" name="Text 7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Deployment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88136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72184"/>
            <a:ext cx="109728" cy="109728"/>
          </a:xfrm>
          <a:prstGeom prst="ellipse">
            <a:avLst/>
          </a:prstGeom>
          <a:solidFill>
            <a:srgbClr val="E0475A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472184"/>
            <a:ext cx="109728" cy="109728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472184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325880"/>
            <a:ext cx="9692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 ·  New Deployment  ·  Contoso Retail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1728216"/>
            <a:ext cx="10881360" cy="4215384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11680"/>
            <a:ext cx="23454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914400" y="2249424"/>
            <a:ext cx="2345436" cy="438912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49424"/>
            <a:ext cx="2071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Release ▾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3515868" y="2011680"/>
            <a:ext cx="23454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3515868" y="2249424"/>
            <a:ext cx="2345436" cy="438912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2249424"/>
            <a:ext cx="2071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▾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117336" y="2011680"/>
            <a:ext cx="23454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6117336" y="2249424"/>
            <a:ext cx="2345436" cy="438912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2249424"/>
            <a:ext cx="2071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▾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8718804" y="2011680"/>
            <a:ext cx="23454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8718804" y="2249424"/>
            <a:ext cx="2345436" cy="438912"/>
          </a:xfrm>
          <a:prstGeom prst="roundRect">
            <a:avLst>
              <a:gd name="adj" fmla="val 10417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5964" y="2249424"/>
            <a:ext cx="20711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 ▾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·  phases from Admin configuration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2A918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499360" y="3483864"/>
            <a:ext cx="128016" cy="0"/>
          </a:xfrm>
          <a:prstGeom prst="line">
            <a:avLst/>
          </a:prstGeom>
          <a:noFill/>
          <a:ln w="1270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27376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2A9187"/>
          </a:solidFill>
          <a:ln/>
        </p:spPr>
      </p:sp>
      <p:sp>
        <p:nvSpPr>
          <p:cNvPr id="27" name="Text 25"/>
          <p:cNvSpPr/>
          <p:nvPr/>
        </p:nvSpPr>
        <p:spPr>
          <a:xfrm>
            <a:off x="2673096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212336" y="3483864"/>
            <a:ext cx="128016" cy="0"/>
          </a:xfrm>
          <a:prstGeom prst="line">
            <a:avLst/>
          </a:prstGeom>
          <a:noFill/>
          <a:ln w="1270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40352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2A9187"/>
          </a:solidFill>
          <a:ln/>
        </p:spPr>
      </p:sp>
      <p:sp>
        <p:nvSpPr>
          <p:cNvPr id="30" name="Text 28"/>
          <p:cNvSpPr/>
          <p:nvPr/>
        </p:nvSpPr>
        <p:spPr>
          <a:xfrm>
            <a:off x="4386072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925312" y="3483864"/>
            <a:ext cx="128016" cy="0"/>
          </a:xfrm>
          <a:prstGeom prst="line">
            <a:avLst/>
          </a:prstGeom>
          <a:noFill/>
          <a:ln w="1270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53328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C69749"/>
          </a:solidFill>
          <a:ln/>
        </p:spPr>
      </p:sp>
      <p:sp>
        <p:nvSpPr>
          <p:cNvPr id="33" name="Text 31"/>
          <p:cNvSpPr/>
          <p:nvPr/>
        </p:nvSpPr>
        <p:spPr>
          <a:xfrm>
            <a:off x="6099048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Approval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7638288" y="3483864"/>
            <a:ext cx="128016" cy="0"/>
          </a:xfrm>
          <a:prstGeom prst="line">
            <a:avLst/>
          </a:prstGeom>
          <a:noFill/>
          <a:ln w="1270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766304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2024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9351264" y="3483864"/>
            <a:ext cx="128016" cy="0"/>
          </a:xfrm>
          <a:prstGeom prst="line">
            <a:avLst/>
          </a:prstGeom>
          <a:noFill/>
          <a:ln w="1270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479280" y="3200400"/>
            <a:ext cx="1584960" cy="566928"/>
          </a:xfrm>
          <a:prstGeom prst="roundRect">
            <a:avLst>
              <a:gd name="adj" fmla="val 8065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25000" y="3200400"/>
            <a:ext cx="149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914400" y="3977640"/>
            <a:ext cx="6035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41056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 · QA Approval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115568" y="4480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4572000" y="45262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A9187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1115568" y="4892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Manager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4572000" y="493776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9749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115568" y="5330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 to QA Manager via Teams · SLA 24h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7132320" y="39776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7360920" y="41056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80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7360920" y="43616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8823960" y="4480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7360920" y="49834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changes · 6 services affected · 1 DB migration · no blocking issues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Deployment as a Service — Release Platform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Change Execution Flow</a:t>
            </a:r>
            <a:endParaRPr lang="en-US" sz="2600"/>
          </a:p>
        </p:txBody>
      </p:sp>
      <p:sp>
        <p:nvSpPr>
          <p:cNvPr id="35" name="Text 2"/>
          <p:cNvSpPr/>
          <p:nvPr/>
        </p:nvSpPr>
        <p:spPr>
          <a:xfrm>
            <a:off x="50292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584"/>
                </a:solidFill>
                <a:latin typeface="Calibri"/>
                <a:ea typeface="Calibri"/>
                <a:cs typeface="Calibri"/>
              </a:rPr>
              <a:t>From change request to controlled repository or data-plane execution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76596" y="1944092"/>
            <a:ext cx="2880360" cy="504942"/>
          </a:xfrm>
          <a:prstGeom prst="roundRect">
            <a:avLst/>
          </a:prstGeom>
          <a:solidFill>
            <a:srgbClr val="F6E9D3"/>
          </a:solidFill>
          <a:ln w="1270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1F3B"/>
                </a:solidFill>
                <a:latin typeface="Calibri"/>
              </a:rPr>
              <a:t>Change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6596" y="2640564"/>
            <a:ext cx="2880360" cy="5745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Environment Discovery
Cloud · Repository ·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96" y="3380566"/>
            <a:ext cx="2880360" cy="5745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Classification / Parsing
Input clarification handled inline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6596" y="4120566"/>
            <a:ext cx="2880360" cy="5745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Resolve Intents
File + key path ·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6596" y="4860567"/>
            <a:ext cx="2880360" cy="5745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Delta View
Before → After · impact /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6596" y="5600569"/>
            <a:ext cx="2880360" cy="504942"/>
          </a:xfrm>
          <a:prstGeom prst="roundRect">
            <a:avLst/>
          </a:prstGeom>
          <a:solidFill>
            <a:srgbClr val="F6E9D3"/>
          </a:solidFill>
          <a:ln w="12700">
            <a:solidFill>
              <a:srgbClr val="C69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1F3B"/>
                </a:solidFill>
                <a:latin typeface="Calibri"/>
              </a:rPr>
              <a:t>Per-change Human Approval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16776" y="2449035"/>
            <a:ext cx="0" cy="191530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16776" y="3215153"/>
            <a:ext cx="0" cy="165412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16776" y="3955155"/>
            <a:ext cx="0" cy="165412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16776" y="4695155"/>
            <a:ext cx="0" cy="165412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16776" y="5435157"/>
            <a:ext cx="0" cy="165412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51315" y="2814682"/>
            <a:ext cx="2788920" cy="53976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· Repository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1315" y="3641742"/>
            <a:ext cx="2788920" cy="5832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Feature Branch
Approved changes committed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1315" y="4468802"/>
            <a:ext cx="2788920" cy="5832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PR Flow
Review → Merge →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1315" y="5295863"/>
            <a:ext cx="2788920" cy="583295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Easily Reversible
Git history + rollback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8916" y="2814682"/>
            <a:ext cx="2788920" cy="53976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· Data-Plane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8916" y="3641742"/>
            <a:ext cx="2788920" cy="5832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Apply Changes
Cloud configuration / 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8916" y="4468802"/>
            <a:ext cx="2788920" cy="5832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1B1F3B"/>
                </a:solidFill>
                <a:latin typeface="Calibri"/>
              </a:rPr>
              <a:t>Report + Logging
Change outcome +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8916" y="5295863"/>
            <a:ext cx="2788920" cy="583295"/>
          </a:xfrm>
          <a:prstGeom prst="roundRect">
            <a:avLst/>
          </a:prstGeom>
          <a:solidFill>
            <a:srgbClr val="D9EEEC"/>
          </a:solidFill>
          <a:ln w="12700">
            <a:solidFill>
              <a:srgbClr val="2A9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1F3B"/>
                </a:solidFill>
                <a:latin typeface="Calibri"/>
              </a:rPr>
              <a:t>Finalize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45775" y="3354447"/>
            <a:ext cx="0" cy="287295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45775" y="4225038"/>
            <a:ext cx="0" cy="243764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45775" y="5052096"/>
            <a:ext cx="0" cy="243766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03376" y="3354447"/>
            <a:ext cx="0" cy="287295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03376" y="4225038"/>
            <a:ext cx="0" cy="243764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503376" y="5052096"/>
            <a:ext cx="0" cy="243766"/>
          </a:xfrm>
          <a:prstGeom prst="line">
            <a:avLst/>
          </a:prstGeom>
          <a:ln w="19050">
            <a:solidFill>
              <a:srgbClr val="5B65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13098" y="6202025"/>
            <a:ext cx="2788920" cy="217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B6584"/>
                </a:solidFill>
                <a:latin typeface="Calibri"/>
              </a:rPr>
              <a:t>One approval decision per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8916" y="6202025"/>
            <a:ext cx="2788920" cy="217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5B6584"/>
                </a:solidFill>
                <a:latin typeface="Calibri"/>
              </a:rPr>
              <a:t>Directly applied · fully logged</a:t>
            </a:r>
          </a:p>
        </p:txBody>
      </p:sp>
      <p:sp>
        <p:nvSpPr>
          <p:cNvPr id="36" name="Text 34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Service — Release Platform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502920" y="6519672"/>
            <a:ext cx="11185855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B4B1FB0-B5B0-1A76-2C07-71E8AA77A264}"/>
              </a:ext>
            </a:extLst>
          </p:cNvPr>
          <p:cNvCxnSpPr/>
          <p:nvPr/>
        </p:nvCxnSpPr>
        <p:spPr>
          <a:xfrm flipV="1">
            <a:off x="3887207" y="2219078"/>
            <a:ext cx="614435" cy="358420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C4BAB4-049A-649F-CDD8-61135510BA68}"/>
              </a:ext>
            </a:extLst>
          </p:cNvPr>
          <p:cNvCxnSpPr/>
          <p:nvPr/>
        </p:nvCxnSpPr>
        <p:spPr>
          <a:xfrm>
            <a:off x="4542635" y="2238605"/>
            <a:ext cx="5024746" cy="63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12A1F8B-3E43-B42A-ED82-7250846EBE8F}"/>
              </a:ext>
            </a:extLst>
          </p:cNvPr>
          <p:cNvCxnSpPr/>
          <p:nvPr/>
        </p:nvCxnSpPr>
        <p:spPr>
          <a:xfrm>
            <a:off x="5848570" y="2274678"/>
            <a:ext cx="6327" cy="5227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F0F068-AC44-3D11-6FF4-ACB93D2B42ED}"/>
              </a:ext>
            </a:extLst>
          </p:cNvPr>
          <p:cNvCxnSpPr/>
          <p:nvPr/>
        </p:nvCxnSpPr>
        <p:spPr>
          <a:xfrm flipH="1">
            <a:off x="9530257" y="2298082"/>
            <a:ext cx="4406" cy="4798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94C4CB1-69ED-BD85-302F-704CB5CB524F}"/>
              </a:ext>
            </a:extLst>
          </p:cNvPr>
          <p:cNvCxnSpPr/>
          <p:nvPr/>
        </p:nvCxnSpPr>
        <p:spPr>
          <a:xfrm flipV="1">
            <a:off x="7266604" y="3942911"/>
            <a:ext cx="853382" cy="80217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BC109F60-1D46-A800-7BFD-A23D69CDC35C}"/>
              </a:ext>
            </a:extLst>
          </p:cNvPr>
          <p:cNvSpPr/>
          <p:nvPr/>
        </p:nvSpPr>
        <p:spPr>
          <a:xfrm>
            <a:off x="507451" y="1212610"/>
            <a:ext cx="1099463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93EBC00-C83D-00BF-AF37-44CBF8CBB2A8}"/>
              </a:ext>
            </a:extLst>
          </p:cNvPr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00" b="1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FLOW</a:t>
            </a:r>
            <a:endParaRPr lang="en-US" sz="120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332FC9A-B538-44F1-7B17-79775AB95C7F}"/>
              </a:ext>
            </a:extLst>
          </p:cNvPr>
          <p:cNvSpPr/>
          <p:nvPr/>
        </p:nvSpPr>
        <p:spPr>
          <a:xfrm>
            <a:off x="502920" y="603504"/>
            <a:ext cx="102412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E2761"/>
                </a:solidFill>
                <a:latin typeface="Cambria"/>
                <a:ea typeface="Cambria"/>
              </a:rPr>
              <a:t>Deployment-as-a-Service</a:t>
            </a:r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4E339AA-1FD7-81B7-FA39-2458B282C8CE}"/>
              </a:ext>
            </a:extLst>
          </p:cNvPr>
          <p:cNvSpPr/>
          <p:nvPr/>
        </p:nvSpPr>
        <p:spPr>
          <a:xfrm>
            <a:off x="502920" y="1217305"/>
            <a:ext cx="10607040" cy="4011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4999"/>
              </a:lnSpc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Streamlining cloud deployments through automated code analysis, cost previews, and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IaC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pipelines.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1089B93A-D3A0-ECD6-4C60-8024DC52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05" y="1710509"/>
            <a:ext cx="11597589" cy="475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18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00" b="1" spc="200">
                <a:solidFill>
                  <a:srgbClr val="1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FLOW</a:t>
            </a:r>
            <a:endParaRPr lang="en-US" sz="1200"/>
          </a:p>
        </p:txBody>
      </p:sp>
      <p:sp>
        <p:nvSpPr>
          <p:cNvPr id="3" name="Text"/>
          <p:cNvSpPr/>
          <p:nvPr/>
        </p:nvSpPr>
        <p:spPr>
          <a:xfrm>
            <a:off x="502920" y="603504"/>
            <a:ext cx="102412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Scan to Self-Healing Production</a:t>
            </a:r>
            <a:endParaRPr lang="en-US" sz="2600"/>
          </a:p>
        </p:txBody>
      </p:sp>
      <p:sp>
        <p:nvSpPr>
          <p:cNvPr id="4" name="Text"/>
          <p:cNvSpPr/>
          <p:nvPr/>
        </p:nvSpPr>
        <p:spPr>
          <a:xfrm>
            <a:off x="502920" y="1207008"/>
            <a:ext cx="106070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moves through four phases — fully orchestrated, fully auditable, end to end.</a:t>
            </a:r>
            <a:endParaRPr lang="en-US" sz="1200"/>
          </a:p>
        </p:txBody>
      </p:sp>
      <p:sp>
        <p:nvSpPr>
          <p:cNvPr id="5" name="Shape"/>
          <p:cNvSpPr/>
          <p:nvPr/>
        </p:nvSpPr>
        <p:spPr>
          <a:xfrm>
            <a:off x="502920" y="2148840"/>
            <a:ext cx="1877074" cy="3264408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6" name="Shape"/>
          <p:cNvSpPr/>
          <p:nvPr/>
        </p:nvSpPr>
        <p:spPr>
          <a:xfrm>
            <a:off x="502920" y="2148840"/>
            <a:ext cx="1877074" cy="676656"/>
          </a:xfrm>
          <a:prstGeom prst="roundRect">
            <a:avLst>
              <a:gd name="adj" fmla="val 3200"/>
            </a:avLst>
          </a:prstGeom>
          <a:solidFill>
            <a:srgbClr val="002060"/>
          </a:solidFill>
          <a:ln/>
        </p:spPr>
      </p:sp>
      <p:sp>
        <p:nvSpPr>
          <p:cNvPr id="7" name="Shape"/>
          <p:cNvSpPr/>
          <p:nvPr/>
        </p:nvSpPr>
        <p:spPr>
          <a:xfrm>
            <a:off x="502920" y="2697480"/>
            <a:ext cx="1877074" cy="12801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8" name="Ellipse"/>
          <p:cNvSpPr/>
          <p:nvPr/>
        </p:nvSpPr>
        <p:spPr>
          <a:xfrm>
            <a:off x="649224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"/>
          <p:cNvSpPr/>
          <p:nvPr/>
        </p:nvSpPr>
        <p:spPr>
          <a:xfrm>
            <a:off x="649224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/>
          </a:p>
        </p:txBody>
      </p:sp>
      <p:sp>
        <p:nvSpPr>
          <p:cNvPr id="10" name="Text"/>
          <p:cNvSpPr/>
          <p:nvPr/>
        </p:nvSpPr>
        <p:spPr>
          <a:xfrm>
            <a:off x="1088136" y="2148840"/>
            <a:ext cx="118213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Environment</a:t>
            </a:r>
            <a:endParaRPr lang="en-US" sz="1450"/>
          </a:p>
        </p:txBody>
      </p:sp>
      <p:sp>
        <p:nvSpPr>
          <p:cNvPr id="11" name="Text"/>
          <p:cNvSpPr/>
          <p:nvPr/>
        </p:nvSpPr>
        <p:spPr>
          <a:xfrm>
            <a:off x="649224" y="2843784"/>
            <a:ext cx="15844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cloud quotas, maps dependencies, and sizes infrastructure before anything is touched.</a:t>
            </a:r>
            <a:endParaRPr lang="en-US" sz="1100"/>
          </a:p>
        </p:txBody>
      </p:sp>
      <p:sp>
        <p:nvSpPr>
          <p:cNvPr id="12" name="Shape"/>
          <p:cNvSpPr/>
          <p:nvPr/>
        </p:nvSpPr>
        <p:spPr>
          <a:xfrm>
            <a:off x="649224" y="4882896"/>
            <a:ext cx="1584466" cy="347472"/>
          </a:xfrm>
          <a:prstGeom prst="roundRect">
            <a:avLst>
              <a:gd name="adj" fmla="val 20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13" name="Text"/>
          <p:cNvSpPr/>
          <p:nvPr/>
        </p:nvSpPr>
        <p:spPr>
          <a:xfrm>
            <a:off x="649224" y="4882896"/>
            <a:ext cx="15844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AWS · GCP</a:t>
            </a:r>
            <a:endParaRPr lang="en-US" sz="950"/>
          </a:p>
        </p:txBody>
      </p:sp>
      <p:sp>
        <p:nvSpPr>
          <p:cNvPr id="14" name="Shape"/>
          <p:cNvSpPr/>
          <p:nvPr/>
        </p:nvSpPr>
        <p:spPr>
          <a:xfrm>
            <a:off x="2636026" y="2148840"/>
            <a:ext cx="4786538" cy="3264408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15" name="Shape"/>
          <p:cNvSpPr/>
          <p:nvPr/>
        </p:nvSpPr>
        <p:spPr>
          <a:xfrm>
            <a:off x="2636026" y="2148840"/>
            <a:ext cx="4786538" cy="676656"/>
          </a:xfrm>
          <a:prstGeom prst="roundRect">
            <a:avLst>
              <a:gd name="adj" fmla="val 3200"/>
            </a:avLst>
          </a:prstGeom>
          <a:solidFill>
            <a:srgbClr val="002060"/>
          </a:solidFill>
          <a:ln/>
        </p:spPr>
      </p:sp>
      <p:sp>
        <p:nvSpPr>
          <p:cNvPr id="16" name="Shape"/>
          <p:cNvSpPr/>
          <p:nvPr/>
        </p:nvSpPr>
        <p:spPr>
          <a:xfrm>
            <a:off x="2636026" y="2697480"/>
            <a:ext cx="4786538" cy="12801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Ellipse"/>
          <p:cNvSpPr/>
          <p:nvPr/>
        </p:nvSpPr>
        <p:spPr>
          <a:xfrm>
            <a:off x="2782330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"/>
          <p:cNvSpPr/>
          <p:nvPr/>
        </p:nvSpPr>
        <p:spPr>
          <a:xfrm>
            <a:off x="278233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/>
          </a:p>
        </p:txBody>
      </p:sp>
      <p:sp>
        <p:nvSpPr>
          <p:cNvPr id="19" name="Text"/>
          <p:cNvSpPr/>
          <p:nvPr/>
        </p:nvSpPr>
        <p:spPr>
          <a:xfrm>
            <a:off x="3221242" y="2148840"/>
            <a:ext cx="4091594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Release</a:t>
            </a:r>
            <a:endParaRPr lang="en-US" sz="1450"/>
          </a:p>
        </p:txBody>
      </p:sp>
      <p:sp>
        <p:nvSpPr>
          <p:cNvPr id="20" name="Shape"/>
          <p:cNvSpPr/>
          <p:nvPr/>
        </p:nvSpPr>
        <p:spPr>
          <a:xfrm>
            <a:off x="2782330" y="2898648"/>
            <a:ext cx="1054902" cy="1600200"/>
          </a:xfrm>
          <a:prstGeom prst="roundRect">
            <a:avLst>
              <a:gd name="adj" fmla="val 9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21" name="Text"/>
          <p:cNvSpPr/>
          <p:nvPr/>
        </p:nvSpPr>
        <p:spPr>
          <a:xfrm>
            <a:off x="2855482" y="2971800"/>
            <a:ext cx="908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900"/>
          </a:p>
        </p:txBody>
      </p:sp>
      <p:sp>
        <p:nvSpPr>
          <p:cNvPr id="22" name="Text"/>
          <p:cNvSpPr/>
          <p:nvPr/>
        </p:nvSpPr>
        <p:spPr>
          <a:xfrm>
            <a:off x="2855482" y="3264408"/>
            <a:ext cx="908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/>
          </a:p>
        </p:txBody>
      </p:sp>
      <p:sp>
        <p:nvSpPr>
          <p:cNvPr id="23" name="Text"/>
          <p:cNvSpPr/>
          <p:nvPr/>
        </p:nvSpPr>
        <p:spPr>
          <a:xfrm>
            <a:off x="2855482" y="3611880"/>
            <a:ext cx="90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VPC/VNet, subnets, security groups</a:t>
            </a:r>
            <a:endParaRPr lang="en-US" sz="900"/>
          </a:p>
        </p:txBody>
      </p:sp>
      <p:sp>
        <p:nvSpPr>
          <p:cNvPr id="24" name="Line"/>
          <p:cNvSpPr/>
          <p:nvPr/>
        </p:nvSpPr>
        <p:spPr>
          <a:xfrm>
            <a:off x="3846376" y="3698748"/>
            <a:ext cx="73152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25" name="Shape"/>
          <p:cNvSpPr/>
          <p:nvPr/>
        </p:nvSpPr>
        <p:spPr>
          <a:xfrm>
            <a:off x="3928672" y="2898648"/>
            <a:ext cx="1054902" cy="1600200"/>
          </a:xfrm>
          <a:prstGeom prst="roundRect">
            <a:avLst>
              <a:gd name="adj" fmla="val 9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26" name="Text"/>
          <p:cNvSpPr/>
          <p:nvPr/>
        </p:nvSpPr>
        <p:spPr>
          <a:xfrm>
            <a:off x="4001824" y="2971800"/>
            <a:ext cx="908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/>
          </a:p>
        </p:txBody>
      </p:sp>
      <p:sp>
        <p:nvSpPr>
          <p:cNvPr id="27" name="Text"/>
          <p:cNvSpPr/>
          <p:nvPr/>
        </p:nvSpPr>
        <p:spPr>
          <a:xfrm>
            <a:off x="4001824" y="3264408"/>
            <a:ext cx="908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/>
          </a:p>
        </p:txBody>
      </p:sp>
      <p:sp>
        <p:nvSpPr>
          <p:cNvPr id="28" name="Text"/>
          <p:cNvSpPr/>
          <p:nvPr/>
        </p:nvSpPr>
        <p:spPr>
          <a:xfrm>
            <a:off x="4001824" y="3611880"/>
            <a:ext cx="90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compute, storage via IaC</a:t>
            </a:r>
            <a:endParaRPr lang="en-US" sz="900"/>
          </a:p>
        </p:txBody>
      </p:sp>
      <p:sp>
        <p:nvSpPr>
          <p:cNvPr id="29" name="Line"/>
          <p:cNvSpPr/>
          <p:nvPr/>
        </p:nvSpPr>
        <p:spPr>
          <a:xfrm>
            <a:off x="4992718" y="3698748"/>
            <a:ext cx="73152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0" name="Shape"/>
          <p:cNvSpPr/>
          <p:nvPr/>
        </p:nvSpPr>
        <p:spPr>
          <a:xfrm>
            <a:off x="5075014" y="2898648"/>
            <a:ext cx="1054902" cy="1600200"/>
          </a:xfrm>
          <a:prstGeom prst="roundRect">
            <a:avLst>
              <a:gd name="adj" fmla="val 9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31" name="Text"/>
          <p:cNvSpPr/>
          <p:nvPr/>
        </p:nvSpPr>
        <p:spPr>
          <a:xfrm>
            <a:off x="5148166" y="2971800"/>
            <a:ext cx="908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</a:t>
            </a:r>
            <a:endParaRPr lang="en-US" sz="900"/>
          </a:p>
        </p:txBody>
      </p:sp>
      <p:sp>
        <p:nvSpPr>
          <p:cNvPr id="32" name="Text"/>
          <p:cNvSpPr/>
          <p:nvPr/>
        </p:nvSpPr>
        <p:spPr>
          <a:xfrm>
            <a:off x="5148166" y="3264408"/>
            <a:ext cx="908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Config</a:t>
            </a:r>
            <a:endParaRPr lang="en-US" sz="1100"/>
          </a:p>
        </p:txBody>
      </p:sp>
      <p:sp>
        <p:nvSpPr>
          <p:cNvPr id="33" name="Text"/>
          <p:cNvSpPr/>
          <p:nvPr/>
        </p:nvSpPr>
        <p:spPr>
          <a:xfrm>
            <a:off x="5148166" y="3611880"/>
            <a:ext cx="90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ingress, TLS, gap resolution</a:t>
            </a:r>
            <a:endParaRPr lang="en-US" sz="900"/>
          </a:p>
        </p:txBody>
      </p:sp>
      <p:sp>
        <p:nvSpPr>
          <p:cNvPr id="34" name="Line"/>
          <p:cNvSpPr/>
          <p:nvPr/>
        </p:nvSpPr>
        <p:spPr>
          <a:xfrm>
            <a:off x="6139060" y="3698748"/>
            <a:ext cx="73152" cy="0"/>
          </a:xfrm>
          <a:prstGeom prst="line">
            <a:avLst/>
          </a:prstGeom>
          <a:noFill/>
          <a:ln w="158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35" name="Shape"/>
          <p:cNvSpPr/>
          <p:nvPr/>
        </p:nvSpPr>
        <p:spPr>
          <a:xfrm>
            <a:off x="6221356" y="2898648"/>
            <a:ext cx="1054902" cy="1600200"/>
          </a:xfrm>
          <a:prstGeom prst="roundRect">
            <a:avLst>
              <a:gd name="adj" fmla="val 9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36" name="Text"/>
          <p:cNvSpPr/>
          <p:nvPr/>
        </p:nvSpPr>
        <p:spPr>
          <a:xfrm>
            <a:off x="6294508" y="2971800"/>
            <a:ext cx="908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00"/>
          </a:p>
        </p:txBody>
      </p:sp>
      <p:sp>
        <p:nvSpPr>
          <p:cNvPr id="37" name="Text"/>
          <p:cNvSpPr/>
          <p:nvPr/>
        </p:nvSpPr>
        <p:spPr>
          <a:xfrm>
            <a:off x="6294508" y="3264408"/>
            <a:ext cx="9085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Release</a:t>
            </a:r>
            <a:endParaRPr lang="en-US" sz="1100"/>
          </a:p>
        </p:txBody>
      </p:sp>
      <p:sp>
        <p:nvSpPr>
          <p:cNvPr id="38" name="Text"/>
          <p:cNvSpPr/>
          <p:nvPr/>
        </p:nvSpPr>
        <p:spPr>
          <a:xfrm>
            <a:off x="6294508" y="3611880"/>
            <a:ext cx="9085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deployed to the cluster</a:t>
            </a:r>
            <a:endParaRPr lang="en-US" sz="900"/>
          </a:p>
        </p:txBody>
      </p:sp>
      <p:sp>
        <p:nvSpPr>
          <p:cNvPr id="39" name="Shape"/>
          <p:cNvSpPr/>
          <p:nvPr/>
        </p:nvSpPr>
        <p:spPr>
          <a:xfrm>
            <a:off x="2782330" y="4974336"/>
            <a:ext cx="4493930" cy="292608"/>
          </a:xfrm>
          <a:prstGeom prst="roundRect">
            <a:avLst>
              <a:gd name="adj" fmla="val 20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40" name="Text"/>
          <p:cNvSpPr/>
          <p:nvPr/>
        </p:nvSpPr>
        <p:spPr>
          <a:xfrm>
            <a:off x="2782330" y="4974336"/>
            <a:ext cx="44939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ARM  ·  Helm  ·  Kubernetes</a:t>
            </a:r>
            <a:endParaRPr lang="en-US" sz="950"/>
          </a:p>
        </p:txBody>
      </p:sp>
      <p:sp>
        <p:nvSpPr>
          <p:cNvPr id="41" name="Shape"/>
          <p:cNvSpPr/>
          <p:nvPr/>
        </p:nvSpPr>
        <p:spPr>
          <a:xfrm>
            <a:off x="7678596" y="2148840"/>
            <a:ext cx="1877074" cy="3264408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42" name="Shape"/>
          <p:cNvSpPr/>
          <p:nvPr/>
        </p:nvSpPr>
        <p:spPr>
          <a:xfrm>
            <a:off x="7678596" y="2148840"/>
            <a:ext cx="1877074" cy="676656"/>
          </a:xfrm>
          <a:prstGeom prst="roundRect">
            <a:avLst>
              <a:gd name="adj" fmla="val 3200"/>
            </a:avLst>
          </a:prstGeom>
          <a:solidFill>
            <a:srgbClr val="002060"/>
          </a:solidFill>
          <a:ln/>
        </p:spPr>
      </p:sp>
      <p:sp>
        <p:nvSpPr>
          <p:cNvPr id="43" name="Shape"/>
          <p:cNvSpPr/>
          <p:nvPr/>
        </p:nvSpPr>
        <p:spPr>
          <a:xfrm>
            <a:off x="7678596" y="2697480"/>
            <a:ext cx="1877074" cy="12801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4" name="Ellipse"/>
          <p:cNvSpPr/>
          <p:nvPr/>
        </p:nvSpPr>
        <p:spPr>
          <a:xfrm>
            <a:off x="7824900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"/>
          <p:cNvSpPr/>
          <p:nvPr/>
        </p:nvSpPr>
        <p:spPr>
          <a:xfrm>
            <a:off x="78249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/>
          </a:p>
        </p:txBody>
      </p:sp>
      <p:sp>
        <p:nvSpPr>
          <p:cNvPr id="46" name="Text"/>
          <p:cNvSpPr/>
          <p:nvPr/>
        </p:nvSpPr>
        <p:spPr>
          <a:xfrm>
            <a:off x="8263812" y="2148840"/>
            <a:ext cx="118213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Release</a:t>
            </a:r>
            <a:endParaRPr lang="en-US" sz="1450"/>
          </a:p>
        </p:txBody>
      </p:sp>
      <p:sp>
        <p:nvSpPr>
          <p:cNvPr id="47" name="Text"/>
          <p:cNvSpPr/>
          <p:nvPr/>
        </p:nvSpPr>
        <p:spPr>
          <a:xfrm>
            <a:off x="7824900" y="2843784"/>
            <a:ext cx="15844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health, infra, and smoke tests, then gates on QA / compliance sign-off.</a:t>
            </a:r>
            <a:endParaRPr lang="en-US" sz="1100"/>
          </a:p>
        </p:txBody>
      </p:sp>
      <p:sp>
        <p:nvSpPr>
          <p:cNvPr id="48" name="Shape"/>
          <p:cNvSpPr/>
          <p:nvPr/>
        </p:nvSpPr>
        <p:spPr>
          <a:xfrm>
            <a:off x="7824900" y="4882896"/>
            <a:ext cx="1584466" cy="347472"/>
          </a:xfrm>
          <a:prstGeom prst="roundRect">
            <a:avLst>
              <a:gd name="adj" fmla="val 20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49" name="Text"/>
          <p:cNvSpPr/>
          <p:nvPr/>
        </p:nvSpPr>
        <p:spPr>
          <a:xfrm>
            <a:off x="7824900" y="4882896"/>
            <a:ext cx="15844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· GAMP 5</a:t>
            </a:r>
            <a:endParaRPr lang="en-US" sz="950"/>
          </a:p>
        </p:txBody>
      </p:sp>
      <p:sp>
        <p:nvSpPr>
          <p:cNvPr id="50" name="Shape"/>
          <p:cNvSpPr/>
          <p:nvPr/>
        </p:nvSpPr>
        <p:spPr>
          <a:xfrm>
            <a:off x="9811702" y="2148840"/>
            <a:ext cx="1877073" cy="3264408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B1F3B">
                <a:alpha val="14000"/>
              </a:srgbClr>
            </a:outerShdw>
          </a:effectLst>
        </p:spPr>
      </p:sp>
      <p:sp>
        <p:nvSpPr>
          <p:cNvPr id="51" name="Shape"/>
          <p:cNvSpPr/>
          <p:nvPr/>
        </p:nvSpPr>
        <p:spPr>
          <a:xfrm>
            <a:off x="9811702" y="2148840"/>
            <a:ext cx="1877073" cy="676656"/>
          </a:xfrm>
          <a:prstGeom prst="roundRect">
            <a:avLst>
              <a:gd name="adj" fmla="val 3200"/>
            </a:avLst>
          </a:prstGeom>
          <a:solidFill>
            <a:srgbClr val="002060"/>
          </a:solidFill>
          <a:ln/>
        </p:spPr>
      </p:sp>
      <p:sp>
        <p:nvSpPr>
          <p:cNvPr id="52" name="Shape"/>
          <p:cNvSpPr/>
          <p:nvPr/>
        </p:nvSpPr>
        <p:spPr>
          <a:xfrm>
            <a:off x="9811702" y="2697480"/>
            <a:ext cx="1877073" cy="12801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3" name="Ellipse"/>
          <p:cNvSpPr/>
          <p:nvPr/>
        </p:nvSpPr>
        <p:spPr>
          <a:xfrm>
            <a:off x="9958006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"/>
          <p:cNvSpPr/>
          <p:nvPr/>
        </p:nvSpPr>
        <p:spPr>
          <a:xfrm>
            <a:off x="9958006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/>
          </a:p>
        </p:txBody>
      </p:sp>
      <p:sp>
        <p:nvSpPr>
          <p:cNvPr id="55" name="Text"/>
          <p:cNvSpPr/>
          <p:nvPr/>
        </p:nvSpPr>
        <p:spPr>
          <a:xfrm>
            <a:off x="10396918" y="2148840"/>
            <a:ext cx="1182129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 Monitor</a:t>
            </a:r>
            <a:endParaRPr lang="en-US" sz="1450"/>
          </a:p>
        </p:txBody>
      </p:sp>
      <p:sp>
        <p:nvSpPr>
          <p:cNvPr id="56" name="Text"/>
          <p:cNvSpPr/>
          <p:nvPr/>
        </p:nvSpPr>
        <p:spPr>
          <a:xfrm>
            <a:off x="9958006" y="2843784"/>
            <a:ext cx="158446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metrics, detects anomalies, and self-heals the running workload continuously.</a:t>
            </a:r>
            <a:endParaRPr lang="en-US" sz="1100"/>
          </a:p>
        </p:txBody>
      </p:sp>
      <p:sp>
        <p:nvSpPr>
          <p:cNvPr id="57" name="Shape"/>
          <p:cNvSpPr/>
          <p:nvPr/>
        </p:nvSpPr>
        <p:spPr>
          <a:xfrm>
            <a:off x="9958006" y="4882896"/>
            <a:ext cx="1584465" cy="347472"/>
          </a:xfrm>
          <a:prstGeom prst="roundRect">
            <a:avLst>
              <a:gd name="adj" fmla="val 20000"/>
            </a:avLst>
          </a:prstGeom>
          <a:solidFill>
            <a:srgbClr val="E1F2EF"/>
          </a:solidFill>
          <a:ln w="9525">
            <a:solidFill>
              <a:srgbClr val="2E8E82"/>
            </a:solidFill>
            <a:prstDash val="solid"/>
          </a:ln>
        </p:spPr>
      </p:sp>
      <p:sp>
        <p:nvSpPr>
          <p:cNvPr id="58" name="Text"/>
          <p:cNvSpPr/>
          <p:nvPr/>
        </p:nvSpPr>
        <p:spPr>
          <a:xfrm>
            <a:off x="9958006" y="4882896"/>
            <a:ext cx="15844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2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Auto-Heal   ·   ONGOING</a:t>
            </a:r>
            <a:endParaRPr lang="en-US" sz="950"/>
          </a:p>
        </p:txBody>
      </p:sp>
      <p:sp>
        <p:nvSpPr>
          <p:cNvPr id="59" name="Line"/>
          <p:cNvSpPr/>
          <p:nvPr/>
        </p:nvSpPr>
        <p:spPr>
          <a:xfrm>
            <a:off x="2398282" y="3781044"/>
            <a:ext cx="219456" cy="0"/>
          </a:xfrm>
          <a:prstGeom prst="line">
            <a:avLst/>
          </a:prstGeom>
          <a:noFill/>
          <a:ln w="285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60" name="Line"/>
          <p:cNvSpPr/>
          <p:nvPr/>
        </p:nvSpPr>
        <p:spPr>
          <a:xfrm>
            <a:off x="7440852" y="3781044"/>
            <a:ext cx="219456" cy="0"/>
          </a:xfrm>
          <a:prstGeom prst="line">
            <a:avLst/>
          </a:prstGeom>
          <a:noFill/>
          <a:ln w="285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61" name="Line"/>
          <p:cNvSpPr/>
          <p:nvPr/>
        </p:nvSpPr>
        <p:spPr>
          <a:xfrm>
            <a:off x="9573958" y="3781044"/>
            <a:ext cx="219456" cy="0"/>
          </a:xfrm>
          <a:prstGeom prst="line">
            <a:avLst/>
          </a:prstGeom>
          <a:noFill/>
          <a:ln w="28575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62" name="Shape"/>
          <p:cNvSpPr/>
          <p:nvPr/>
        </p:nvSpPr>
        <p:spPr>
          <a:xfrm>
            <a:off x="502920" y="5779008"/>
            <a:ext cx="11185855" cy="502920"/>
          </a:xfrm>
          <a:prstGeom prst="roundRect">
            <a:avLst>
              <a:gd name="adj" fmla="val 9000"/>
            </a:avLst>
          </a:prstGeom>
          <a:solidFill>
            <a:srgbClr val="002060"/>
          </a:solidFill>
          <a:ln/>
        </p:spPr>
      </p:sp>
      <p:sp>
        <p:nvSpPr>
          <p:cNvPr id="63" name="Text"/>
          <p:cNvSpPr/>
          <p:nvPr/>
        </p:nvSpPr>
        <p:spPr>
          <a:xfrm>
            <a:off x="502920" y="5779008"/>
            <a:ext cx="11185855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loop — Monitor  →  Detect Anomalies  →  Auto-Remediate  →  Audit Log  →  Cost &amp; SLA Governance</a:t>
            </a:r>
            <a:endParaRPr lang="en-US" sz="1300"/>
          </a:p>
        </p:txBody>
      </p:sp>
      <p:sp>
        <p:nvSpPr>
          <p:cNvPr id="64" name="Text"/>
          <p:cNvSpPr/>
          <p:nvPr/>
        </p:nvSpPr>
        <p:spPr>
          <a:xfrm>
            <a:off x="50292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Service — Release Platform</a:t>
            </a:r>
            <a:endParaRPr lang="en-US" sz="1000"/>
          </a:p>
        </p:txBody>
      </p:sp>
      <p:sp>
        <p:nvSpPr>
          <p:cNvPr id="65" name="Text"/>
          <p:cNvSpPr/>
          <p:nvPr/>
        </p:nvSpPr>
        <p:spPr>
          <a:xfrm>
            <a:off x="502920" y="6519672"/>
            <a:ext cx="11185855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190</cp:revision>
  <dcterms:created xsi:type="dcterms:W3CDTF">2026-08-18T03:30:14Z</dcterms:created>
  <dcterms:modified xsi:type="dcterms:W3CDTF">2026-08-19T10:21:19Z</dcterms:modified>
</cp:coreProperties>
</file>