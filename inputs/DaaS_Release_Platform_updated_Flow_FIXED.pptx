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1"/>
    <p:sldMasterId id="2147483672" r:id="rId2"/>
    <p:sldMasterId id="2147483648" r:id="rId3"/>
  </p:sldMasterIdLst>
  <p:notesMasterIdLst>
    <p:notesMasterId r:id="rId23"/>
  </p:notesMasterIdLst>
  <p:sldIdLst>
    <p:sldId id="288" r:id="rId4"/>
    <p:sldId id="291" r:id="rId5"/>
    <p:sldId id="290" r:id="rId6"/>
    <p:sldId id="289" r:id="rId7"/>
    <p:sldId id="258" r:id="rId8"/>
    <p:sldId id="259" r:id="rId9"/>
    <p:sldId id="265" r:id="rId10"/>
    <p:sldId id="264" r:id="rId11"/>
    <p:sldId id="263" r:id="rId12"/>
    <p:sldId id="266" r:id="rId13"/>
    <p:sldId id="268" r:id="rId14"/>
    <p:sldId id="272" r:id="rId15"/>
    <p:sldId id="271" r:id="rId16"/>
    <p:sldId id="292" r:id="rId17"/>
    <p:sldId id="267" r:id="rId18"/>
    <p:sldId id="270" r:id="rId19"/>
    <p:sldId id="260" r:id="rId20"/>
    <p:sldId id="262" r:id="rId21"/>
    <p:sldId id="261"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D5BFE1-0A73-4788-B0B6-0F02121DA4CA}">
          <p14:sldIdLst>
            <p14:sldId id="288"/>
            <p14:sldId id="291"/>
            <p14:sldId id="290"/>
            <p14:sldId id="289"/>
            <p14:sldId id="258"/>
            <p14:sldId id="259"/>
            <p14:sldId id="265"/>
            <p14:sldId id="264"/>
            <p14:sldId id="263"/>
            <p14:sldId id="266"/>
            <p14:sldId id="268"/>
          </p14:sldIdLst>
        </p14:section>
        <p14:section name="Architecture and flow " id="{18392996-10C9-4F6C-965D-83935DDC2042}">
          <p14:sldIdLst>
            <p14:sldId id="272"/>
            <p14:sldId id="271"/>
            <p14:sldId id="292"/>
            <p14:sldId id="267"/>
          </p14:sldIdLst>
        </p14:section>
        <p14:section name="Appendix" id="{AFB73B8E-7233-436D-839A-56B163018637}">
          <p14:sldIdLst>
            <p14:sldId id="270"/>
            <p14:sldId id="260"/>
            <p14:sldId id="262"/>
            <p14:sldId id="26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E9AA8-F39F-9CEB-3759-2EB18F872B3D}" v="30" dt="2026-08-24T05:14:42.0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0018780-D62B-455F-8804-CF09E5FAA332}" type="datetimeFigureOut">
              <a:t>8/23/2026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B9ED1642-B3AD-4497-88F0-EEFE42CEC7E3}" type="slidenum">
              <a:t>‹#›</a:t>
            </a:fld>
            <a:endParaRPr lang="en-US"/>
          </a:p>
        </p:txBody>
      </p:sp>
    </p:spTree>
    <p:extLst>
      <p:ext uri="{BB962C8B-B14F-4D97-AF65-F5344CB8AC3E}">
        <p14:creationId xmlns:p14="http://schemas.microsoft.com/office/powerpoint/2010/main" val="1515985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456295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34423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00717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631682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956384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863692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834183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32388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90470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758722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317634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Header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5C5E-A17F-962C-C2C4-ED4C1F590332}"/>
              </a:ext>
            </a:extLst>
          </p:cNvPr>
          <p:cNvSpPr>
            <a:spLocks noGrp="1"/>
          </p:cNvSpPr>
          <p:nvPr>
            <p:ph type="title" hasCustomPrompt="1"/>
          </p:nvPr>
        </p:nvSpPr>
        <p:spPr>
          <a:xfrm>
            <a:off x="515937" y="298692"/>
            <a:ext cx="11160123" cy="938437"/>
          </a:xfrm>
          <a:prstGeom prst="rect">
            <a:avLst/>
          </a:prstGeom>
        </p:spPr>
        <p:txBody>
          <a:bodyPr/>
          <a:lstStyle>
            <a:lvl1pPr>
              <a:defRPr b="0" i="0">
                <a:latin typeface="PP Neue Machina Plain" pitchFamily="2" charset="77"/>
              </a:defRPr>
            </a:lvl1pPr>
          </a:lstStyle>
          <a:p>
            <a:r>
              <a:rPr lang="en-US"/>
              <a:t>Click To Edit Master Title Style</a:t>
            </a:r>
          </a:p>
        </p:txBody>
      </p:sp>
      <p:sp>
        <p:nvSpPr>
          <p:cNvPr id="4" name="Graphic 24">
            <a:extLst>
              <a:ext uri="{FF2B5EF4-FFF2-40B4-BE49-F238E27FC236}">
                <a16:creationId xmlns:a16="http://schemas.microsoft.com/office/drawing/2014/main" id="{0B3F400E-4375-700E-8DA3-EA3F9D6E5FE6}"/>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5400000" scaled="1"/>
            <a:tileRect/>
          </a:gradFill>
          <a:ln w="20108" cap="flat">
            <a:noFill/>
            <a:prstDash val="solid"/>
            <a:miter/>
          </a:ln>
        </p:spPr>
        <p:txBody>
          <a:bodyPr rtlCol="0" anchor="ctr"/>
          <a:lstStyle/>
          <a:p>
            <a:endParaRPr lang="en-US" sz="1400" b="0" i="0">
              <a:latin typeface="Aptos" panose="020B0004020202020204" pitchFamily="34" charset="0"/>
            </a:endParaRPr>
          </a:p>
        </p:txBody>
      </p:sp>
      <p:sp>
        <p:nvSpPr>
          <p:cNvPr id="5" name="Graphic 26">
            <a:extLst>
              <a:ext uri="{FF2B5EF4-FFF2-40B4-BE49-F238E27FC236}">
                <a16:creationId xmlns:a16="http://schemas.microsoft.com/office/drawing/2014/main" id="{DCE876C8-FDB2-EEE5-7909-93C66A499FC5}"/>
              </a:ext>
            </a:extLst>
          </p:cNvPr>
          <p:cNvSpPr/>
          <p:nvPr userDrawn="1"/>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20108" cap="flat">
            <a:noFill/>
            <a:prstDash val="solid"/>
            <a:miter/>
          </a:ln>
        </p:spPr>
        <p:txBody>
          <a:bodyPr rtlCol="0" anchor="ctr"/>
          <a:lstStyle/>
          <a:p>
            <a:endParaRPr lang="en-US" sz="1400" b="0" i="0">
              <a:latin typeface="Aptos" panose="020B0004020202020204" pitchFamily="34" charset="0"/>
            </a:endParaRPr>
          </a:p>
        </p:txBody>
      </p:sp>
    </p:spTree>
    <p:extLst>
      <p:ext uri="{BB962C8B-B14F-4D97-AF65-F5344CB8AC3E}">
        <p14:creationId xmlns:p14="http://schemas.microsoft.com/office/powerpoint/2010/main" val="176313541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with Half Image 1">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2C194C-2167-463C-2D56-9EF334BEF112}"/>
              </a:ext>
            </a:extLst>
          </p:cNvPr>
          <p:cNvSpPr>
            <a:spLocks noGrp="1"/>
          </p:cNvSpPr>
          <p:nvPr>
            <p:ph type="ctrTitle" hasCustomPrompt="1"/>
          </p:nvPr>
        </p:nvSpPr>
        <p:spPr>
          <a:xfrm>
            <a:off x="501650" y="1803400"/>
            <a:ext cx="5358823" cy="2170147"/>
          </a:xfrm>
        </p:spPr>
        <p:txBody>
          <a:bodyPr anchor="ctr">
            <a:noAutofit/>
          </a:bodyPr>
          <a:lstStyle>
            <a:lvl1pPr algn="l">
              <a:defRPr sz="480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501650" y="4065623"/>
            <a:ext cx="5358824" cy="1655762"/>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501650" y="5928527"/>
            <a:ext cx="5594350" cy="259548"/>
          </a:xfrm>
        </p:spPr>
        <p:txBody>
          <a:bodyPr anchor="b">
            <a:noAutofit/>
          </a:bodyPr>
          <a:lstStyle>
            <a:lvl1pPr marL="0" indent="0">
              <a:buNone/>
              <a:defRPr b="0" i="0">
                <a:latin typeface="PP Neue Machina Plain" pitchFamily="2" charset="77"/>
              </a:defRPr>
            </a:lvl1pPr>
          </a:lstStyle>
          <a:p>
            <a:pPr lvl="0"/>
            <a:r>
              <a:rPr lang="en-US"/>
              <a:t>Click to edit Master text styles</a:t>
            </a:r>
          </a:p>
        </p:txBody>
      </p:sp>
      <p:sp>
        <p:nvSpPr>
          <p:cNvPr id="2" name="Graphic 18">
            <a:extLst>
              <a:ext uri="{FF2B5EF4-FFF2-40B4-BE49-F238E27FC236}">
                <a16:creationId xmlns:a16="http://schemas.microsoft.com/office/drawing/2014/main" id="{16639386-FE2B-5711-3AAF-8DFBFA0C8D9F}"/>
              </a:ext>
            </a:extLst>
          </p:cNvPr>
          <p:cNvSpPr/>
          <p:nvPr userDrawn="1"/>
        </p:nvSpPr>
        <p:spPr>
          <a:xfrm>
            <a:off x="5687883" y="0"/>
            <a:ext cx="1504584" cy="6863061"/>
          </a:xfrm>
          <a:custGeom>
            <a:avLst/>
            <a:gdLst>
              <a:gd name="connsiteX0" fmla="*/ 1347938 w 1504584"/>
              <a:gd name="connsiteY0" fmla="*/ 6863062 h 6863061"/>
              <a:gd name="connsiteX1" fmla="*/ 1400196 w 1504584"/>
              <a:gd name="connsiteY1" fmla="*/ 6016314 h 6863061"/>
              <a:gd name="connsiteX2" fmla="*/ 0 w 1504584"/>
              <a:gd name="connsiteY2" fmla="*/ 0 h 6863061"/>
              <a:gd name="connsiteX3" fmla="*/ 1504584 w 1504584"/>
              <a:gd name="connsiteY3" fmla="*/ 6025044 h 6863061"/>
              <a:gd name="connsiteX4" fmla="*/ 1347938 w 1504584"/>
              <a:gd name="connsiteY4" fmla="*/ 6863062 h 6863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584" h="6863061">
                <a:moveTo>
                  <a:pt x="1347938" y="6863062"/>
                </a:moveTo>
                <a:cubicBezTo>
                  <a:pt x="1365400" y="6580770"/>
                  <a:pt x="1382735" y="6298605"/>
                  <a:pt x="1400196" y="6016314"/>
                </a:cubicBezTo>
                <a:cubicBezTo>
                  <a:pt x="933422" y="4010918"/>
                  <a:pt x="466774" y="2005396"/>
                  <a:pt x="0" y="0"/>
                </a:cubicBezTo>
                <a:cubicBezTo>
                  <a:pt x="501570" y="2008306"/>
                  <a:pt x="1003014" y="4016738"/>
                  <a:pt x="1504584" y="6025044"/>
                </a:cubicBezTo>
                <a:cubicBezTo>
                  <a:pt x="1452327" y="6304426"/>
                  <a:pt x="1400196" y="6583680"/>
                  <a:pt x="1347938" y="6863062"/>
                </a:cubicBezTo>
                <a:close/>
              </a:path>
            </a:pathLst>
          </a:custGeom>
          <a:solidFill>
            <a:schemeClr val="accent2"/>
          </a:solidFill>
          <a:ln w="12647"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6E844F3A-0983-CD49-1953-D54BC3105514}"/>
              </a:ext>
            </a:extLst>
          </p:cNvPr>
          <p:cNvGrpSpPr/>
          <p:nvPr userDrawn="1"/>
        </p:nvGrpSpPr>
        <p:grpSpPr>
          <a:xfrm>
            <a:off x="5200651" y="-5074"/>
            <a:ext cx="6991349" cy="6901910"/>
            <a:chOff x="7198416" y="462065"/>
            <a:chExt cx="6991349" cy="6901910"/>
          </a:xfrm>
        </p:grpSpPr>
        <p:pic>
          <p:nvPicPr>
            <p:cNvPr id="10" name="Picture 2" descr="System Integration – Persada DIGITAL">
              <a:extLst>
                <a:ext uri="{FF2B5EF4-FFF2-40B4-BE49-F238E27FC236}">
                  <a16:creationId xmlns:a16="http://schemas.microsoft.com/office/drawing/2014/main" id="{BD0EE226-8846-480B-60B6-4C1AF09CCF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271" r="38786" b="2820"/>
            <a:stretch/>
          </p:blipFill>
          <p:spPr bwMode="auto">
            <a:xfrm>
              <a:off x="7271576" y="467138"/>
              <a:ext cx="6918189" cy="6857989"/>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2558902D-2C5B-3316-8EE2-8035EB75752F}"/>
                </a:ext>
              </a:extLst>
            </p:cNvPr>
            <p:cNvGrpSpPr/>
            <p:nvPr/>
          </p:nvGrpSpPr>
          <p:grpSpPr>
            <a:xfrm>
              <a:off x="7198416" y="462065"/>
              <a:ext cx="1663996" cy="6901910"/>
              <a:chOff x="166735" y="434304"/>
              <a:chExt cx="1663996" cy="6901910"/>
            </a:xfrm>
          </p:grpSpPr>
          <p:grpSp>
            <p:nvGrpSpPr>
              <p:cNvPr id="13" name="Group 12">
                <a:extLst>
                  <a:ext uri="{FF2B5EF4-FFF2-40B4-BE49-F238E27FC236}">
                    <a16:creationId xmlns:a16="http://schemas.microsoft.com/office/drawing/2014/main" id="{0FF70805-B099-185C-D3EB-4F5859E7DCAB}"/>
                  </a:ext>
                </a:extLst>
              </p:cNvPr>
              <p:cNvGrpSpPr/>
              <p:nvPr/>
            </p:nvGrpSpPr>
            <p:grpSpPr>
              <a:xfrm>
                <a:off x="239896" y="439378"/>
                <a:ext cx="1504585" cy="6896836"/>
                <a:chOff x="239896" y="439378"/>
                <a:chExt cx="1504585" cy="6896836"/>
              </a:xfrm>
            </p:grpSpPr>
            <p:grpSp>
              <p:nvGrpSpPr>
                <p:cNvPr id="14" name="Group 13">
                  <a:extLst>
                    <a:ext uri="{FF2B5EF4-FFF2-40B4-BE49-F238E27FC236}">
                      <a16:creationId xmlns:a16="http://schemas.microsoft.com/office/drawing/2014/main" id="{662D4B4F-4EE5-DFEB-3784-B580B7A332A4}"/>
                    </a:ext>
                  </a:extLst>
                </p:cNvPr>
                <p:cNvGrpSpPr/>
                <p:nvPr/>
              </p:nvGrpSpPr>
              <p:grpSpPr>
                <a:xfrm>
                  <a:off x="239896" y="439378"/>
                  <a:ext cx="1504584" cy="6858000"/>
                  <a:chOff x="586168" y="472200"/>
                  <a:chExt cx="1504584" cy="6858000"/>
                </a:xfrm>
              </p:grpSpPr>
              <p:sp>
                <p:nvSpPr>
                  <p:cNvPr id="16" name="Isosceles Triangle 15">
                    <a:extLst>
                      <a:ext uri="{FF2B5EF4-FFF2-40B4-BE49-F238E27FC236}">
                        <a16:creationId xmlns:a16="http://schemas.microsoft.com/office/drawing/2014/main" id="{36B5AB7F-2A32-D227-1144-5BC85DAA3540}"/>
                      </a:ext>
                    </a:extLst>
                  </p:cNvPr>
                  <p:cNvSpPr/>
                  <p:nvPr/>
                </p:nvSpPr>
                <p:spPr>
                  <a:xfrm>
                    <a:off x="586168" y="472200"/>
                    <a:ext cx="1504584" cy="5573797"/>
                  </a:xfrm>
                  <a:prstGeom prst="triangle">
                    <a:avLst>
                      <a:gd name="adj"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7374F7E1-9F55-02B5-EB1C-F1ADC4F6075C}"/>
                      </a:ext>
                    </a:extLst>
                  </p:cNvPr>
                  <p:cNvSpPr/>
                  <p:nvPr/>
                </p:nvSpPr>
                <p:spPr>
                  <a:xfrm>
                    <a:off x="586168" y="6007148"/>
                    <a:ext cx="1245831" cy="13230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5" name="Isosceles Triangle 14">
                  <a:extLst>
                    <a:ext uri="{FF2B5EF4-FFF2-40B4-BE49-F238E27FC236}">
                      <a16:creationId xmlns:a16="http://schemas.microsoft.com/office/drawing/2014/main" id="{7AF6FCFB-E47C-9862-2598-4CF9E5230E99}"/>
                    </a:ext>
                  </a:extLst>
                </p:cNvPr>
                <p:cNvSpPr/>
                <p:nvPr/>
              </p:nvSpPr>
              <p:spPr>
                <a:xfrm rot="10800000">
                  <a:off x="1485729" y="6013175"/>
                  <a:ext cx="258752" cy="1323039"/>
                </a:xfrm>
                <a:prstGeom prst="triangle">
                  <a:avLst>
                    <a:gd name="adj" fmla="val 10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 name="Graphic 18">
                <a:extLst>
                  <a:ext uri="{FF2B5EF4-FFF2-40B4-BE49-F238E27FC236}">
                    <a16:creationId xmlns:a16="http://schemas.microsoft.com/office/drawing/2014/main" id="{265B59AE-0CC2-6945-5F80-3BB0B6239168}"/>
                  </a:ext>
                </a:extLst>
              </p:cNvPr>
              <p:cNvSpPr/>
              <p:nvPr/>
            </p:nvSpPr>
            <p:spPr>
              <a:xfrm>
                <a:off x="166735" y="434304"/>
                <a:ext cx="1663996" cy="6857988"/>
              </a:xfrm>
              <a:custGeom>
                <a:avLst/>
                <a:gdLst>
                  <a:gd name="connsiteX0" fmla="*/ 1347938 w 1504584"/>
                  <a:gd name="connsiteY0" fmla="*/ 6863062 h 6863061"/>
                  <a:gd name="connsiteX1" fmla="*/ 1400196 w 1504584"/>
                  <a:gd name="connsiteY1" fmla="*/ 6016314 h 6863061"/>
                  <a:gd name="connsiteX2" fmla="*/ 0 w 1504584"/>
                  <a:gd name="connsiteY2" fmla="*/ 0 h 6863061"/>
                  <a:gd name="connsiteX3" fmla="*/ 1504584 w 1504584"/>
                  <a:gd name="connsiteY3" fmla="*/ 6025044 h 6863061"/>
                  <a:gd name="connsiteX4" fmla="*/ 1347938 w 1504584"/>
                  <a:gd name="connsiteY4" fmla="*/ 6863062 h 6863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584" h="6863061">
                    <a:moveTo>
                      <a:pt x="1347938" y="6863062"/>
                    </a:moveTo>
                    <a:cubicBezTo>
                      <a:pt x="1365400" y="6580770"/>
                      <a:pt x="1382735" y="6298605"/>
                      <a:pt x="1400196" y="6016314"/>
                    </a:cubicBezTo>
                    <a:cubicBezTo>
                      <a:pt x="933422" y="4010918"/>
                      <a:pt x="466774" y="2005396"/>
                      <a:pt x="0" y="0"/>
                    </a:cubicBezTo>
                    <a:cubicBezTo>
                      <a:pt x="501570" y="2008306"/>
                      <a:pt x="1003014" y="4016738"/>
                      <a:pt x="1504584" y="6025044"/>
                    </a:cubicBezTo>
                    <a:cubicBezTo>
                      <a:pt x="1452327" y="6304426"/>
                      <a:pt x="1400196" y="6583680"/>
                      <a:pt x="1347938" y="6863062"/>
                    </a:cubicBezTo>
                    <a:close/>
                  </a:path>
                </a:pathLst>
              </a:custGeom>
              <a:solidFill>
                <a:schemeClr val="accent2"/>
              </a:solidFill>
              <a:ln w="1264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873832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5" y="255036"/>
            <a:ext cx="10361757" cy="1167879"/>
          </a:xfrm>
          <a:prstGeom prst="rect">
            <a:avLst/>
          </a:prstGeom>
        </p:spPr>
        <p:txBody>
          <a:bodyPr vert="horz" lIns="0" tIns="0" rIns="0" bIns="0" rtlCol="0" anchor="t">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5" y="1839913"/>
            <a:ext cx="11120438"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8" y="102191"/>
            <a:ext cx="673947" cy="87120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C7044421-654C-898B-E43A-07F00E643171}"/>
              </a:ext>
            </a:extLst>
          </p:cNvPr>
          <p:cNvSpPr/>
          <p:nvPr/>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pic>
        <p:nvPicPr>
          <p:cNvPr id="3" name="Graphic 2">
            <a:extLst>
              <a:ext uri="{FF2B5EF4-FFF2-40B4-BE49-F238E27FC236}">
                <a16:creationId xmlns:a16="http://schemas.microsoft.com/office/drawing/2014/main" id="{CFC5A6CC-7E17-6B24-834B-56257628894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8" y="102191"/>
            <a:ext cx="673947" cy="871200"/>
          </a:xfrm>
          <a:prstGeom prst="rect">
            <a:avLst/>
          </a:prstGeom>
        </p:spPr>
      </p:pic>
      <p:sp>
        <p:nvSpPr>
          <p:cNvPr id="8" name="Graphic 24">
            <a:extLst>
              <a:ext uri="{FF2B5EF4-FFF2-40B4-BE49-F238E27FC236}">
                <a16:creationId xmlns:a16="http://schemas.microsoft.com/office/drawing/2014/main" id="{D6048A96-03F3-EDFF-9253-B545E4C06684}"/>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9" name="Graphic 26">
            <a:extLst>
              <a:ext uri="{FF2B5EF4-FFF2-40B4-BE49-F238E27FC236}">
                <a16:creationId xmlns:a16="http://schemas.microsoft.com/office/drawing/2014/main" id="{AF359048-B35D-01AE-2E5B-6C74A1760925}"/>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1685254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2662-CDB7-0D2F-E428-AED45F92F026}"/>
              </a:ext>
            </a:extLst>
          </p:cNvPr>
          <p:cNvSpPr>
            <a:spLocks noGrp="1"/>
          </p:cNvSpPr>
          <p:nvPr>
            <p:ph type="title" hasCustomPrompt="1"/>
          </p:nvPr>
        </p:nvSpPr>
        <p:spPr>
          <a:xfrm>
            <a:off x="515936" y="394087"/>
            <a:ext cx="10668000"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3227393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1" y="-1694"/>
            <a:ext cx="12192635" cy="595037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476" h="4462781">
                <a:moveTo>
                  <a:pt x="0" y="0"/>
                </a:moveTo>
                <a:lnTo>
                  <a:pt x="9144000" y="0"/>
                </a:lnTo>
                <a:cubicBezTo>
                  <a:pt x="9144159" y="1486022"/>
                  <a:pt x="9144317" y="2972044"/>
                  <a:pt x="9144476" y="4458066"/>
                </a:cubicBezTo>
                <a:lnTo>
                  <a:pt x="8953500" y="4462781"/>
                </a:lnTo>
                <a:lnTo>
                  <a:pt x="8260080" y="4306571"/>
                </a:lnTo>
                <a:lnTo>
                  <a:pt x="7541895" y="4452779"/>
                </a:lnTo>
                <a:lnTo>
                  <a:pt x="0" y="4442826"/>
                </a:lnTo>
                <a:lnTo>
                  <a:pt x="0" y="0"/>
                </a:lnTo>
                <a:close/>
              </a:path>
            </a:pathLst>
          </a:custGeom>
          <a:noFill/>
        </p:spPr>
        <p:txBody>
          <a:bodyPr/>
          <a:lstStyle>
            <a:lvl1pPr marL="15238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079"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82"/>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504373" y="6134362"/>
            <a:ext cx="1260601" cy="228663"/>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391447" y="6479169"/>
            <a:ext cx="4192500" cy="235898"/>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sz="933"/>
              <a:t>Copyright © 2025 Ascendion. All rights reserved</a:t>
            </a:r>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3" y="2930245"/>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3" name="TextBox 2">
            <a:extLst>
              <a:ext uri="{FF2B5EF4-FFF2-40B4-BE49-F238E27FC236}">
                <a16:creationId xmlns:a16="http://schemas.microsoft.com/office/drawing/2014/main" id="{62A0F77F-7C26-294D-51EA-A965027E9AD3}"/>
              </a:ext>
            </a:extLst>
          </p:cNvPr>
          <p:cNvSpPr txBox="1"/>
          <p:nvPr/>
        </p:nvSpPr>
        <p:spPr>
          <a:xfrm>
            <a:off x="9952296" y="1668147"/>
            <a:ext cx="2042661" cy="3416320"/>
          </a:xfrm>
          <a:prstGeom prst="rect">
            <a:avLst/>
          </a:prstGeom>
          <a:noFill/>
        </p:spPr>
        <p:txBody>
          <a:bodyPr wrap="square">
            <a:spAutoFit/>
          </a:bodyPr>
          <a:lstStyle/>
          <a:p>
            <a:r>
              <a:rPr lang="en-US" sz="1200">
                <a:solidFill>
                  <a:schemeClr val="tx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spTree>
    <p:extLst>
      <p:ext uri="{BB962C8B-B14F-4D97-AF65-F5344CB8AC3E}">
        <p14:creationId xmlns:p14="http://schemas.microsoft.com/office/powerpoint/2010/main" val="133862714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 Light">
    <p:spTree>
      <p:nvGrpSpPr>
        <p:cNvPr id="1" name=""/>
        <p:cNvGrpSpPr/>
        <p:nvPr/>
      </p:nvGrpSpPr>
      <p:grpSpPr>
        <a:xfrm>
          <a:off x="0" y="0"/>
          <a:ext cx="0" cy="0"/>
          <a:chOff x="0" y="0"/>
          <a:chExt cx="0" cy="0"/>
        </a:xfrm>
      </p:grpSpPr>
      <p:sp>
        <p:nvSpPr>
          <p:cNvPr id="2" name="Graphic 24">
            <a:extLst>
              <a:ext uri="{FF2B5EF4-FFF2-40B4-BE49-F238E27FC236}">
                <a16:creationId xmlns:a16="http://schemas.microsoft.com/office/drawing/2014/main" id="{CDBC7BB0-2186-A0D5-DFA4-E5EA88D1386C}"/>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1400"/>
          </a:p>
        </p:txBody>
      </p:sp>
      <p:sp>
        <p:nvSpPr>
          <p:cNvPr id="4" name="Graphic 26">
            <a:extLst>
              <a:ext uri="{FF2B5EF4-FFF2-40B4-BE49-F238E27FC236}">
                <a16:creationId xmlns:a16="http://schemas.microsoft.com/office/drawing/2014/main" id="{D4C34BB0-7DB3-0D4F-1A32-47E1880A88B7}"/>
              </a:ext>
            </a:extLst>
          </p:cNvPr>
          <p:cNvSpPr/>
          <p:nvPr/>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1400"/>
          </a:p>
        </p:txBody>
      </p:sp>
      <p:sp>
        <p:nvSpPr>
          <p:cNvPr id="3" name="Title Placeholder 1">
            <a:extLst>
              <a:ext uri="{FF2B5EF4-FFF2-40B4-BE49-F238E27FC236}">
                <a16:creationId xmlns:a16="http://schemas.microsoft.com/office/drawing/2014/main" id="{91182207-A41B-24F1-7307-11707C67D44B}"/>
              </a:ext>
            </a:extLst>
          </p:cNvPr>
          <p:cNvSpPr>
            <a:spLocks noGrp="1"/>
          </p:cNvSpPr>
          <p:nvPr>
            <p:ph type="title"/>
          </p:nvPr>
        </p:nvSpPr>
        <p:spPr>
          <a:xfrm>
            <a:off x="515937" y="208778"/>
            <a:ext cx="10161299" cy="511663"/>
          </a:xfrm>
          <a:prstGeom prst="rect">
            <a:avLst/>
          </a:prstGeom>
        </p:spPr>
        <p:txBody>
          <a:bodyPr vert="horz" lIns="0" tIns="0" rIns="0" bIns="0" rtlCol="0" anchor="t">
            <a:noAutofit/>
          </a:bodyPr>
          <a:lstStyle>
            <a:lvl1pPr algn="ctr">
              <a:defRPr sz="2400" b="1" i="0">
                <a:latin typeface="PP Neue Machina Plain" pitchFamily="2" charset="77"/>
              </a:defRPr>
            </a:lvl1pPr>
          </a:lstStyle>
          <a:p>
            <a:r>
              <a:rPr lang="en-US"/>
              <a:t>Click to edit Master title style</a:t>
            </a:r>
          </a:p>
        </p:txBody>
      </p:sp>
    </p:spTree>
    <p:extLst>
      <p:ext uri="{BB962C8B-B14F-4D97-AF65-F5344CB8AC3E}">
        <p14:creationId xmlns:p14="http://schemas.microsoft.com/office/powerpoint/2010/main" val="1095677983"/>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99562813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51314485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0658867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22707008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21761556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313130561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20231928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7698842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047630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415419154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F39B1B-E26E-45A5-814A-EF0479E2E389}" type="slidenum">
              <a:rPr lang="en-IN" smtClean="0"/>
              <a:t>‹#›</a:t>
            </a:fld>
            <a:endParaRPr lang="en-IN"/>
          </a:p>
        </p:txBody>
      </p:sp>
    </p:spTree>
    <p:extLst>
      <p:ext uri="{BB962C8B-B14F-4D97-AF65-F5344CB8AC3E}">
        <p14:creationId xmlns:p14="http://schemas.microsoft.com/office/powerpoint/2010/main" val="14391713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1_Blank - Light">
    <p:spTree>
      <p:nvGrpSpPr>
        <p:cNvPr id="1" name=""/>
        <p:cNvGrpSpPr/>
        <p:nvPr/>
      </p:nvGrpSpPr>
      <p:grpSpPr>
        <a:xfrm>
          <a:off x="0" y="0"/>
          <a:ext cx="0" cy="0"/>
          <a:chOff x="0" y="0"/>
          <a:chExt cx="0" cy="0"/>
        </a:xfrm>
      </p:grpSpPr>
      <p:sp>
        <p:nvSpPr>
          <p:cNvPr id="2" name="Graphic 24">
            <a:extLst>
              <a:ext uri="{FF2B5EF4-FFF2-40B4-BE49-F238E27FC236}">
                <a16:creationId xmlns:a16="http://schemas.microsoft.com/office/drawing/2014/main" id="{CDBC7BB0-2186-A0D5-DFA4-E5EA88D1386C}"/>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sz="1400"/>
          </a:p>
        </p:txBody>
      </p:sp>
      <p:sp>
        <p:nvSpPr>
          <p:cNvPr id="4" name="Graphic 26">
            <a:extLst>
              <a:ext uri="{FF2B5EF4-FFF2-40B4-BE49-F238E27FC236}">
                <a16:creationId xmlns:a16="http://schemas.microsoft.com/office/drawing/2014/main" id="{D4C34BB0-7DB3-0D4F-1A32-47E1880A88B7}"/>
              </a:ext>
            </a:extLst>
          </p:cNvPr>
          <p:cNvSpPr/>
          <p:nvPr/>
        </p:nvSpPr>
        <p:spPr>
          <a:xfrm>
            <a:off x="12070232" y="4934244"/>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sz="1400"/>
          </a:p>
        </p:txBody>
      </p:sp>
      <p:sp>
        <p:nvSpPr>
          <p:cNvPr id="3" name="Title Placeholder 1">
            <a:extLst>
              <a:ext uri="{FF2B5EF4-FFF2-40B4-BE49-F238E27FC236}">
                <a16:creationId xmlns:a16="http://schemas.microsoft.com/office/drawing/2014/main" id="{91182207-A41B-24F1-7307-11707C67D44B}"/>
              </a:ext>
            </a:extLst>
          </p:cNvPr>
          <p:cNvSpPr>
            <a:spLocks noGrp="1"/>
          </p:cNvSpPr>
          <p:nvPr>
            <p:ph type="title"/>
          </p:nvPr>
        </p:nvSpPr>
        <p:spPr>
          <a:xfrm>
            <a:off x="515937" y="153362"/>
            <a:ext cx="11160123" cy="511663"/>
          </a:xfrm>
          <a:prstGeom prst="rect">
            <a:avLst/>
          </a:prstGeom>
        </p:spPr>
        <p:txBody>
          <a:bodyPr vert="horz" lIns="0" tIns="0" rIns="0" bIns="0" rtlCol="0" anchor="t">
            <a:noAutofit/>
          </a:bodyPr>
          <a:lstStyle>
            <a:lvl1pPr algn="ctr">
              <a:defRPr sz="2000" b="1" i="0">
                <a:latin typeface="Poppins" panose="00000500000000000000" pitchFamily="2" charset="0"/>
                <a:cs typeface="Poppins"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186627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slideLayout" Target="../slideLayouts/slideLayout15.xml"/><Relationship Id="rId14" Type="http://schemas.openxmlformats.org/officeDocument/2006/relationships/slideLayout" Target="../slideLayouts/slideLayout16.xml"/><Relationship Id="rId15" Type="http://schemas.openxmlformats.org/officeDocument/2006/relationships/slideLayout" Target="../slideLayouts/slideLayout17.xml"/><Relationship Id="rId16" Type="http://schemas.openxmlformats.org/officeDocument/2006/relationships/slideLayout" Target="../slideLayouts/slideLayout18.xml"/><Relationship Id="rId17" Type="http://schemas.openxmlformats.org/officeDocument/2006/relationships/slideLayout" Target="../slideLayouts/slideLayout19.xml"/><Relationship Id="rId18" Type="http://schemas.openxmlformats.org/officeDocument/2006/relationships/slideLayout" Target="../slideLayouts/slideLayout20.xml"/><Relationship Id="rId19" Type="http://schemas.openxmlformats.org/officeDocument/2006/relationships/slideLayout" Target="../slideLayouts/slideLayout21.xml"/><Relationship Id="rId20" Type="http://schemas.openxmlformats.org/officeDocument/2006/relationships/slideLayout" Target="../slideLayouts/slideLayout22.xml"/><Relationship Id="rId21" Type="http://schemas.openxmlformats.org/officeDocument/2006/relationships/slideLayout" Target="../slideLayouts/slideLayout23.xml"/><Relationship Id="rId22" Type="http://schemas.openxmlformats.org/officeDocument/2006/relationships/slideLayout" Target="../slideLayouts/slideLayout24.xml"/><Relationship Id="rId23" Type="http://schemas.openxmlformats.org/officeDocument/2006/relationships/slideLayout" Target="../slideLayouts/slideLayout25.xml"/><Relationship Id="rId24" Type="http://schemas.openxmlformats.org/officeDocument/2006/relationships/slideLayout" Target="../slideLayouts/slideLayout26.xml"/><Relationship Id="rId25" Type="http://schemas.openxmlformats.org/officeDocument/2006/relationships/slideLayout" Target="../slideLayouts/slideLayout27.xml"/><Relationship Id="rId26" Type="http://schemas.openxmlformats.org/officeDocument/2006/relationships/slideLayout" Target="../slideLayouts/slideLayout28.xml"/><Relationship Id="rId27" Type="http://schemas.openxmlformats.org/officeDocument/2006/relationships/slideLayout" Target="../slideLayouts/slideLayout29.xml"/><Relationship Id="rId28" Type="http://schemas.openxmlformats.org/officeDocument/2006/relationships/slideLayout" Target="../slideLayouts/slideLayout30.xml"/><Relationship Id="rId29" Type="http://schemas.openxmlformats.org/officeDocument/2006/relationships/slideLayout" Target="../slideLayouts/slideLayout31.xml"/><Relationship Id="rId30" Type="http://schemas.openxmlformats.org/officeDocument/2006/relationships/slideLayout" Target="../slideLayouts/slideLayout32.xml"/><Relationship Id="rId31" Type="http://schemas.openxmlformats.org/officeDocument/2006/relationships/slideLayout" Target="../slideLayouts/slideLayout33.xml"/><Relationship Id="rId32" Type="http://schemas.openxmlformats.org/officeDocument/2006/relationships/slideLayout" Target="../slideLayouts/slideLayout34.xml"/><Relationship Id="rId33" Type="http://schemas.openxmlformats.org/officeDocument/2006/relationships/slideLayout" Target="../slideLayouts/slideLayout35.xml"/><Relationship Id="rId34" Type="http://schemas.openxmlformats.org/officeDocument/2006/relationships/slideLayout" Target="../slideLayouts/slideLayout36.xml"/><Relationship Id="rId35" Type="http://schemas.openxmlformats.org/officeDocument/2006/relationships/slideLayout" Target="../slideLayouts/slideLayout37.xml"/><Relationship Id="rId36" Type="http://schemas.openxmlformats.org/officeDocument/2006/relationships/slideLayout" Target="../slideLayouts/slideLayout38.xml"/><Relationship Id="rId37" Type="http://schemas.openxmlformats.org/officeDocument/2006/relationships/slideLayout" Target="../slideLayouts/slideLayout39.xml"/><Relationship Id="rId38" Type="http://schemas.openxmlformats.org/officeDocument/2006/relationships/slideLayout" Target="../slideLayouts/slideLayout40.xml"/><Relationship Id="rId39" Type="http://schemas.openxmlformats.org/officeDocument/2006/relationships/slideLayout" Target="../slideLayouts/slideLayout41.xml"/><Relationship Id="rId40" Type="http://schemas.openxmlformats.org/officeDocument/2006/relationships/slideLayout" Target="../slideLayouts/slideLayout42.xml"/><Relationship Id="rId41" Type="http://schemas.openxmlformats.org/officeDocument/2006/relationships/slideLayout" Target="../slideLayouts/slideLayout43.xml"/><Relationship Id="rId42" Type="http://schemas.openxmlformats.org/officeDocument/2006/relationships/slideLayout" Target="../slideLayouts/slideLayout44.xml"/><Relationship Id="rId43" Type="http://schemas.openxmlformats.org/officeDocument/2006/relationships/slideLayout" Target="../slideLayouts/slideLayout45.xml"/><Relationship Id="rId44" Type="http://schemas.openxmlformats.org/officeDocument/2006/relationships/slideLayout" Target="../slideLayouts/slideLayout46.xml"/><Relationship Id="rId45" Type="http://schemas.openxmlformats.org/officeDocument/2006/relationships/slideLayout" Target="../slideLayouts/slideLayout47.xml"/><Relationship Id="rId46" Type="http://schemas.openxmlformats.org/officeDocument/2006/relationships/slideLayout" Target="../slideLayouts/slideLayout48.xml"/><Relationship Id="rId47" Type="http://schemas.openxmlformats.org/officeDocument/2006/relationships/slideLayout" Target="../slideLayouts/slideLayout49.xml"/><Relationship Id="rId48" Type="http://schemas.openxmlformats.org/officeDocument/2006/relationships/slideLayout" Target="../slideLayouts/slideLayout50.xml"/><Relationship Id="rId49" Type="http://schemas.openxmlformats.org/officeDocument/2006/relationships/slideLayout" Target="../slideLayouts/slideLayout51.xml"/><Relationship Id="rId50" Type="http://schemas.openxmlformats.org/officeDocument/2006/relationships/slideLayout" Target="../slideLayouts/slideLayout52.xml"/><Relationship Id="rId51" Type="http://schemas.openxmlformats.org/officeDocument/2006/relationships/slideLayout" Target="../slideLayouts/slideLayout53.xml"/><Relationship Id="rId52" Type="http://schemas.openxmlformats.org/officeDocument/2006/relationships/slideLayout" Target="../slideLayouts/slideLayout54.xml"/><Relationship Id="rId53" Type="http://schemas.openxmlformats.org/officeDocument/2006/relationships/slideLayout" Target="../slideLayouts/slideLayout55.xml"/><Relationship Id="rId54" Type="http://schemas.openxmlformats.org/officeDocument/2006/relationships/slideLayout" Target="../slideLayouts/slideLayout56.xml"/><Relationship Id="rId55" Type="http://schemas.openxmlformats.org/officeDocument/2006/relationships/slideLayout" Target="../slideLayouts/slideLayout57.xml"/><Relationship Id="rId56" Type="http://schemas.openxmlformats.org/officeDocument/2006/relationships/slideLayout" Target="../slideLayouts/slideLayout58.xml"/><Relationship Id="rId57" Type="http://schemas.openxmlformats.org/officeDocument/2006/relationships/slideLayout" Target="../slideLayouts/slideLayout59.xml"/><Relationship Id="rId58" Type="http://schemas.openxmlformats.org/officeDocument/2006/relationships/slideLayout" Target="../slideLayouts/slideLayout60.xml"/><Relationship Id="rId59" Type="http://schemas.openxmlformats.org/officeDocument/2006/relationships/slideLayout" Target="../slideLayouts/slideLayout61.xml"/><Relationship Id="rId60" Type="http://schemas.openxmlformats.org/officeDocument/2006/relationships/slideLayout" Target="../slideLayouts/slideLayout62.xml"/><Relationship Id="rId61" Type="http://schemas.openxmlformats.org/officeDocument/2006/relationships/slideLayout" Target="../slideLayouts/slideLayout63.xml"/><Relationship Id="rId62" Type="http://schemas.openxmlformats.org/officeDocument/2006/relationships/slideLayout" Target="../slideLayouts/slideLayout64.xml"/><Relationship Id="rId63" Type="http://schemas.openxmlformats.org/officeDocument/2006/relationships/slideLayout" Target="../slideLayouts/slideLayout65.xml"/><Relationship Id="rId64" Type="http://schemas.openxmlformats.org/officeDocument/2006/relationships/slideLayout" Target="../slideLayouts/slideLayout66.xml"/><Relationship Id="rId65" Type="http://schemas.openxmlformats.org/officeDocument/2006/relationships/slideLayout" Target="../slideLayouts/slideLayout67.xml"/><Relationship Id="rId66" Type="http://schemas.openxmlformats.org/officeDocument/2006/relationships/slideLayout" Target="../slideLayouts/slideLayout68.xml"/><Relationship Id="rId67" Type="http://schemas.openxmlformats.org/officeDocument/2006/relationships/slideLayout" Target="../slideLayouts/slideLayout69.xml"/><Relationship Id="rId68" Type="http://schemas.openxmlformats.org/officeDocument/2006/relationships/slideLayout" Target="../slideLayouts/slideLayout70.xml"/><Relationship Id="rId69" Type="http://schemas.openxmlformats.org/officeDocument/2006/relationships/slideLayout" Target="../slideLayouts/slideLayout71.xml"/><Relationship Id="rId70" Type="http://schemas.openxmlformats.org/officeDocument/2006/relationships/slideLayout" Target="../slideLayouts/slideLayout72.xml"/><Relationship Id="rId71" Type="http://schemas.openxmlformats.org/officeDocument/2006/relationships/slideLayout" Target="../slideLayouts/slideLayout73.xml"/><Relationship Id="rId72" Type="http://schemas.openxmlformats.org/officeDocument/2006/relationships/slideLayout" Target="../slideLayouts/slideLayout74.xml"/><Relationship Id="rId73" Type="http://schemas.openxmlformats.org/officeDocument/2006/relationships/slideLayout" Target="../slideLayouts/slideLayout75.xml"/><Relationship Id="rId74" Type="http://schemas.openxmlformats.org/officeDocument/2006/relationships/slideLayout" Target="../slideLayouts/slideLayout76.xml"/><Relationship Id="rId75" Type="http://schemas.openxmlformats.org/officeDocument/2006/relationships/slideLayout" Target="../slideLayouts/slideLayout77.xml"/><Relationship Id="rId76" Type="http://schemas.openxmlformats.org/officeDocument/2006/relationships/slideLayout" Target="../slideLayouts/slideLayout78.xml"/><Relationship Id="rId77" Type="http://schemas.openxmlformats.org/officeDocument/2006/relationships/slideLayout" Target="../slideLayouts/slideLayout79.xml"/><Relationship Id="rId78" Type="http://schemas.openxmlformats.org/officeDocument/2006/relationships/slideLayout" Target="../slideLayouts/slideLayout80.xml"/><Relationship Id="rId79" Type="http://schemas.openxmlformats.org/officeDocument/2006/relationships/slideLayout" Target="../slideLayouts/slideLayout81.xml"/><Relationship Id="rId80" Type="http://schemas.openxmlformats.org/officeDocument/2006/relationships/slideLayout" Target="../slideLayouts/slideLayout82.xml"/><Relationship Id="rId81" Type="http://schemas.openxmlformats.org/officeDocument/2006/relationships/slideLayout" Target="../slideLayouts/slideLayout83.xml"/><Relationship Id="rId82" Type="http://schemas.openxmlformats.org/officeDocument/2006/relationships/slideLayout" Target="../slideLayouts/slideLayout84.xml"/><Relationship Id="rId83" Type="http://schemas.openxmlformats.org/officeDocument/2006/relationships/slideLayout" Target="../slideLayouts/slideLayout85.xml"/><Relationship Id="rId84" Type="http://schemas.openxmlformats.org/officeDocument/2006/relationships/slideLayout" Target="../slideLayouts/slideLayout86.xml"/><Relationship Id="rId8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slideLayout" Target="../slideLayouts/slideLayout88.xml"/><Relationship Id="rId3" Type="http://schemas.openxmlformats.org/officeDocument/2006/relationships/slideLayout" Target="../slideLayouts/slideLayout89.xml"/><Relationship Id="rId4" Type="http://schemas.openxmlformats.org/officeDocument/2006/relationships/slideLayout" Target="../slideLayouts/slideLayout90.xml"/><Relationship Id="rId5" Type="http://schemas.openxmlformats.org/officeDocument/2006/relationships/slideLayout" Target="../slideLayouts/slideLayout91.xml"/><Relationship Id="rId6" Type="http://schemas.openxmlformats.org/officeDocument/2006/relationships/slideLayout" Target="../slideLayouts/slideLayout92.xml"/><Relationship Id="rId7" Type="http://schemas.openxmlformats.org/officeDocument/2006/relationships/slideLayout" Target="../slideLayouts/slideLayout93.xml"/><Relationship Id="rId8" Type="http://schemas.openxmlformats.org/officeDocument/2006/relationships/slideLayout" Target="../slideLayouts/slideLayout94.xml"/><Relationship Id="rId9" Type="http://schemas.openxmlformats.org/officeDocument/2006/relationships/slideLayout" Target="../slideLayouts/slideLayout95.xml"/><Relationship Id="rId10" Type="http://schemas.openxmlformats.org/officeDocument/2006/relationships/slideLayout" Target="../slideLayouts/slideLayout96.xml"/><Relationship Id="rId11" Type="http://schemas.openxmlformats.org/officeDocument/2006/relationships/slideLayout" Target="../slideLayouts/slideLayout97.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45" r:id="rId1"/>
    <p:sldLayoutId id="214748384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39B1B-E26E-45A5-814A-EF0479E2E389}" type="slidenum">
              <a:rPr lang="en-IN" smtClean="0"/>
              <a:t>‹#›</a:t>
            </a:fld>
            <a:endParaRPr lang="en-IN"/>
          </a:p>
        </p:txBody>
      </p:sp>
    </p:spTree>
    <p:extLst>
      <p:ext uri="{BB962C8B-B14F-4D97-AF65-F5344CB8AC3E}">
        <p14:creationId xmlns:p14="http://schemas.microsoft.com/office/powerpoint/2010/main" val="87366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91" r:id="rId29"/>
    <p:sldLayoutId id="2147483794" r:id="rId30"/>
    <p:sldLayoutId id="2147483796" r:id="rId31"/>
    <p:sldLayoutId id="2147483798" r:id="rId32"/>
    <p:sldLayoutId id="2147483799" r:id="rId33"/>
    <p:sldLayoutId id="2147483789" r:id="rId34"/>
    <p:sldLayoutId id="2147483790" r:id="rId35"/>
    <p:sldLayoutId id="2147483792" r:id="rId36"/>
    <p:sldLayoutId id="2147483793" r:id="rId37"/>
    <p:sldLayoutId id="2147483795" r:id="rId38"/>
    <p:sldLayoutId id="2147483797" r:id="rId39"/>
    <p:sldLayoutId id="2147483814" r:id="rId40"/>
    <p:sldLayoutId id="2147483815" r:id="rId41"/>
    <p:sldLayoutId id="2147483816" r:id="rId42"/>
    <p:sldLayoutId id="2147483817" r:id="rId43"/>
    <p:sldLayoutId id="2147483818" r:id="rId44"/>
    <p:sldLayoutId id="2147483819" r:id="rId45"/>
    <p:sldLayoutId id="2147483820" r:id="rId46"/>
    <p:sldLayoutId id="2147483821" r:id="rId47"/>
    <p:sldLayoutId id="2147483800" r:id="rId48"/>
    <p:sldLayoutId id="2147483801" r:id="rId49"/>
    <p:sldLayoutId id="2147483802" r:id="rId50"/>
    <p:sldLayoutId id="2147483805" r:id="rId51"/>
    <p:sldLayoutId id="2147483808" r:id="rId52"/>
    <p:sldLayoutId id="2147483810" r:id="rId53"/>
    <p:sldLayoutId id="2147483812" r:id="rId54"/>
    <p:sldLayoutId id="2147483813" r:id="rId55"/>
    <p:sldLayoutId id="2147483803" r:id="rId56"/>
    <p:sldLayoutId id="2147483804" r:id="rId57"/>
    <p:sldLayoutId id="2147483806" r:id="rId58"/>
    <p:sldLayoutId id="2147483807" r:id="rId59"/>
    <p:sldLayoutId id="2147483809" r:id="rId60"/>
    <p:sldLayoutId id="2147483811" r:id="rId61"/>
    <p:sldLayoutId id="2147483822" r:id="rId62"/>
    <p:sldLayoutId id="2147483823" r:id="rId63"/>
    <p:sldLayoutId id="2147483824" r:id="rId64"/>
    <p:sldLayoutId id="2147483825" r:id="rId65"/>
    <p:sldLayoutId id="2147483826" r:id="rId66"/>
    <p:sldLayoutId id="2147483827" r:id="rId67"/>
    <p:sldLayoutId id="2147483828" r:id="rId68"/>
    <p:sldLayoutId id="2147483829" r:id="rId69"/>
    <p:sldLayoutId id="2147483830" r:id="rId70"/>
    <p:sldLayoutId id="2147483831" r:id="rId71"/>
    <p:sldLayoutId id="2147483832" r:id="rId72"/>
    <p:sldLayoutId id="2147483835" r:id="rId73"/>
    <p:sldLayoutId id="2147483838" r:id="rId74"/>
    <p:sldLayoutId id="2147483840" r:id="rId75"/>
    <p:sldLayoutId id="2147483842" r:id="rId76"/>
    <p:sldLayoutId id="2147483843" r:id="rId77"/>
    <p:sldLayoutId id="2147483833" r:id="rId78"/>
    <p:sldLayoutId id="2147483834" r:id="rId79"/>
    <p:sldLayoutId id="2147483836" r:id="rId80"/>
    <p:sldLayoutId id="2147483837" r:id="rId81"/>
    <p:sldLayoutId id="2147483839" r:id="rId82"/>
    <p:sldLayoutId id="2147483841" r:id="rId83"/>
    <p:sldLayoutId id="2147483701" r:id="rId84"/>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hyperlink" Target="https://www.freepik.com/premium-ai-image/businessman-working-computer-document-management-system-dmsvirtual-online-documentation-database_185108874.htm#fromView=search&amp;page=1&amp;position=6&amp;uuid=cde7700c-1e9f-4bfb-b85f-13c56a4c7bd7&amp;query=databased+Testing" TargetMode="Externa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usinessman working computer document management system dmsvirtual online documentation database">
            <a:hlinkClick r:id="rId2"/>
            <a:extLst>
              <a:ext uri="{FF2B5EF4-FFF2-40B4-BE49-F238E27FC236}">
                <a16:creationId xmlns:a16="http://schemas.microsoft.com/office/drawing/2014/main" id="{E02D5559-2074-7B86-4783-8FF4195EE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 y="0"/>
            <a:ext cx="12196330" cy="68580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6551C041-3584-DFFB-E715-38C2FFE56B90}"/>
              </a:ext>
            </a:extLst>
          </p:cNvPr>
          <p:cNvSpPr/>
          <p:nvPr/>
        </p:nvSpPr>
        <p:spPr>
          <a:xfrm>
            <a:off x="0" y="0"/>
            <a:ext cx="12192000" cy="6858000"/>
          </a:xfrm>
          <a:prstGeom prst="rect">
            <a:avLst/>
          </a:prstGeom>
          <a:solidFill>
            <a:schemeClr val="tx1">
              <a:lumMod val="95000"/>
              <a:lumOff val="5000"/>
              <a:alpha val="4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sym typeface="Calibri"/>
            </a:endParaRPr>
          </a:p>
        </p:txBody>
      </p:sp>
      <p:pic>
        <p:nvPicPr>
          <p:cNvPr id="28675" name="Picture 4" descr="Background pattern&#10;&#10;Description automatically generated">
            <a:extLst>
              <a:ext uri="{FF2B5EF4-FFF2-40B4-BE49-F238E27FC236}">
                <a16:creationId xmlns:a16="http://schemas.microsoft.com/office/drawing/2014/main" id="{D61094C1-5A03-4B93-8C8C-A44DF1B464CC}"/>
              </a:ext>
            </a:extLst>
          </p:cNvPr>
          <p:cNvPicPr>
            <a:picLocks noChangeAspect="1" noChangeArrowheads="1"/>
          </p:cNvPicPr>
          <p:nvPr/>
        </p:nvPicPr>
        <p:blipFill>
          <a:blip r:embed="rId4">
            <a:duotone>
              <a:prstClr val="black"/>
              <a:srgbClr val="7161E2">
                <a:tint val="45000"/>
                <a:satMod val="400000"/>
              </a:srgbClr>
            </a:duotone>
            <a:extLst>
              <a:ext uri="{28A0092B-C50C-407E-A947-70E740481C1C}">
                <a14:useLocalDpi xmlns:a14="http://schemas.microsoft.com/office/drawing/2010/main" val="0"/>
              </a:ext>
            </a:extLst>
          </a:blip>
          <a:srcRect b="9111"/>
          <a:stretch>
            <a:fillRect/>
          </a:stretch>
        </p:blipFill>
        <p:spPr bwMode="auto">
          <a:xfrm>
            <a:off x="0" y="20321"/>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itle 2">
            <a:extLst>
              <a:ext uri="{FF2B5EF4-FFF2-40B4-BE49-F238E27FC236}">
                <a16:creationId xmlns:a16="http://schemas.microsoft.com/office/drawing/2014/main" id="{8B789403-DBD0-44D6-94ED-650803D89D48}"/>
              </a:ext>
            </a:extLst>
          </p:cNvPr>
          <p:cNvSpPr txBox="1">
            <a:spLocks/>
          </p:cNvSpPr>
          <p:nvPr/>
        </p:nvSpPr>
        <p:spPr bwMode="auto">
          <a:xfrm>
            <a:off x="250985" y="4605225"/>
            <a:ext cx="11690030" cy="1686355"/>
          </a:xfrm>
          <a:prstGeom prst="rect">
            <a:avLst/>
          </a:prstGeom>
          <a:noFill/>
          <a:ln>
            <a:noFill/>
          </a:ln>
        </p:spPr>
        <p:txBody>
          <a:bodyPr lIns="91440" tIns="45720" rIns="91440" bIns="45720" anchor="ct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2pPr>
            <a:lvl3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3pPr>
            <a:lvl4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4pPr>
            <a:lvl5pPr algn="l" rtl="0" eaLnBrk="0" fontAlgn="base" hangingPunct="0">
              <a:lnSpc>
                <a:spcPct val="90000"/>
              </a:lnSpc>
              <a:spcBef>
                <a:spcPct val="0"/>
              </a:spcBef>
              <a:spcAft>
                <a:spcPct val="0"/>
              </a:spcAft>
              <a:defRPr sz="4400">
                <a:solidFill>
                  <a:schemeClr val="tx1"/>
                </a:solidFill>
                <a:latin typeface="Montserrat" panose="00000500000000000000" pitchFamily="50" charset="0"/>
              </a:defRPr>
            </a:lvl5pPr>
            <a:lvl6pPr marL="457200" algn="l" rtl="0" fontAlgn="base">
              <a:lnSpc>
                <a:spcPct val="90000"/>
              </a:lnSpc>
              <a:spcBef>
                <a:spcPct val="0"/>
              </a:spcBef>
              <a:spcAft>
                <a:spcPct val="0"/>
              </a:spcAft>
              <a:defRPr sz="4400">
                <a:solidFill>
                  <a:schemeClr val="tx1"/>
                </a:solidFill>
                <a:latin typeface="Montserrat" panose="00000500000000000000" pitchFamily="50" charset="0"/>
              </a:defRPr>
            </a:lvl6pPr>
            <a:lvl7pPr marL="914400" algn="l" rtl="0" fontAlgn="base">
              <a:lnSpc>
                <a:spcPct val="90000"/>
              </a:lnSpc>
              <a:spcBef>
                <a:spcPct val="0"/>
              </a:spcBef>
              <a:spcAft>
                <a:spcPct val="0"/>
              </a:spcAft>
              <a:defRPr sz="4400">
                <a:solidFill>
                  <a:schemeClr val="tx1"/>
                </a:solidFill>
                <a:latin typeface="Montserrat" panose="00000500000000000000" pitchFamily="50" charset="0"/>
              </a:defRPr>
            </a:lvl7pPr>
            <a:lvl8pPr marL="1371600" algn="l" rtl="0" fontAlgn="base">
              <a:lnSpc>
                <a:spcPct val="90000"/>
              </a:lnSpc>
              <a:spcBef>
                <a:spcPct val="0"/>
              </a:spcBef>
              <a:spcAft>
                <a:spcPct val="0"/>
              </a:spcAft>
              <a:defRPr sz="4400">
                <a:solidFill>
                  <a:schemeClr val="tx1"/>
                </a:solidFill>
                <a:latin typeface="Montserrat" panose="00000500000000000000" pitchFamily="50" charset="0"/>
              </a:defRPr>
            </a:lvl8pPr>
            <a:lvl9pPr marL="1828800" algn="l" rtl="0" fontAlgn="base">
              <a:lnSpc>
                <a:spcPct val="90000"/>
              </a:lnSpc>
              <a:spcBef>
                <a:spcPct val="0"/>
              </a:spcBef>
              <a:spcAft>
                <a:spcPct val="0"/>
              </a:spcAft>
              <a:defRPr sz="4400">
                <a:solidFill>
                  <a:schemeClr val="tx1"/>
                </a:solidFill>
                <a:latin typeface="Montserrat" panose="00000500000000000000" pitchFamily="50" charset="0"/>
              </a:defRPr>
            </a:lvl9pPr>
          </a:lstStyle>
          <a:p>
            <a:pPr marL="0" marR="0" lvl="0" indent="0" algn="ctr" defTabSz="914400" rtl="0" eaLnBrk="1" fontAlgn="auto" latinLnBrk="0" hangingPunct="1">
              <a:lnSpc>
                <a:spcPct val="100000"/>
              </a:lnSpc>
              <a:spcBef>
                <a:spcPct val="0"/>
              </a:spcBef>
              <a:spcAft>
                <a:spcPts val="600"/>
              </a:spcAft>
              <a:buClrTx/>
              <a:buSzTx/>
              <a:buFontTx/>
              <a:buNone/>
              <a:tabLst/>
              <a:defRPr/>
            </a:pPr>
            <a:r>
              <a:rPr kumimoji="0" lang="en-US" sz="4400" b="1" i="0" u="none" strike="noStrike" kern="1200" cap="none" spc="0" normalizeH="0" baseline="0" noProof="0">
                <a:ln>
                  <a:noFill/>
                </a:ln>
                <a:solidFill>
                  <a:srgbClr val="FFC000"/>
                </a:solidFill>
                <a:effectLst/>
                <a:uLnTx/>
                <a:uFillTx/>
                <a:latin typeface="Open Sans"/>
                <a:ea typeface="+mj-ea"/>
                <a:cs typeface="+mj-cs"/>
                <a:sym typeface="Calibri"/>
              </a:rPr>
              <a:t>Agentic Deployment as a Service (</a:t>
            </a:r>
            <a:r>
              <a:rPr kumimoji="0" lang="en-US" sz="4400" b="1" i="0" u="none" strike="noStrike" kern="1200" cap="none" spc="0" normalizeH="0" baseline="0" noProof="0" err="1">
                <a:ln>
                  <a:noFill/>
                </a:ln>
                <a:solidFill>
                  <a:srgbClr val="FFC000"/>
                </a:solidFill>
                <a:effectLst/>
                <a:uLnTx/>
                <a:uFillTx/>
                <a:latin typeface="Open Sans"/>
                <a:ea typeface="+mj-ea"/>
                <a:cs typeface="+mj-cs"/>
                <a:sym typeface="Calibri"/>
              </a:rPr>
              <a:t>ADaaS</a:t>
            </a:r>
            <a:r>
              <a:rPr kumimoji="0" lang="en-US" sz="4400" b="1" i="0" u="none" strike="noStrike" kern="1200" cap="none" spc="0" normalizeH="0" baseline="0" noProof="0">
                <a:ln>
                  <a:noFill/>
                </a:ln>
                <a:solidFill>
                  <a:srgbClr val="FFC000"/>
                </a:solidFill>
                <a:effectLst/>
                <a:uLnTx/>
                <a:uFillTx/>
                <a:latin typeface="Open Sans"/>
                <a:ea typeface="+mj-ea"/>
                <a:cs typeface="+mj-cs"/>
                <a:sym typeface="Calibri"/>
              </a:rPr>
              <a:t>)</a:t>
            </a:r>
          </a:p>
          <a:p>
            <a:pPr marL="0" marR="0" lvl="0" indent="0" algn="ctr" defTabSz="914400" rtl="0" eaLnBrk="1" fontAlgn="auto" latinLnBrk="0" hangingPunct="1">
              <a:lnSpc>
                <a:spcPct val="100000"/>
              </a:lnSpc>
              <a:spcBef>
                <a:spcPct val="0"/>
              </a:spcBef>
              <a:spcAft>
                <a:spcPts val="6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Open Sans"/>
                <a:ea typeface="+mj-ea"/>
                <a:cs typeface="+mj-cs"/>
                <a:sym typeface="Calibri"/>
              </a:rPr>
              <a:t>Deploy Faster, Safer, and Smarter</a:t>
            </a:r>
          </a:p>
        </p:txBody>
      </p:sp>
      <p:cxnSp>
        <p:nvCxnSpPr>
          <p:cNvPr id="20" name="Google Shape;59;p13">
            <a:extLst>
              <a:ext uri="{FF2B5EF4-FFF2-40B4-BE49-F238E27FC236}">
                <a16:creationId xmlns:a16="http://schemas.microsoft.com/office/drawing/2014/main" id="{017F23B5-923C-354A-3793-3D204D833410}"/>
              </a:ext>
            </a:extLst>
          </p:cNvPr>
          <p:cNvCxnSpPr>
            <a:cxnSpLocks/>
          </p:cNvCxnSpPr>
          <p:nvPr/>
        </p:nvCxnSpPr>
        <p:spPr>
          <a:xfrm>
            <a:off x="2974274" y="4464606"/>
            <a:ext cx="6243452" cy="0"/>
          </a:xfrm>
          <a:prstGeom prst="straightConnector1">
            <a:avLst/>
          </a:prstGeom>
          <a:noFill/>
          <a:ln w="9525" cap="flat" cmpd="sng">
            <a:solidFill>
              <a:schemeClr val="lt1"/>
            </a:solidFill>
            <a:prstDash val="solid"/>
            <a:round/>
            <a:headEnd type="none" w="med" len="med"/>
            <a:tailEnd type="none" w="med" len="med"/>
          </a:ln>
        </p:spPr>
      </p:cxnSp>
      <p:grpSp>
        <p:nvGrpSpPr>
          <p:cNvPr id="2" name="Group 1">
            <a:extLst>
              <a:ext uri="{FF2B5EF4-FFF2-40B4-BE49-F238E27FC236}">
                <a16:creationId xmlns:a16="http://schemas.microsoft.com/office/drawing/2014/main" id="{FCB435ED-A885-0F9C-679E-DEB9FA12ED85}"/>
              </a:ext>
            </a:extLst>
          </p:cNvPr>
          <p:cNvGrpSpPr/>
          <p:nvPr/>
        </p:nvGrpSpPr>
        <p:grpSpPr>
          <a:xfrm>
            <a:off x="4782508" y="3130972"/>
            <a:ext cx="2626984" cy="1077897"/>
            <a:chOff x="4782507" y="4288740"/>
            <a:chExt cx="2626984" cy="1077897"/>
          </a:xfrm>
        </p:grpSpPr>
        <p:sp>
          <p:nvSpPr>
            <p:cNvPr id="3" name="Rectangle: Rounded Corners 2">
              <a:extLst>
                <a:ext uri="{FF2B5EF4-FFF2-40B4-BE49-F238E27FC236}">
                  <a16:creationId xmlns:a16="http://schemas.microsoft.com/office/drawing/2014/main" id="{B8419B18-47C9-7342-36A4-5C0D244D641A}"/>
                </a:ext>
              </a:extLst>
            </p:cNvPr>
            <p:cNvSpPr/>
            <p:nvPr/>
          </p:nvSpPr>
          <p:spPr>
            <a:xfrm>
              <a:off x="4782507" y="4288740"/>
              <a:ext cx="2626984" cy="1077897"/>
            </a:xfrm>
            <a:prstGeom prst="roundRect">
              <a:avLst>
                <a:gd name="adj" fmla="val 50000"/>
              </a:avLst>
            </a:prstGeom>
            <a:solidFill>
              <a:schemeClr val="bg1"/>
            </a:solid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sym typeface="Calibri"/>
              </a:endParaRPr>
            </a:p>
          </p:txBody>
        </p:sp>
        <p:pic>
          <p:nvPicPr>
            <p:cNvPr id="4" name="Picture 3">
              <a:extLst>
                <a:ext uri="{FF2B5EF4-FFF2-40B4-BE49-F238E27FC236}">
                  <a16:creationId xmlns:a16="http://schemas.microsoft.com/office/drawing/2014/main" id="{A7EC86B6-2F4D-DC34-E987-0AD56DC320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527499" y="4504895"/>
              <a:ext cx="1315427" cy="61413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
          <p:cNvSpPr/>
          <p:nvPr/>
        </p:nvSpPr>
        <p:spPr>
          <a:xfrm>
            <a:off x="0" y="0"/>
            <a:ext cx="12192000" cy="6858000"/>
          </a:xfrm>
          <a:prstGeom prst="rect">
            <a:avLst/>
          </a:prstGeom>
          <a:solidFill>
            <a:srgbClr val="F4F7FD"/>
          </a:solidFill>
          <a:ln>
            <a:noFill/>
          </a:ln>
        </p:spPr>
        <p:txBody>
          <a:bodyPr/>
          <a:lstStyle/>
          <a:p>
            <a:endParaRPr/>
          </a:p>
        </p:txBody>
      </p:sp>
      <p:cxnSp>
        <p:nvCxnSpPr>
          <p:cNvPr id="3" name="C"/>
          <p:cNvCxnSpPr/>
          <p:nvPr/>
        </p:nvCxnSpPr>
        <p:spPr>
          <a:xfrm>
            <a:off x="12100560" y="0"/>
            <a:ext cx="1" cy="6858000"/>
          </a:xfrm>
          <a:prstGeom prst="line">
            <a:avLst/>
          </a:prstGeom>
          <a:ln w="6350">
            <a:solidFill>
              <a:srgbClr val="CADCFC"/>
            </a:solidFill>
            <a:prstDash val="dash"/>
          </a:ln>
        </p:spPr>
      </p:cxnSp>
      <p:sp>
        <p:nvSpPr>
          <p:cNvPr id="4" name="DT"/>
          <p:cNvSpPr/>
          <p:nvPr/>
        </p:nvSpPr>
        <p:spPr>
          <a:xfrm>
            <a:off x="457200" y="237744"/>
            <a:ext cx="6400800" cy="219456"/>
          </a:xfrm>
          <a:prstGeom prst="rect">
            <a:avLst/>
          </a:prstGeom>
          <a:noFill/>
          <a:ln>
            <a:noFill/>
          </a:ln>
        </p:spPr>
        <p:txBody>
          <a:bodyPr wrap="square" lIns="0" tIns="0" rIns="0" bIns="0" anchor="ctr"/>
          <a:lstStyle/>
          <a:p>
            <a:pPr algn="l">
              <a:buNone/>
            </a:pPr>
            <a:r>
              <a:rPr sz="950" b="1">
                <a:solidFill>
                  <a:srgbClr val="2F55C4"/>
                </a:solidFill>
                <a:latin typeface="Calibri"/>
              </a:rPr>
              <a:t>DAAS PLATFORM</a:t>
            </a:r>
            <a:r>
              <a:rPr sz="950" b="0">
                <a:solidFill>
                  <a:srgbClr val="A9B6CC"/>
                </a:solidFill>
                <a:latin typeface="Calibri"/>
              </a:rPr>
              <a:t>   ·   </a:t>
            </a:r>
            <a:r>
              <a:rPr sz="950" b="1">
                <a:solidFill>
                  <a:srgbClr val="2F55C4"/>
                </a:solidFill>
                <a:latin typeface="Calibri"/>
              </a:rPr>
              <a:t>PLATFORM OVERVIEW</a:t>
            </a:r>
          </a:p>
        </p:txBody>
      </p:sp>
      <p:sp>
        <p:nvSpPr>
          <p:cNvPr id="5" name="T"/>
          <p:cNvSpPr>
            <a:spLocks noGrp="1"/>
          </p:cNvSpPr>
          <p:nvPr/>
        </p:nvSpPr>
        <p:spPr>
          <a:xfrm>
            <a:off x="457200" y="457200"/>
            <a:ext cx="9601200" cy="384048"/>
          </a:xfrm>
          <a:prstGeom prst="rect">
            <a:avLst/>
          </a:prstGeom>
          <a:noFill/>
          <a:ln>
            <a:noFill/>
          </a:ln>
        </p:spPr>
        <p:txBody>
          <a:bodyPr wrap="square" lIns="0" tIns="0" rIns="0" bIns="0" rtlCol="0" anchor="ctr"/>
          <a:lstStyle/>
          <a:p>
            <a:pPr marL="0" indent="0" algn="l">
              <a:buNone/>
            </a:pPr>
            <a:r>
              <a:rPr sz="2200" b="1">
                <a:solidFill>
                  <a:srgbClr val="0F1B35"/>
                </a:solidFill>
                <a:latin typeface="Calibri"/>
              </a:rPr>
              <a:t>What Is DaaS?</a:t>
            </a:r>
          </a:p>
        </p:txBody>
      </p:sp>
      <p:sp>
        <p:nvSpPr>
          <p:cNvPr id="6" name="T"/>
          <p:cNvSpPr>
            <a:spLocks noGrp="1"/>
          </p:cNvSpPr>
          <p:nvPr/>
        </p:nvSpPr>
        <p:spPr>
          <a:xfrm>
            <a:off x="457200" y="6272784"/>
            <a:ext cx="6400800" cy="219456"/>
          </a:xfrm>
          <a:prstGeom prst="rect">
            <a:avLst/>
          </a:prstGeom>
          <a:noFill/>
          <a:ln>
            <a:noFill/>
          </a:ln>
        </p:spPr>
        <p:txBody>
          <a:bodyPr wrap="square" lIns="0" tIns="0" rIns="0" bIns="0" rtlCol="0" anchor="ctr"/>
          <a:lstStyle/>
          <a:p>
            <a:pPr marL="0" indent="0" algn="l">
              <a:buNone/>
            </a:pPr>
            <a:r>
              <a:rPr sz="850" b="0">
                <a:solidFill>
                  <a:srgbClr val="5B6584"/>
                </a:solidFill>
                <a:latin typeface="Calibri"/>
              </a:rPr>
              <a:t>Deployment as a Service</a:t>
            </a:r>
            <a:endParaRPr lang="en-US" sz="780" b="0" i="0" dirty="0">
              <a:solidFill>
                <a:srgbClr val="5B6584"/>
              </a:solidFill>
              <a:latin typeface="Calibri" pitchFamily="34" charset="0"/>
            </a:endParaRPr>
          </a:p>
        </p:txBody>
      </p:sp>
      <p:sp>
        <p:nvSpPr>
          <p:cNvPr id="7" name="T"/>
          <p:cNvSpPr>
            <a:spLocks noGrp="1"/>
          </p:cNvSpPr>
          <p:nvPr/>
        </p:nvSpPr>
        <p:spPr>
          <a:xfrm>
            <a:off x="11186160" y="6272784"/>
            <a:ext cx="457200" cy="219456"/>
          </a:xfrm>
          <a:prstGeom prst="rect">
            <a:avLst/>
          </a:prstGeom>
          <a:noFill/>
          <a:ln>
            <a:noFill/>
          </a:ln>
        </p:spPr>
        <p:txBody>
          <a:bodyPr wrap="square" lIns="0" tIns="0" rIns="0" bIns="0" rtlCol="0" anchor="ctr"/>
          <a:lstStyle/>
          <a:p>
            <a:pPr marL="0" indent="0" algn="r">
              <a:buNone/>
            </a:pPr>
            <a:r>
              <a:rPr sz="850" b="0">
                <a:solidFill>
                  <a:srgbClr val="5B6584"/>
                </a:solidFill>
                <a:latin typeface="Calibri"/>
              </a:rPr>
              <a:t>2</a:t>
            </a:r>
          </a:p>
        </p:txBody>
      </p:sp>
      <p:sp>
        <p:nvSpPr>
          <p:cNvPr id="8" name="S"/>
          <p:cNvSpPr/>
          <p:nvPr/>
        </p:nvSpPr>
        <p:spPr>
          <a:xfrm>
            <a:off x="457200" y="896112"/>
            <a:ext cx="11277600" cy="566928"/>
          </a:xfrm>
          <a:prstGeom prst="roundRect">
            <a:avLst>
              <a:gd name="adj" fmla="val 4000"/>
            </a:avLst>
          </a:prstGeom>
          <a:solidFill>
            <a:srgbClr val="FFFFFF"/>
          </a:solidFill>
          <a:ln w="9525">
            <a:solidFill>
              <a:srgbClr val="DCE5F4"/>
            </a:solidFill>
          </a:ln>
          <a:effectLst>
            <a:outerShdw blurRad="90000" dist="28000" dir="5400000" rotWithShape="0">
              <a:srgbClr val="1B1F3B">
                <a:alpha val="11000"/>
              </a:srgbClr>
            </a:outerShdw>
          </a:effectLst>
        </p:spPr>
        <p:txBody>
          <a:bodyPr/>
          <a:lstStyle/>
          <a:p>
            <a:endParaRPr/>
          </a:p>
        </p:txBody>
      </p:sp>
      <p:sp>
        <p:nvSpPr>
          <p:cNvPr id="9" name="S"/>
          <p:cNvSpPr/>
          <p:nvPr/>
        </p:nvSpPr>
        <p:spPr>
          <a:xfrm>
            <a:off x="457200" y="941832"/>
            <a:ext cx="50292" cy="475488"/>
          </a:xfrm>
          <a:prstGeom prst="rect">
            <a:avLst/>
          </a:prstGeom>
          <a:solidFill>
            <a:srgbClr val="0F1B35"/>
          </a:solidFill>
          <a:ln>
            <a:noFill/>
          </a:ln>
        </p:spPr>
        <p:txBody>
          <a:bodyPr/>
          <a:lstStyle/>
          <a:p>
            <a:endParaRPr/>
          </a:p>
        </p:txBody>
      </p:sp>
      <p:sp>
        <p:nvSpPr>
          <p:cNvPr id="10" name="DT"/>
          <p:cNvSpPr/>
          <p:nvPr/>
        </p:nvSpPr>
        <p:spPr>
          <a:xfrm>
            <a:off x="676656" y="960120"/>
            <a:ext cx="10728960" cy="219456"/>
          </a:xfrm>
          <a:prstGeom prst="rect">
            <a:avLst/>
          </a:prstGeom>
          <a:noFill/>
          <a:ln>
            <a:noFill/>
          </a:ln>
        </p:spPr>
        <p:txBody>
          <a:bodyPr wrap="square" lIns="0" tIns="0" rIns="0" bIns="0" anchor="ctr"/>
          <a:lstStyle/>
          <a:p>
            <a:pPr algn="l">
              <a:buNone/>
            </a:pPr>
            <a:r>
              <a:rPr sz="1150" b="1">
                <a:solidFill>
                  <a:srgbClr val="0F1B35"/>
                </a:solidFill>
                <a:latin typeface="Calibri"/>
              </a:rPr>
              <a:t>ADaaS — Agentic Deployment as a Service, or DaaS for short — </a:t>
            </a:r>
            <a:r>
              <a:rPr sz="1150" b="0">
                <a:solidFill>
                  <a:srgbClr val="0F1B35"/>
                </a:solidFill>
                <a:latin typeface="Calibri"/>
              </a:rPr>
              <a:t>is an AI-driven release automation platform — one governed engine that runs every deployment.</a:t>
            </a:r>
          </a:p>
        </p:txBody>
      </p:sp>
      <p:sp>
        <p:nvSpPr>
          <p:cNvPr id="11" name="DT"/>
          <p:cNvSpPr/>
          <p:nvPr/>
        </p:nvSpPr>
        <p:spPr>
          <a:xfrm>
            <a:off x="676656" y="1197864"/>
            <a:ext cx="10728960" cy="219456"/>
          </a:xfrm>
          <a:prstGeom prst="rect">
            <a:avLst/>
          </a:prstGeom>
          <a:noFill/>
          <a:ln>
            <a:noFill/>
          </a:ln>
        </p:spPr>
        <p:txBody>
          <a:bodyPr wrap="square" lIns="0" tIns="0" rIns="0" bIns="0" anchor="ctr"/>
          <a:lstStyle/>
          <a:p>
            <a:pPr algn="l">
              <a:buNone/>
            </a:pPr>
            <a:r>
              <a:rPr sz="1050" b="0">
                <a:solidFill>
                  <a:srgbClr val="5B6584"/>
                </a:solidFill>
                <a:latin typeface="Calibri"/>
              </a:rPr>
              <a:t>It replaces manual, error-prone releases with an </a:t>
            </a:r>
            <a:r>
              <a:rPr sz="1050" b="1">
                <a:solidFill>
                  <a:srgbClr val="0F1B35"/>
                </a:solidFill>
                <a:latin typeface="Calibri"/>
              </a:rPr>
              <a:t>agent-orchestrated pipeline</a:t>
            </a:r>
            <a:r>
              <a:rPr sz="1050" b="0">
                <a:solidFill>
                  <a:srgbClr val="5B6584"/>
                </a:solidFill>
                <a:latin typeface="Calibri"/>
              </a:rPr>
              <a:t> — the same core every time, configured differently for every client. Nothing about the workflow is hard-coded.</a:t>
            </a:r>
          </a:p>
        </p:txBody>
      </p:sp>
      <p:sp>
        <p:nvSpPr>
          <p:cNvPr id="12" name="T"/>
          <p:cNvSpPr>
            <a:spLocks noGrp="1"/>
          </p:cNvSpPr>
          <p:nvPr/>
        </p:nvSpPr>
        <p:spPr>
          <a:xfrm>
            <a:off x="457200" y="1627632"/>
            <a:ext cx="3017520" cy="201168"/>
          </a:xfrm>
          <a:prstGeom prst="rect">
            <a:avLst/>
          </a:prstGeom>
          <a:noFill/>
          <a:ln>
            <a:noFill/>
          </a:ln>
        </p:spPr>
        <p:txBody>
          <a:bodyPr wrap="square" lIns="0" tIns="0" rIns="0" bIns="0" rtlCol="0" anchor="ctr"/>
          <a:lstStyle/>
          <a:p>
            <a:pPr marL="0" indent="0" algn="l">
              <a:buNone/>
            </a:pPr>
            <a:r>
              <a:rPr sz="900" b="1">
                <a:solidFill>
                  <a:srgbClr val="5B6584"/>
                </a:solidFill>
                <a:latin typeface="Calibri"/>
              </a:rPr>
              <a:t>SET UP ONCE PER CLIENT   →</a:t>
            </a:r>
          </a:p>
        </p:txBody>
      </p:sp>
      <p:sp>
        <p:nvSpPr>
          <p:cNvPr id="13" name="T"/>
          <p:cNvSpPr>
            <a:spLocks noGrp="1"/>
          </p:cNvSpPr>
          <p:nvPr/>
        </p:nvSpPr>
        <p:spPr>
          <a:xfrm>
            <a:off x="3840480" y="1627632"/>
            <a:ext cx="1463040" cy="201168"/>
          </a:xfrm>
          <a:prstGeom prst="rect">
            <a:avLst/>
          </a:prstGeom>
          <a:noFill/>
          <a:ln>
            <a:noFill/>
          </a:ln>
        </p:spPr>
        <p:txBody>
          <a:bodyPr wrap="square" lIns="0" tIns="0" rIns="0" bIns="0" rtlCol="0" anchor="ctr"/>
          <a:lstStyle/>
          <a:p>
            <a:pPr marL="0" indent="0" algn="l">
              <a:buNone/>
            </a:pPr>
            <a:r>
              <a:rPr sz="950" b="1">
                <a:solidFill>
                  <a:srgbClr val="0F1B35"/>
                </a:solidFill>
                <a:latin typeface="Calibri"/>
              </a:rPr>
              <a:t>THE CORE</a:t>
            </a:r>
          </a:p>
        </p:txBody>
      </p:sp>
      <p:sp>
        <p:nvSpPr>
          <p:cNvPr id="14" name="T"/>
          <p:cNvSpPr>
            <a:spLocks noGrp="1"/>
          </p:cNvSpPr>
          <p:nvPr/>
        </p:nvSpPr>
        <p:spPr>
          <a:xfrm>
            <a:off x="6431280" y="1627632"/>
            <a:ext cx="1920240" cy="201168"/>
          </a:xfrm>
          <a:prstGeom prst="rect">
            <a:avLst/>
          </a:prstGeom>
          <a:noFill/>
          <a:ln>
            <a:noFill/>
          </a:ln>
        </p:spPr>
        <p:txBody>
          <a:bodyPr wrap="square" lIns="0" tIns="0" rIns="0" bIns="0" rtlCol="0" anchor="ctr"/>
          <a:lstStyle/>
          <a:p>
            <a:pPr marL="0" indent="0" algn="r">
              <a:buNone/>
            </a:pPr>
            <a:r>
              <a:rPr sz="850" b="1">
                <a:solidFill>
                  <a:srgbClr val="7887A5"/>
                </a:solidFill>
                <a:latin typeface="Calibri"/>
              </a:rPr>
              <a:t>EVERY RELEASE RUNS HERE</a:t>
            </a:r>
          </a:p>
        </p:txBody>
      </p:sp>
      <p:sp>
        <p:nvSpPr>
          <p:cNvPr id="15" name="T"/>
          <p:cNvSpPr>
            <a:spLocks noGrp="1"/>
          </p:cNvSpPr>
          <p:nvPr/>
        </p:nvSpPr>
        <p:spPr>
          <a:xfrm>
            <a:off x="8717280" y="1627632"/>
            <a:ext cx="3017520" cy="201168"/>
          </a:xfrm>
          <a:prstGeom prst="rect">
            <a:avLst/>
          </a:prstGeom>
          <a:noFill/>
          <a:ln>
            <a:noFill/>
          </a:ln>
        </p:spPr>
        <p:txBody>
          <a:bodyPr wrap="square" lIns="0" tIns="0" rIns="0" bIns="0" rtlCol="0" anchor="ctr"/>
          <a:lstStyle/>
          <a:p>
            <a:pPr marL="0" indent="0" algn="r">
              <a:buNone/>
            </a:pPr>
            <a:r>
              <a:rPr sz="900" b="1">
                <a:solidFill>
                  <a:srgbClr val="5B6584"/>
                </a:solidFill>
                <a:latin typeface="Calibri"/>
              </a:rPr>
              <a:t>←   GOVERNS &amp; REPORTS</a:t>
            </a:r>
          </a:p>
        </p:txBody>
      </p:sp>
      <p:sp>
        <p:nvSpPr>
          <p:cNvPr id="16" name="S"/>
          <p:cNvSpPr/>
          <p:nvPr/>
        </p:nvSpPr>
        <p:spPr>
          <a:xfrm>
            <a:off x="3840480" y="1883664"/>
            <a:ext cx="4511040" cy="777240"/>
          </a:xfrm>
          <a:prstGeom prst="rect">
            <a:avLst/>
          </a:prstGeom>
          <a:solidFill>
            <a:srgbClr val="E8EFFC"/>
          </a:solidFill>
          <a:ln>
            <a:noFill/>
          </a:ln>
        </p:spPr>
        <p:txBody>
          <a:bodyPr/>
          <a:lstStyle/>
          <a:p>
            <a:endParaRPr/>
          </a:p>
        </p:txBody>
      </p:sp>
      <p:sp>
        <p:nvSpPr>
          <p:cNvPr id="17" name="S"/>
          <p:cNvSpPr/>
          <p:nvPr/>
        </p:nvSpPr>
        <p:spPr>
          <a:xfrm>
            <a:off x="3995928" y="1993392"/>
            <a:ext cx="228600" cy="228600"/>
          </a:xfrm>
          <a:prstGeom prst="ellipse">
            <a:avLst/>
          </a:prstGeom>
          <a:solidFill>
            <a:srgbClr val="0F1B35"/>
          </a:solidFill>
          <a:ln>
            <a:noFill/>
          </a:ln>
        </p:spPr>
        <p:txBody>
          <a:bodyPr/>
          <a:lstStyle/>
          <a:p>
            <a:endParaRPr/>
          </a:p>
        </p:txBody>
      </p:sp>
      <p:sp>
        <p:nvSpPr>
          <p:cNvPr id="18" name="T"/>
          <p:cNvSpPr>
            <a:spLocks noGrp="1"/>
          </p:cNvSpPr>
          <p:nvPr/>
        </p:nvSpPr>
        <p:spPr>
          <a:xfrm>
            <a:off x="3995928" y="1993392"/>
            <a:ext cx="228600" cy="228600"/>
          </a:xfrm>
          <a:prstGeom prst="rect">
            <a:avLst/>
          </a:prstGeom>
          <a:noFill/>
          <a:ln>
            <a:noFill/>
          </a:ln>
        </p:spPr>
        <p:txBody>
          <a:bodyPr wrap="square" lIns="0" tIns="0" rIns="0" bIns="0" rtlCol="0" anchor="ctr"/>
          <a:lstStyle/>
          <a:p>
            <a:pPr marL="0" indent="0" algn="ctr">
              <a:buNone/>
            </a:pPr>
            <a:r>
              <a:rPr sz="950" b="1">
                <a:solidFill>
                  <a:srgbClr val="FFFFFF"/>
                </a:solidFill>
                <a:latin typeface="Calibri"/>
              </a:rPr>
              <a:t>1</a:t>
            </a:r>
          </a:p>
        </p:txBody>
      </p:sp>
      <p:sp>
        <p:nvSpPr>
          <p:cNvPr id="19" name="T"/>
          <p:cNvSpPr>
            <a:spLocks noGrp="1"/>
          </p:cNvSpPr>
          <p:nvPr/>
        </p:nvSpPr>
        <p:spPr>
          <a:xfrm>
            <a:off x="4315968" y="1975104"/>
            <a:ext cx="3870960" cy="237744"/>
          </a:xfrm>
          <a:prstGeom prst="rect">
            <a:avLst/>
          </a:prstGeom>
          <a:noFill/>
          <a:ln>
            <a:noFill/>
          </a:ln>
        </p:spPr>
        <p:txBody>
          <a:bodyPr wrap="square" lIns="0" tIns="0" rIns="0" bIns="0" rtlCol="0" anchor="ctr"/>
          <a:lstStyle/>
          <a:p>
            <a:pPr marL="0" indent="0" algn="l">
              <a:buNone/>
            </a:pPr>
            <a:r>
              <a:rPr sz="1250" b="1">
                <a:solidFill>
                  <a:srgbClr val="0F1B35"/>
                </a:solidFill>
                <a:latin typeface="Calibri"/>
              </a:rPr>
              <a:t>Application</a:t>
            </a:r>
          </a:p>
        </p:txBody>
      </p:sp>
      <p:sp>
        <p:nvSpPr>
          <p:cNvPr id="20" name="T"/>
          <p:cNvSpPr>
            <a:spLocks noGrp="1"/>
          </p:cNvSpPr>
          <p:nvPr/>
        </p:nvSpPr>
        <p:spPr>
          <a:xfrm>
            <a:off x="4315968" y="2249424"/>
            <a:ext cx="3870960" cy="310896"/>
          </a:xfrm>
          <a:prstGeom prst="rect">
            <a:avLst/>
          </a:prstGeom>
          <a:noFill/>
          <a:ln>
            <a:noFill/>
          </a:ln>
        </p:spPr>
        <p:txBody>
          <a:bodyPr wrap="square" lIns="0" tIns="0" rIns="0" bIns="0" rtlCol="0" anchor="t"/>
          <a:lstStyle/>
          <a:p>
            <a:pPr marL="0" indent="0" algn="l">
              <a:buNone/>
            </a:pPr>
            <a:r>
              <a:rPr sz="980" b="0">
                <a:solidFill>
                  <a:srgbClr val="5B6584"/>
                </a:solidFill>
                <a:latin typeface="Calibri"/>
              </a:rPr>
              <a:t>Where a release enters — change ticket, pipeline trigger, or manual run.</a:t>
            </a:r>
          </a:p>
        </p:txBody>
      </p:sp>
      <p:cxnSp>
        <p:nvCxnSpPr>
          <p:cNvPr id="21" name="C"/>
          <p:cNvCxnSpPr/>
          <p:nvPr/>
        </p:nvCxnSpPr>
        <p:spPr>
          <a:xfrm>
            <a:off x="3950208" y="2660904"/>
            <a:ext cx="4291584" cy="1"/>
          </a:xfrm>
          <a:prstGeom prst="line">
            <a:avLst/>
          </a:prstGeom>
          <a:ln w="3175">
            <a:solidFill>
              <a:srgbClr val="FFFFFF"/>
            </a:solidFill>
            <a:prstDash val="sysDot"/>
          </a:ln>
        </p:spPr>
      </p:cxnSp>
      <p:sp>
        <p:nvSpPr>
          <p:cNvPr id="22" name="S"/>
          <p:cNvSpPr/>
          <p:nvPr/>
        </p:nvSpPr>
        <p:spPr>
          <a:xfrm>
            <a:off x="8058912" y="2578608"/>
            <a:ext cx="118872" cy="164592"/>
          </a:xfrm>
          <a:prstGeom prst="downArrow">
            <a:avLst/>
          </a:prstGeom>
          <a:solidFill>
            <a:srgbClr val="7E95C4"/>
          </a:solidFill>
          <a:ln>
            <a:noFill/>
          </a:ln>
        </p:spPr>
        <p:txBody>
          <a:bodyPr/>
          <a:lstStyle/>
          <a:p>
            <a:endParaRPr/>
          </a:p>
        </p:txBody>
      </p:sp>
      <p:sp>
        <p:nvSpPr>
          <p:cNvPr id="23" name="S"/>
          <p:cNvSpPr/>
          <p:nvPr/>
        </p:nvSpPr>
        <p:spPr>
          <a:xfrm>
            <a:off x="3840480" y="2660904"/>
            <a:ext cx="4511040" cy="777240"/>
          </a:xfrm>
          <a:prstGeom prst="rect">
            <a:avLst/>
          </a:prstGeom>
          <a:solidFill>
            <a:srgbClr val="B9CDEF"/>
          </a:solidFill>
          <a:ln>
            <a:noFill/>
          </a:ln>
        </p:spPr>
        <p:txBody>
          <a:bodyPr/>
          <a:lstStyle/>
          <a:p>
            <a:endParaRPr/>
          </a:p>
        </p:txBody>
      </p:sp>
      <p:sp>
        <p:nvSpPr>
          <p:cNvPr id="24" name="S"/>
          <p:cNvSpPr/>
          <p:nvPr/>
        </p:nvSpPr>
        <p:spPr>
          <a:xfrm>
            <a:off x="3995928" y="2770632"/>
            <a:ext cx="228600" cy="228600"/>
          </a:xfrm>
          <a:prstGeom prst="ellipse">
            <a:avLst/>
          </a:prstGeom>
          <a:solidFill>
            <a:srgbClr val="0F1B35"/>
          </a:solidFill>
          <a:ln>
            <a:noFill/>
          </a:ln>
        </p:spPr>
        <p:txBody>
          <a:bodyPr/>
          <a:lstStyle/>
          <a:p>
            <a:endParaRPr/>
          </a:p>
        </p:txBody>
      </p:sp>
      <p:sp>
        <p:nvSpPr>
          <p:cNvPr id="25" name="T"/>
          <p:cNvSpPr>
            <a:spLocks noGrp="1"/>
          </p:cNvSpPr>
          <p:nvPr/>
        </p:nvSpPr>
        <p:spPr>
          <a:xfrm>
            <a:off x="3995928" y="2770632"/>
            <a:ext cx="228600" cy="228600"/>
          </a:xfrm>
          <a:prstGeom prst="rect">
            <a:avLst/>
          </a:prstGeom>
          <a:noFill/>
          <a:ln>
            <a:noFill/>
          </a:ln>
        </p:spPr>
        <p:txBody>
          <a:bodyPr wrap="square" lIns="0" tIns="0" rIns="0" bIns="0" rtlCol="0" anchor="ctr"/>
          <a:lstStyle/>
          <a:p>
            <a:pPr marL="0" indent="0" algn="ctr">
              <a:buNone/>
            </a:pPr>
            <a:r>
              <a:rPr sz="950" b="1">
                <a:solidFill>
                  <a:srgbClr val="FFFFFF"/>
                </a:solidFill>
                <a:latin typeface="Calibri"/>
              </a:rPr>
              <a:t>2</a:t>
            </a:r>
          </a:p>
        </p:txBody>
      </p:sp>
      <p:sp>
        <p:nvSpPr>
          <p:cNvPr id="26" name="T"/>
          <p:cNvSpPr>
            <a:spLocks noGrp="1"/>
          </p:cNvSpPr>
          <p:nvPr/>
        </p:nvSpPr>
        <p:spPr>
          <a:xfrm>
            <a:off x="4315968" y="2752344"/>
            <a:ext cx="3870960" cy="237744"/>
          </a:xfrm>
          <a:prstGeom prst="rect">
            <a:avLst/>
          </a:prstGeom>
          <a:noFill/>
          <a:ln>
            <a:noFill/>
          </a:ln>
        </p:spPr>
        <p:txBody>
          <a:bodyPr wrap="square" lIns="0" tIns="0" rIns="0" bIns="0" rtlCol="0" anchor="ctr"/>
          <a:lstStyle/>
          <a:p>
            <a:pPr marL="0" indent="0" algn="l">
              <a:buNone/>
            </a:pPr>
            <a:r>
              <a:rPr sz="1250" b="1">
                <a:solidFill>
                  <a:srgbClr val="0F1B35"/>
                </a:solidFill>
                <a:latin typeface="Calibri"/>
              </a:rPr>
              <a:t>Workflow</a:t>
            </a:r>
          </a:p>
        </p:txBody>
      </p:sp>
      <p:sp>
        <p:nvSpPr>
          <p:cNvPr id="27" name="T"/>
          <p:cNvSpPr>
            <a:spLocks noGrp="1"/>
          </p:cNvSpPr>
          <p:nvPr/>
        </p:nvSpPr>
        <p:spPr>
          <a:xfrm>
            <a:off x="4315968" y="3026664"/>
            <a:ext cx="3870960" cy="310896"/>
          </a:xfrm>
          <a:prstGeom prst="rect">
            <a:avLst/>
          </a:prstGeom>
          <a:noFill/>
          <a:ln>
            <a:noFill/>
          </a:ln>
        </p:spPr>
        <p:txBody>
          <a:bodyPr wrap="square" lIns="0" tIns="0" rIns="0" bIns="0" rtlCol="0" anchor="t"/>
          <a:lstStyle/>
          <a:p>
            <a:pPr marL="0" indent="0" algn="l">
              <a:buNone/>
            </a:pPr>
            <a:r>
              <a:rPr sz="980" b="0">
                <a:solidFill>
                  <a:srgbClr val="5B6584"/>
                </a:solidFill>
                <a:latin typeface="Calibri"/>
              </a:rPr>
              <a:t>Resolves which phases, approvals and templates apply to this release.</a:t>
            </a:r>
          </a:p>
        </p:txBody>
      </p:sp>
      <p:cxnSp>
        <p:nvCxnSpPr>
          <p:cNvPr id="28" name="C"/>
          <p:cNvCxnSpPr/>
          <p:nvPr/>
        </p:nvCxnSpPr>
        <p:spPr>
          <a:xfrm>
            <a:off x="3950208" y="3438144"/>
            <a:ext cx="4291584" cy="1"/>
          </a:xfrm>
          <a:prstGeom prst="line">
            <a:avLst/>
          </a:prstGeom>
          <a:ln w="3175">
            <a:solidFill>
              <a:srgbClr val="FFFFFF"/>
            </a:solidFill>
            <a:prstDash val="sysDot"/>
          </a:ln>
        </p:spPr>
      </p:cxnSp>
      <p:sp>
        <p:nvSpPr>
          <p:cNvPr id="29" name="S"/>
          <p:cNvSpPr/>
          <p:nvPr/>
        </p:nvSpPr>
        <p:spPr>
          <a:xfrm>
            <a:off x="8058912" y="3355848"/>
            <a:ext cx="118872" cy="164592"/>
          </a:xfrm>
          <a:prstGeom prst="downArrow">
            <a:avLst/>
          </a:prstGeom>
          <a:solidFill>
            <a:srgbClr val="FFFFFF"/>
          </a:solidFill>
          <a:ln>
            <a:noFill/>
          </a:ln>
        </p:spPr>
        <p:txBody>
          <a:bodyPr/>
          <a:lstStyle/>
          <a:p>
            <a:endParaRPr/>
          </a:p>
        </p:txBody>
      </p:sp>
      <p:sp>
        <p:nvSpPr>
          <p:cNvPr id="30" name="S"/>
          <p:cNvSpPr/>
          <p:nvPr/>
        </p:nvSpPr>
        <p:spPr>
          <a:xfrm>
            <a:off x="3840480" y="3438144"/>
            <a:ext cx="4511040" cy="1051560"/>
          </a:xfrm>
          <a:prstGeom prst="rect">
            <a:avLst/>
          </a:prstGeom>
          <a:solidFill>
            <a:srgbClr val="5C7AB6"/>
          </a:solidFill>
          <a:ln>
            <a:noFill/>
          </a:ln>
        </p:spPr>
        <p:txBody>
          <a:bodyPr/>
          <a:lstStyle/>
          <a:p>
            <a:endParaRPr/>
          </a:p>
        </p:txBody>
      </p:sp>
      <p:sp>
        <p:nvSpPr>
          <p:cNvPr id="31" name="S"/>
          <p:cNvSpPr/>
          <p:nvPr/>
        </p:nvSpPr>
        <p:spPr>
          <a:xfrm>
            <a:off x="3995928" y="3547872"/>
            <a:ext cx="228600" cy="228600"/>
          </a:xfrm>
          <a:prstGeom prst="ellipse">
            <a:avLst/>
          </a:prstGeom>
          <a:solidFill>
            <a:srgbClr val="FFFFFF"/>
          </a:solidFill>
          <a:ln>
            <a:noFill/>
          </a:ln>
        </p:spPr>
        <p:txBody>
          <a:bodyPr/>
          <a:lstStyle/>
          <a:p>
            <a:endParaRPr/>
          </a:p>
        </p:txBody>
      </p:sp>
      <p:sp>
        <p:nvSpPr>
          <p:cNvPr id="32" name="T"/>
          <p:cNvSpPr>
            <a:spLocks noGrp="1"/>
          </p:cNvSpPr>
          <p:nvPr/>
        </p:nvSpPr>
        <p:spPr>
          <a:xfrm>
            <a:off x="3995928" y="3547872"/>
            <a:ext cx="228600" cy="228600"/>
          </a:xfrm>
          <a:prstGeom prst="rect">
            <a:avLst/>
          </a:prstGeom>
          <a:noFill/>
          <a:ln>
            <a:noFill/>
          </a:ln>
        </p:spPr>
        <p:txBody>
          <a:bodyPr wrap="square" lIns="0" tIns="0" rIns="0" bIns="0" rtlCol="0" anchor="ctr"/>
          <a:lstStyle/>
          <a:p>
            <a:pPr marL="0" indent="0" algn="ctr">
              <a:buNone/>
            </a:pPr>
            <a:r>
              <a:rPr sz="950" b="1">
                <a:solidFill>
                  <a:srgbClr val="0F1B35"/>
                </a:solidFill>
                <a:latin typeface="Calibri"/>
              </a:rPr>
              <a:t>3</a:t>
            </a:r>
          </a:p>
        </p:txBody>
      </p:sp>
      <p:sp>
        <p:nvSpPr>
          <p:cNvPr id="33" name="T"/>
          <p:cNvSpPr>
            <a:spLocks noGrp="1"/>
          </p:cNvSpPr>
          <p:nvPr/>
        </p:nvSpPr>
        <p:spPr>
          <a:xfrm>
            <a:off x="4315968" y="3529584"/>
            <a:ext cx="3870960" cy="237744"/>
          </a:xfrm>
          <a:prstGeom prst="rect">
            <a:avLst/>
          </a:prstGeom>
          <a:noFill/>
          <a:ln>
            <a:noFill/>
          </a:ln>
        </p:spPr>
        <p:txBody>
          <a:bodyPr wrap="square" lIns="0" tIns="0" rIns="0" bIns="0" rtlCol="0" anchor="ctr"/>
          <a:lstStyle/>
          <a:p>
            <a:pPr marL="0" indent="0" algn="l">
              <a:buNone/>
            </a:pPr>
            <a:r>
              <a:rPr sz="1250" b="1">
                <a:solidFill>
                  <a:srgbClr val="FFFFFF"/>
                </a:solidFill>
                <a:latin typeface="Calibri"/>
              </a:rPr>
              <a:t>Agents &amp; Orchestration</a:t>
            </a:r>
          </a:p>
        </p:txBody>
      </p:sp>
      <p:sp>
        <p:nvSpPr>
          <p:cNvPr id="34" name="T"/>
          <p:cNvSpPr>
            <a:spLocks noGrp="1"/>
          </p:cNvSpPr>
          <p:nvPr/>
        </p:nvSpPr>
        <p:spPr>
          <a:xfrm>
            <a:off x="4315968" y="3785616"/>
            <a:ext cx="1874519" cy="457200"/>
          </a:xfrm>
          <a:prstGeom prst="rect">
            <a:avLst/>
          </a:prstGeom>
          <a:noFill/>
          <a:ln>
            <a:noFill/>
          </a:ln>
        </p:spPr>
        <p:txBody>
          <a:bodyPr wrap="square" lIns="0" tIns="0" rIns="0" bIns="0" rtlCol="0" anchor="t"/>
          <a:lstStyle/>
          <a:p>
            <a:pPr marL="0" indent="0" algn="l">
              <a:buNone/>
            </a:pPr>
            <a:r>
              <a:rPr sz="919" b="0">
                <a:solidFill>
                  <a:srgbClr val="D9E5F8"/>
                </a:solidFill>
                <a:latin typeface="Calibri"/>
              </a:rPr>
              <a:t>Specialized agents run in sequence on every release.</a:t>
            </a:r>
          </a:p>
        </p:txBody>
      </p:sp>
      <p:sp>
        <p:nvSpPr>
          <p:cNvPr id="35" name="S"/>
          <p:cNvSpPr/>
          <p:nvPr/>
        </p:nvSpPr>
        <p:spPr>
          <a:xfrm>
            <a:off x="6309360" y="3593592"/>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36" name="T"/>
          <p:cNvSpPr>
            <a:spLocks noGrp="1"/>
          </p:cNvSpPr>
          <p:nvPr/>
        </p:nvSpPr>
        <p:spPr>
          <a:xfrm>
            <a:off x="6309360" y="3593592"/>
            <a:ext cx="897636" cy="214884"/>
          </a:xfrm>
          <a:prstGeom prst="rect">
            <a:avLst/>
          </a:prstGeom>
          <a:noFill/>
          <a:ln>
            <a:noFill/>
          </a:ln>
        </p:spPr>
        <p:txBody>
          <a:bodyPr wrap="square" lIns="0" tIns="0" rIns="0" bIns="0" rtlCol="0" anchor="ctr"/>
          <a:lstStyle/>
          <a:p>
            <a:pPr marL="0" indent="0" algn="ctr">
              <a:buNone/>
            </a:pPr>
            <a:r>
              <a:rPr sz="850" b="1">
                <a:solidFill>
                  <a:srgbClr val="FFFFFF"/>
                </a:solidFill>
                <a:latin typeface="Calibri"/>
              </a:rPr>
              <a:t>Scan</a:t>
            </a:r>
          </a:p>
        </p:txBody>
      </p:sp>
      <p:sp>
        <p:nvSpPr>
          <p:cNvPr id="37" name="S"/>
          <p:cNvSpPr/>
          <p:nvPr/>
        </p:nvSpPr>
        <p:spPr>
          <a:xfrm>
            <a:off x="7271004" y="3593592"/>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38" name="T"/>
          <p:cNvSpPr>
            <a:spLocks noGrp="1"/>
          </p:cNvSpPr>
          <p:nvPr/>
        </p:nvSpPr>
        <p:spPr>
          <a:xfrm>
            <a:off x="7271004" y="3593592"/>
            <a:ext cx="897636" cy="214884"/>
          </a:xfrm>
          <a:prstGeom prst="rect">
            <a:avLst/>
          </a:prstGeom>
          <a:noFill/>
          <a:ln>
            <a:noFill/>
          </a:ln>
        </p:spPr>
        <p:txBody>
          <a:bodyPr wrap="square" lIns="0" tIns="0" rIns="0" bIns="0" rtlCol="0" anchor="ctr"/>
          <a:lstStyle/>
          <a:p>
            <a:pPr marL="0" indent="0" algn="ctr">
              <a:buNone/>
            </a:pPr>
            <a:r>
              <a:rPr sz="850" b="1">
                <a:solidFill>
                  <a:srgbClr val="FFFFFF"/>
                </a:solidFill>
                <a:latin typeface="Calibri"/>
              </a:rPr>
              <a:t>Compare</a:t>
            </a:r>
          </a:p>
        </p:txBody>
      </p:sp>
      <p:sp>
        <p:nvSpPr>
          <p:cNvPr id="39" name="S"/>
          <p:cNvSpPr/>
          <p:nvPr/>
        </p:nvSpPr>
        <p:spPr>
          <a:xfrm>
            <a:off x="6309360" y="3858768"/>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0" name="T"/>
          <p:cNvSpPr>
            <a:spLocks noGrp="1"/>
          </p:cNvSpPr>
          <p:nvPr/>
        </p:nvSpPr>
        <p:spPr>
          <a:xfrm>
            <a:off x="6309360" y="3858768"/>
            <a:ext cx="897636" cy="214884"/>
          </a:xfrm>
          <a:prstGeom prst="rect">
            <a:avLst/>
          </a:prstGeom>
          <a:noFill/>
          <a:ln>
            <a:noFill/>
          </a:ln>
        </p:spPr>
        <p:txBody>
          <a:bodyPr wrap="square" lIns="0" tIns="0" rIns="0" bIns="0" rtlCol="0" anchor="ctr"/>
          <a:lstStyle/>
          <a:p>
            <a:pPr marL="0" indent="0" algn="ctr">
              <a:buNone/>
            </a:pPr>
            <a:r>
              <a:rPr sz="850" b="1">
                <a:solidFill>
                  <a:srgbClr val="FFFFFF"/>
                </a:solidFill>
                <a:latin typeface="Calibri"/>
              </a:rPr>
              <a:t>Dependency</a:t>
            </a:r>
          </a:p>
        </p:txBody>
      </p:sp>
      <p:sp>
        <p:nvSpPr>
          <p:cNvPr id="41" name="S"/>
          <p:cNvSpPr/>
          <p:nvPr/>
        </p:nvSpPr>
        <p:spPr>
          <a:xfrm>
            <a:off x="7271004" y="3858768"/>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2" name="T"/>
          <p:cNvSpPr>
            <a:spLocks noGrp="1"/>
          </p:cNvSpPr>
          <p:nvPr/>
        </p:nvSpPr>
        <p:spPr>
          <a:xfrm>
            <a:off x="7271004" y="3858768"/>
            <a:ext cx="897636" cy="214884"/>
          </a:xfrm>
          <a:prstGeom prst="rect">
            <a:avLst/>
          </a:prstGeom>
          <a:noFill/>
          <a:ln>
            <a:noFill/>
          </a:ln>
        </p:spPr>
        <p:txBody>
          <a:bodyPr wrap="square" lIns="0" tIns="0" rIns="0" bIns="0" rtlCol="0" anchor="ctr"/>
          <a:lstStyle/>
          <a:p>
            <a:pPr marL="0" indent="0" algn="ctr">
              <a:buNone/>
            </a:pPr>
            <a:r>
              <a:rPr sz="850" b="1">
                <a:solidFill>
                  <a:srgbClr val="FFFFFF"/>
                </a:solidFill>
                <a:latin typeface="Calibri"/>
              </a:rPr>
              <a:t>Readiness</a:t>
            </a:r>
          </a:p>
        </p:txBody>
      </p:sp>
      <p:sp>
        <p:nvSpPr>
          <p:cNvPr id="43" name="S"/>
          <p:cNvSpPr/>
          <p:nvPr/>
        </p:nvSpPr>
        <p:spPr>
          <a:xfrm>
            <a:off x="6309360" y="4123944"/>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4" name="T"/>
          <p:cNvSpPr>
            <a:spLocks noGrp="1"/>
          </p:cNvSpPr>
          <p:nvPr/>
        </p:nvSpPr>
        <p:spPr>
          <a:xfrm>
            <a:off x="6309360" y="4123944"/>
            <a:ext cx="897636" cy="214884"/>
          </a:xfrm>
          <a:prstGeom prst="rect">
            <a:avLst/>
          </a:prstGeom>
          <a:noFill/>
          <a:ln>
            <a:noFill/>
          </a:ln>
        </p:spPr>
        <p:txBody>
          <a:bodyPr wrap="square" lIns="0" tIns="0" rIns="0" bIns="0" rtlCol="0" anchor="ctr"/>
          <a:lstStyle/>
          <a:p>
            <a:pPr marL="0" indent="0" algn="ctr">
              <a:buNone/>
            </a:pPr>
            <a:r>
              <a:rPr sz="850" b="1">
                <a:solidFill>
                  <a:srgbClr val="FFFFFF"/>
                </a:solidFill>
                <a:latin typeface="Calibri"/>
              </a:rPr>
              <a:t>Risk</a:t>
            </a:r>
          </a:p>
        </p:txBody>
      </p:sp>
      <p:sp>
        <p:nvSpPr>
          <p:cNvPr id="45" name="S"/>
          <p:cNvSpPr/>
          <p:nvPr/>
        </p:nvSpPr>
        <p:spPr>
          <a:xfrm>
            <a:off x="7271004" y="4123944"/>
            <a:ext cx="897636" cy="214884"/>
          </a:xfrm>
          <a:prstGeom prst="roundRect">
            <a:avLst>
              <a:gd name="adj" fmla="val 50000"/>
            </a:avLst>
          </a:prstGeom>
          <a:solidFill>
            <a:srgbClr val="44608F"/>
          </a:solidFill>
          <a:ln w="6350">
            <a:solidFill>
              <a:srgbClr val="7E9BCE"/>
            </a:solidFill>
          </a:ln>
        </p:spPr>
        <p:txBody>
          <a:bodyPr/>
          <a:lstStyle/>
          <a:p>
            <a:endParaRPr/>
          </a:p>
        </p:txBody>
      </p:sp>
      <p:sp>
        <p:nvSpPr>
          <p:cNvPr id="46" name="T"/>
          <p:cNvSpPr>
            <a:spLocks noGrp="1"/>
          </p:cNvSpPr>
          <p:nvPr/>
        </p:nvSpPr>
        <p:spPr>
          <a:xfrm>
            <a:off x="7271004" y="4123944"/>
            <a:ext cx="897636" cy="214884"/>
          </a:xfrm>
          <a:prstGeom prst="rect">
            <a:avLst/>
          </a:prstGeom>
          <a:noFill/>
          <a:ln>
            <a:noFill/>
          </a:ln>
        </p:spPr>
        <p:txBody>
          <a:bodyPr wrap="square" lIns="0" tIns="0" rIns="0" bIns="0" rtlCol="0" anchor="ctr"/>
          <a:lstStyle/>
          <a:p>
            <a:pPr marL="0" indent="0" algn="ctr">
              <a:buNone/>
            </a:pPr>
            <a:r>
              <a:rPr sz="850" b="1">
                <a:solidFill>
                  <a:srgbClr val="FFFFFF"/>
                </a:solidFill>
                <a:latin typeface="Calibri"/>
              </a:rPr>
              <a:t>Validate</a:t>
            </a:r>
          </a:p>
        </p:txBody>
      </p:sp>
      <p:cxnSp>
        <p:nvCxnSpPr>
          <p:cNvPr id="47" name="C"/>
          <p:cNvCxnSpPr/>
          <p:nvPr/>
        </p:nvCxnSpPr>
        <p:spPr>
          <a:xfrm>
            <a:off x="3950208" y="4489704"/>
            <a:ext cx="4291584" cy="1"/>
          </a:xfrm>
          <a:prstGeom prst="line">
            <a:avLst/>
          </a:prstGeom>
          <a:ln w="3175">
            <a:solidFill>
              <a:srgbClr val="FFFFFF"/>
            </a:solidFill>
            <a:prstDash val="sysDot"/>
          </a:ln>
        </p:spPr>
      </p:cxnSp>
      <p:sp>
        <p:nvSpPr>
          <p:cNvPr id="48" name="S"/>
          <p:cNvSpPr/>
          <p:nvPr/>
        </p:nvSpPr>
        <p:spPr>
          <a:xfrm>
            <a:off x="8058912" y="4407408"/>
            <a:ext cx="118872" cy="164592"/>
          </a:xfrm>
          <a:prstGeom prst="downArrow">
            <a:avLst/>
          </a:prstGeom>
          <a:solidFill>
            <a:srgbClr val="FFFFFF"/>
          </a:solidFill>
          <a:ln>
            <a:noFill/>
          </a:ln>
        </p:spPr>
        <p:txBody>
          <a:bodyPr/>
          <a:lstStyle/>
          <a:p>
            <a:endParaRPr/>
          </a:p>
        </p:txBody>
      </p:sp>
      <p:sp>
        <p:nvSpPr>
          <p:cNvPr id="49" name="S"/>
          <p:cNvSpPr/>
          <p:nvPr/>
        </p:nvSpPr>
        <p:spPr>
          <a:xfrm>
            <a:off x="3840480" y="4489704"/>
            <a:ext cx="4511040" cy="777240"/>
          </a:xfrm>
          <a:prstGeom prst="rect">
            <a:avLst/>
          </a:prstGeom>
          <a:solidFill>
            <a:srgbClr val="0F1B35"/>
          </a:solidFill>
          <a:ln>
            <a:noFill/>
          </a:ln>
        </p:spPr>
        <p:txBody>
          <a:bodyPr/>
          <a:lstStyle/>
          <a:p>
            <a:endParaRPr/>
          </a:p>
        </p:txBody>
      </p:sp>
      <p:sp>
        <p:nvSpPr>
          <p:cNvPr id="50" name="S"/>
          <p:cNvSpPr/>
          <p:nvPr/>
        </p:nvSpPr>
        <p:spPr>
          <a:xfrm>
            <a:off x="3995928" y="4599432"/>
            <a:ext cx="228600" cy="228600"/>
          </a:xfrm>
          <a:prstGeom prst="ellipse">
            <a:avLst/>
          </a:prstGeom>
          <a:solidFill>
            <a:srgbClr val="FFFFFF"/>
          </a:solidFill>
          <a:ln>
            <a:noFill/>
          </a:ln>
        </p:spPr>
        <p:txBody>
          <a:bodyPr/>
          <a:lstStyle/>
          <a:p>
            <a:endParaRPr/>
          </a:p>
        </p:txBody>
      </p:sp>
      <p:sp>
        <p:nvSpPr>
          <p:cNvPr id="51" name="T"/>
          <p:cNvSpPr>
            <a:spLocks noGrp="1"/>
          </p:cNvSpPr>
          <p:nvPr/>
        </p:nvSpPr>
        <p:spPr>
          <a:xfrm>
            <a:off x="3995928" y="4599432"/>
            <a:ext cx="228600" cy="228600"/>
          </a:xfrm>
          <a:prstGeom prst="rect">
            <a:avLst/>
          </a:prstGeom>
          <a:noFill/>
          <a:ln>
            <a:noFill/>
          </a:ln>
        </p:spPr>
        <p:txBody>
          <a:bodyPr wrap="square" lIns="0" tIns="0" rIns="0" bIns="0" rtlCol="0" anchor="ctr"/>
          <a:lstStyle/>
          <a:p>
            <a:pPr marL="0" indent="0" algn="ctr">
              <a:buNone/>
            </a:pPr>
            <a:r>
              <a:rPr sz="950" b="1">
                <a:solidFill>
                  <a:srgbClr val="0F1B35"/>
                </a:solidFill>
                <a:latin typeface="Calibri"/>
              </a:rPr>
              <a:t>4</a:t>
            </a:r>
          </a:p>
        </p:txBody>
      </p:sp>
      <p:sp>
        <p:nvSpPr>
          <p:cNvPr id="52" name="T"/>
          <p:cNvSpPr>
            <a:spLocks noGrp="1"/>
          </p:cNvSpPr>
          <p:nvPr/>
        </p:nvSpPr>
        <p:spPr>
          <a:xfrm>
            <a:off x="4315968" y="4581144"/>
            <a:ext cx="3870960" cy="237744"/>
          </a:xfrm>
          <a:prstGeom prst="rect">
            <a:avLst/>
          </a:prstGeom>
          <a:noFill/>
          <a:ln>
            <a:noFill/>
          </a:ln>
        </p:spPr>
        <p:txBody>
          <a:bodyPr wrap="square" lIns="0" tIns="0" rIns="0" bIns="0" rtlCol="0" anchor="ctr"/>
          <a:lstStyle/>
          <a:p>
            <a:pPr marL="0" indent="0" algn="l">
              <a:buNone/>
            </a:pPr>
            <a:r>
              <a:rPr sz="1250" b="1">
                <a:solidFill>
                  <a:srgbClr val="FFFFFF"/>
                </a:solidFill>
                <a:latin typeface="Calibri"/>
              </a:rPr>
              <a:t>Infrastructure &amp; Cloud</a:t>
            </a:r>
          </a:p>
        </p:txBody>
      </p:sp>
      <p:sp>
        <p:nvSpPr>
          <p:cNvPr id="53" name="T"/>
          <p:cNvSpPr>
            <a:spLocks noGrp="1"/>
          </p:cNvSpPr>
          <p:nvPr/>
        </p:nvSpPr>
        <p:spPr>
          <a:xfrm>
            <a:off x="4315968" y="4855464"/>
            <a:ext cx="3870960" cy="310896"/>
          </a:xfrm>
          <a:prstGeom prst="rect">
            <a:avLst/>
          </a:prstGeom>
          <a:noFill/>
          <a:ln>
            <a:noFill/>
          </a:ln>
        </p:spPr>
        <p:txBody>
          <a:bodyPr wrap="square" lIns="0" tIns="0" rIns="0" bIns="0" rtlCol="0" anchor="t"/>
          <a:lstStyle/>
          <a:p>
            <a:pPr marL="0" indent="0" algn="l">
              <a:buNone/>
            </a:pPr>
            <a:r>
              <a:rPr sz="980" b="0">
                <a:solidFill>
                  <a:srgbClr val="D9E5F8"/>
                </a:solidFill>
                <a:latin typeface="Calibri"/>
              </a:rPr>
              <a:t>The live cloud resources and pipelines the change is applied to — the base.</a:t>
            </a:r>
          </a:p>
        </p:txBody>
      </p:sp>
      <p:sp>
        <p:nvSpPr>
          <p:cNvPr id="54" name="S"/>
          <p:cNvSpPr/>
          <p:nvPr/>
        </p:nvSpPr>
        <p:spPr>
          <a:xfrm>
            <a:off x="3840480" y="1883664"/>
            <a:ext cx="4511040" cy="3383280"/>
          </a:xfrm>
          <a:prstGeom prst="roundRect">
            <a:avLst>
              <a:gd name="adj" fmla="val 3000"/>
            </a:avLst>
          </a:prstGeom>
          <a:noFill/>
          <a:ln w="19050">
            <a:solidFill>
              <a:srgbClr val="0F1B35"/>
            </a:solidFill>
          </a:ln>
        </p:spPr>
        <p:txBody>
          <a:bodyPr/>
          <a:lstStyle/>
          <a:p>
            <a:endParaRPr/>
          </a:p>
        </p:txBody>
      </p:sp>
      <p:sp>
        <p:nvSpPr>
          <p:cNvPr id="55" name="S"/>
          <p:cNvSpPr/>
          <p:nvPr/>
        </p:nvSpPr>
        <p:spPr>
          <a:xfrm>
            <a:off x="457200" y="1883664"/>
            <a:ext cx="3017520" cy="1609344"/>
          </a:xfrm>
          <a:prstGeom prst="roundRect">
            <a:avLst>
              <a:gd name="adj" fmla="val 6500"/>
            </a:avLst>
          </a:prstGeom>
          <a:solidFill>
            <a:srgbClr val="FBF0DE"/>
          </a:solidFill>
          <a:ln w="13000">
            <a:solidFill>
              <a:srgbClr val="B8790F"/>
            </a:solidFill>
          </a:ln>
          <a:effectLst>
            <a:outerShdw blurRad="90000" dist="28000" dir="5400000" rotWithShape="0">
              <a:srgbClr val="1B1F3B">
                <a:alpha val="11000"/>
              </a:srgbClr>
            </a:outerShdw>
          </a:effectLst>
        </p:spPr>
        <p:txBody>
          <a:bodyPr/>
          <a:lstStyle/>
          <a:p>
            <a:endParaRPr/>
          </a:p>
        </p:txBody>
      </p:sp>
      <p:sp>
        <p:nvSpPr>
          <p:cNvPr id="56" name="S"/>
          <p:cNvSpPr/>
          <p:nvPr/>
        </p:nvSpPr>
        <p:spPr>
          <a:xfrm>
            <a:off x="612648" y="2020824"/>
            <a:ext cx="283464" cy="283464"/>
          </a:xfrm>
          <a:prstGeom prst="ellipse">
            <a:avLst/>
          </a:prstGeom>
          <a:solidFill>
            <a:srgbClr val="B8790F"/>
          </a:solidFill>
          <a:ln>
            <a:noFill/>
          </a:ln>
        </p:spPr>
        <p:txBody>
          <a:bodyPr/>
          <a:lstStyle/>
          <a:p>
            <a:endParaRPr/>
          </a:p>
        </p:txBody>
      </p:sp>
      <p:sp>
        <p:nvSpPr>
          <p:cNvPr id="57" name="T"/>
          <p:cNvSpPr>
            <a:spLocks noGrp="1"/>
          </p:cNvSpPr>
          <p:nvPr/>
        </p:nvSpPr>
        <p:spPr>
          <a:xfrm>
            <a:off x="612648" y="2020824"/>
            <a:ext cx="283464" cy="283464"/>
          </a:xfrm>
          <a:prstGeom prst="rect">
            <a:avLst/>
          </a:prstGeom>
          <a:noFill/>
          <a:ln>
            <a:noFill/>
          </a:ln>
        </p:spPr>
        <p:txBody>
          <a:bodyPr wrap="square" lIns="0" tIns="0" rIns="0" bIns="0" rtlCol="0" anchor="ctr"/>
          <a:lstStyle/>
          <a:p>
            <a:pPr marL="0" indent="0" algn="ctr">
              <a:buNone/>
            </a:pPr>
            <a:r>
              <a:rPr sz="1100" b="1">
                <a:solidFill>
                  <a:srgbClr val="FFFFFF"/>
                </a:solidFill>
                <a:latin typeface="Calibri"/>
              </a:rPr>
              <a:t>1</a:t>
            </a:r>
          </a:p>
        </p:txBody>
      </p:sp>
      <p:sp>
        <p:nvSpPr>
          <p:cNvPr id="58" name="T"/>
          <p:cNvSpPr>
            <a:spLocks noGrp="1"/>
          </p:cNvSpPr>
          <p:nvPr/>
        </p:nvSpPr>
        <p:spPr>
          <a:xfrm>
            <a:off x="987552" y="2011680"/>
            <a:ext cx="2331720" cy="292608"/>
          </a:xfrm>
          <a:prstGeom prst="rect">
            <a:avLst/>
          </a:prstGeom>
          <a:noFill/>
          <a:ln>
            <a:noFill/>
          </a:ln>
        </p:spPr>
        <p:txBody>
          <a:bodyPr wrap="square" lIns="0" tIns="0" rIns="0" bIns="0" rtlCol="0" anchor="ctr"/>
          <a:lstStyle/>
          <a:p>
            <a:pPr marL="0" indent="0" algn="l">
              <a:buNone/>
            </a:pPr>
            <a:r>
              <a:rPr sz="1400" b="1">
                <a:solidFill>
                  <a:srgbClr val="B67700"/>
                </a:solidFill>
                <a:latin typeface="Calibri"/>
              </a:rPr>
              <a:t>Analyse</a:t>
            </a:r>
          </a:p>
        </p:txBody>
      </p:sp>
      <p:cxnSp>
        <p:nvCxnSpPr>
          <p:cNvPr id="59" name="C"/>
          <p:cNvCxnSpPr/>
          <p:nvPr/>
        </p:nvCxnSpPr>
        <p:spPr>
          <a:xfrm>
            <a:off x="612648" y="2395728"/>
            <a:ext cx="2706624" cy="1"/>
          </a:xfrm>
          <a:prstGeom prst="line">
            <a:avLst/>
          </a:prstGeom>
          <a:ln w="6350">
            <a:solidFill>
              <a:srgbClr val="D7E1F5"/>
            </a:solidFill>
            <a:prstDash val="dash"/>
          </a:ln>
        </p:spPr>
      </p:cxnSp>
      <p:sp>
        <p:nvSpPr>
          <p:cNvPr id="60" name="B"/>
          <p:cNvSpPr/>
          <p:nvPr/>
        </p:nvSpPr>
        <p:spPr>
          <a:xfrm>
            <a:off x="612648" y="2478024"/>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sz="1000" b="0">
                <a:solidFill>
                  <a:srgbClr val="1B1F3B"/>
                </a:solidFill>
                <a:latin typeface="Calibri"/>
              </a:rPr>
              <a:t>Maps the client’s cloud, CI/CD, ticketing and approval chain before anything is wired.</a:t>
            </a:r>
          </a:p>
          <a:p>
            <a:pPr marL="137160" indent="-137160">
              <a:lnSpc>
                <a:spcPct val="112000"/>
              </a:lnSpc>
              <a:spcBef>
                <a:spcPts val="150"/>
              </a:spcBef>
              <a:buFont typeface="Arial" charset="0"/>
              <a:buChar char="•"/>
            </a:pPr>
            <a:r>
              <a:rPr sz="1000" b="0">
                <a:solidFill>
                  <a:srgbClr val="1B1F3B"/>
                </a:solidFill>
                <a:latin typeface="Calibri"/>
              </a:rPr>
              <a:t>Output is the Onboarding Blueprint that drives every later phase.</a:t>
            </a:r>
          </a:p>
        </p:txBody>
      </p:sp>
      <p:cxnSp>
        <p:nvCxnSpPr>
          <p:cNvPr id="61" name="C"/>
          <p:cNvCxnSpPr/>
          <p:nvPr/>
        </p:nvCxnSpPr>
        <p:spPr>
          <a:xfrm>
            <a:off x="3474720" y="2688336"/>
            <a:ext cx="365760" cy="1"/>
          </a:xfrm>
          <a:prstGeom prst="line">
            <a:avLst/>
          </a:prstGeom>
          <a:ln w="11430">
            <a:solidFill>
              <a:srgbClr val="B8790F"/>
            </a:solidFill>
            <a:prstDash val="dash"/>
          </a:ln>
        </p:spPr>
      </p:cxnSp>
      <p:sp>
        <p:nvSpPr>
          <p:cNvPr id="62" name="S"/>
          <p:cNvSpPr/>
          <p:nvPr/>
        </p:nvSpPr>
        <p:spPr>
          <a:xfrm>
            <a:off x="3818480" y="2666336"/>
            <a:ext cx="44000" cy="44000"/>
          </a:xfrm>
          <a:prstGeom prst="ellipse">
            <a:avLst/>
          </a:prstGeom>
          <a:solidFill>
            <a:srgbClr val="B8790F"/>
          </a:solidFill>
          <a:ln>
            <a:noFill/>
          </a:ln>
        </p:spPr>
        <p:txBody>
          <a:bodyPr/>
          <a:lstStyle/>
          <a:p>
            <a:endParaRPr/>
          </a:p>
        </p:txBody>
      </p:sp>
      <p:sp>
        <p:nvSpPr>
          <p:cNvPr id="63" name="S"/>
          <p:cNvSpPr/>
          <p:nvPr/>
        </p:nvSpPr>
        <p:spPr>
          <a:xfrm>
            <a:off x="457200" y="3657600"/>
            <a:ext cx="3017520" cy="1609344"/>
          </a:xfrm>
          <a:prstGeom prst="roundRect">
            <a:avLst>
              <a:gd name="adj" fmla="val 6500"/>
            </a:avLst>
          </a:prstGeom>
          <a:solidFill>
            <a:srgbClr val="E6ECFB"/>
          </a:solidFill>
          <a:ln w="13000">
            <a:solidFill>
              <a:srgbClr val="2C4C9B"/>
            </a:solidFill>
          </a:ln>
          <a:effectLst>
            <a:outerShdw blurRad="90000" dist="28000" dir="5400000" rotWithShape="0">
              <a:srgbClr val="1B1F3B">
                <a:alpha val="11000"/>
              </a:srgbClr>
            </a:outerShdw>
          </a:effectLst>
        </p:spPr>
        <p:txBody>
          <a:bodyPr/>
          <a:lstStyle/>
          <a:p>
            <a:endParaRPr/>
          </a:p>
        </p:txBody>
      </p:sp>
      <p:sp>
        <p:nvSpPr>
          <p:cNvPr id="64" name="S"/>
          <p:cNvSpPr/>
          <p:nvPr/>
        </p:nvSpPr>
        <p:spPr>
          <a:xfrm>
            <a:off x="612648" y="3794760"/>
            <a:ext cx="283464" cy="283464"/>
          </a:xfrm>
          <a:prstGeom prst="ellipse">
            <a:avLst/>
          </a:prstGeom>
          <a:solidFill>
            <a:srgbClr val="2C4C9B"/>
          </a:solidFill>
          <a:ln>
            <a:noFill/>
          </a:ln>
        </p:spPr>
        <p:txBody>
          <a:bodyPr/>
          <a:lstStyle/>
          <a:p>
            <a:endParaRPr/>
          </a:p>
        </p:txBody>
      </p:sp>
      <p:sp>
        <p:nvSpPr>
          <p:cNvPr id="65" name="T"/>
          <p:cNvSpPr>
            <a:spLocks noGrp="1"/>
          </p:cNvSpPr>
          <p:nvPr/>
        </p:nvSpPr>
        <p:spPr>
          <a:xfrm>
            <a:off x="612648" y="3794760"/>
            <a:ext cx="283464" cy="283464"/>
          </a:xfrm>
          <a:prstGeom prst="rect">
            <a:avLst/>
          </a:prstGeom>
          <a:noFill/>
          <a:ln>
            <a:noFill/>
          </a:ln>
        </p:spPr>
        <p:txBody>
          <a:bodyPr wrap="square" lIns="0" tIns="0" rIns="0" bIns="0" rtlCol="0" anchor="ctr"/>
          <a:lstStyle/>
          <a:p>
            <a:pPr marL="0" indent="0" algn="ctr">
              <a:buNone/>
            </a:pPr>
            <a:r>
              <a:rPr sz="1100" b="1">
                <a:solidFill>
                  <a:srgbClr val="FFFFFF"/>
                </a:solidFill>
                <a:latin typeface="Calibri"/>
              </a:rPr>
              <a:t>2</a:t>
            </a:r>
          </a:p>
        </p:txBody>
      </p:sp>
      <p:sp>
        <p:nvSpPr>
          <p:cNvPr id="66" name="T"/>
          <p:cNvSpPr>
            <a:spLocks noGrp="1"/>
          </p:cNvSpPr>
          <p:nvPr/>
        </p:nvSpPr>
        <p:spPr>
          <a:xfrm>
            <a:off x="987552" y="3785616"/>
            <a:ext cx="2331720" cy="292608"/>
          </a:xfrm>
          <a:prstGeom prst="rect">
            <a:avLst/>
          </a:prstGeom>
          <a:noFill/>
          <a:ln>
            <a:noFill/>
          </a:ln>
        </p:spPr>
        <p:txBody>
          <a:bodyPr wrap="square" lIns="0" tIns="0" rIns="0" bIns="0" rtlCol="0" anchor="ctr"/>
          <a:lstStyle/>
          <a:p>
            <a:pPr marL="0" indent="0" algn="l">
              <a:buNone/>
            </a:pPr>
            <a:r>
              <a:rPr sz="1400" b="1">
                <a:solidFill>
                  <a:srgbClr val="1E50AF"/>
                </a:solidFill>
                <a:latin typeface="Calibri"/>
              </a:rPr>
              <a:t>Connect</a:t>
            </a:r>
          </a:p>
        </p:txBody>
      </p:sp>
      <p:cxnSp>
        <p:nvCxnSpPr>
          <p:cNvPr id="67" name="C"/>
          <p:cNvCxnSpPr/>
          <p:nvPr/>
        </p:nvCxnSpPr>
        <p:spPr>
          <a:xfrm>
            <a:off x="612648" y="4169664"/>
            <a:ext cx="2706624" cy="1"/>
          </a:xfrm>
          <a:prstGeom prst="line">
            <a:avLst/>
          </a:prstGeom>
          <a:ln w="6350">
            <a:solidFill>
              <a:srgbClr val="D7E1F5"/>
            </a:solidFill>
            <a:prstDash val="dash"/>
          </a:ln>
        </p:spPr>
      </p:cxnSp>
      <p:sp>
        <p:nvSpPr>
          <p:cNvPr id="68" name="B"/>
          <p:cNvSpPr/>
          <p:nvPr/>
        </p:nvSpPr>
        <p:spPr>
          <a:xfrm>
            <a:off x="612648" y="4251960"/>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sz="1000" b="0">
                <a:solidFill>
                  <a:srgbClr val="1B1F3B"/>
                </a:solidFill>
                <a:latin typeface="Calibri"/>
              </a:rPr>
              <a:t>Registers cloud accounts, repos, CI/CD, ticketing and notification channels — once.</a:t>
            </a:r>
          </a:p>
          <a:p>
            <a:pPr marL="137160" indent="-137160">
              <a:lnSpc>
                <a:spcPct val="112000"/>
              </a:lnSpc>
              <a:spcBef>
                <a:spcPts val="150"/>
              </a:spcBef>
              <a:buFont typeface="Arial" charset="0"/>
              <a:buChar char="•"/>
            </a:pPr>
            <a:r>
              <a:rPr sz="1000" b="0">
                <a:solidFill>
                  <a:srgbClr val="1B1F3B"/>
                </a:solidFill>
                <a:latin typeface="Calibri"/>
              </a:rPr>
              <a:t>No credentials stored; auth via Managed Identity or Service Principal.</a:t>
            </a:r>
          </a:p>
        </p:txBody>
      </p:sp>
      <p:cxnSp>
        <p:nvCxnSpPr>
          <p:cNvPr id="69" name="C"/>
          <p:cNvCxnSpPr/>
          <p:nvPr/>
        </p:nvCxnSpPr>
        <p:spPr>
          <a:xfrm>
            <a:off x="3474720" y="4462272"/>
            <a:ext cx="365760" cy="1"/>
          </a:xfrm>
          <a:prstGeom prst="line">
            <a:avLst/>
          </a:prstGeom>
          <a:ln w="11430">
            <a:solidFill>
              <a:srgbClr val="2C4C9B"/>
            </a:solidFill>
            <a:prstDash val="dash"/>
          </a:ln>
        </p:spPr>
      </p:cxnSp>
      <p:sp>
        <p:nvSpPr>
          <p:cNvPr id="70" name="S"/>
          <p:cNvSpPr/>
          <p:nvPr/>
        </p:nvSpPr>
        <p:spPr>
          <a:xfrm>
            <a:off x="3818480" y="4440272"/>
            <a:ext cx="44000" cy="44000"/>
          </a:xfrm>
          <a:prstGeom prst="ellipse">
            <a:avLst/>
          </a:prstGeom>
          <a:solidFill>
            <a:srgbClr val="2C4C9B"/>
          </a:solidFill>
          <a:ln>
            <a:noFill/>
          </a:ln>
        </p:spPr>
        <p:txBody>
          <a:bodyPr/>
          <a:lstStyle/>
          <a:p>
            <a:endParaRPr/>
          </a:p>
        </p:txBody>
      </p:sp>
      <p:sp>
        <p:nvSpPr>
          <p:cNvPr id="71" name="S"/>
          <p:cNvSpPr/>
          <p:nvPr/>
        </p:nvSpPr>
        <p:spPr>
          <a:xfrm>
            <a:off x="8717280" y="1883664"/>
            <a:ext cx="3017520" cy="1609344"/>
          </a:xfrm>
          <a:prstGeom prst="roundRect">
            <a:avLst>
              <a:gd name="adj" fmla="val 6500"/>
            </a:avLst>
          </a:prstGeom>
          <a:solidFill>
            <a:srgbClr val="F1E7FA"/>
          </a:solidFill>
          <a:ln w="13000">
            <a:solidFill>
              <a:srgbClr val="7A3FB0"/>
            </a:solidFill>
          </a:ln>
          <a:effectLst>
            <a:outerShdw blurRad="90000" dist="28000" dir="5400000" rotWithShape="0">
              <a:srgbClr val="1B1F3B">
                <a:alpha val="11000"/>
              </a:srgbClr>
            </a:outerShdw>
          </a:effectLst>
        </p:spPr>
        <p:txBody>
          <a:bodyPr/>
          <a:lstStyle/>
          <a:p>
            <a:endParaRPr/>
          </a:p>
        </p:txBody>
      </p:sp>
      <p:sp>
        <p:nvSpPr>
          <p:cNvPr id="72" name="S"/>
          <p:cNvSpPr/>
          <p:nvPr/>
        </p:nvSpPr>
        <p:spPr>
          <a:xfrm>
            <a:off x="8872728" y="2020824"/>
            <a:ext cx="283464" cy="283464"/>
          </a:xfrm>
          <a:prstGeom prst="ellipse">
            <a:avLst/>
          </a:prstGeom>
          <a:solidFill>
            <a:srgbClr val="7A3FB0"/>
          </a:solidFill>
          <a:ln>
            <a:noFill/>
          </a:ln>
        </p:spPr>
        <p:txBody>
          <a:bodyPr/>
          <a:lstStyle/>
          <a:p>
            <a:endParaRPr/>
          </a:p>
        </p:txBody>
      </p:sp>
      <p:sp>
        <p:nvSpPr>
          <p:cNvPr id="73" name="T"/>
          <p:cNvSpPr>
            <a:spLocks noGrp="1"/>
          </p:cNvSpPr>
          <p:nvPr/>
        </p:nvSpPr>
        <p:spPr>
          <a:xfrm>
            <a:off x="8872728" y="2020824"/>
            <a:ext cx="283464" cy="283464"/>
          </a:xfrm>
          <a:prstGeom prst="rect">
            <a:avLst/>
          </a:prstGeom>
          <a:noFill/>
          <a:ln>
            <a:noFill/>
          </a:ln>
        </p:spPr>
        <p:txBody>
          <a:bodyPr wrap="square" lIns="0" tIns="0" rIns="0" bIns="0" rtlCol="0" anchor="ctr"/>
          <a:lstStyle/>
          <a:p>
            <a:pPr marL="0" indent="0" algn="ctr">
              <a:buNone/>
            </a:pPr>
            <a:r>
              <a:rPr sz="1100" b="1">
                <a:solidFill>
                  <a:srgbClr val="FFFFFF"/>
                </a:solidFill>
                <a:latin typeface="Calibri"/>
              </a:rPr>
              <a:t>3</a:t>
            </a:r>
          </a:p>
        </p:txBody>
      </p:sp>
      <p:sp>
        <p:nvSpPr>
          <p:cNvPr id="74" name="T"/>
          <p:cNvSpPr>
            <a:spLocks noGrp="1"/>
          </p:cNvSpPr>
          <p:nvPr/>
        </p:nvSpPr>
        <p:spPr>
          <a:xfrm>
            <a:off x="9247632" y="2011680"/>
            <a:ext cx="2331720" cy="292608"/>
          </a:xfrm>
          <a:prstGeom prst="rect">
            <a:avLst/>
          </a:prstGeom>
          <a:noFill/>
          <a:ln>
            <a:noFill/>
          </a:ln>
        </p:spPr>
        <p:txBody>
          <a:bodyPr wrap="square" lIns="0" tIns="0" rIns="0" bIns="0" rtlCol="0" anchor="ctr"/>
          <a:lstStyle/>
          <a:p>
            <a:pPr marL="0" indent="0" algn="l">
              <a:buNone/>
            </a:pPr>
            <a:r>
              <a:rPr sz="1400" b="1">
                <a:solidFill>
                  <a:srgbClr val="78288C"/>
                </a:solidFill>
                <a:latin typeface="Calibri"/>
              </a:rPr>
              <a:t>Configure</a:t>
            </a:r>
          </a:p>
        </p:txBody>
      </p:sp>
      <p:cxnSp>
        <p:nvCxnSpPr>
          <p:cNvPr id="75" name="C"/>
          <p:cNvCxnSpPr/>
          <p:nvPr/>
        </p:nvCxnSpPr>
        <p:spPr>
          <a:xfrm>
            <a:off x="8872728" y="2395728"/>
            <a:ext cx="2706624" cy="1"/>
          </a:xfrm>
          <a:prstGeom prst="line">
            <a:avLst/>
          </a:prstGeom>
          <a:ln w="6350">
            <a:solidFill>
              <a:srgbClr val="D7E1F5"/>
            </a:solidFill>
            <a:prstDash val="dash"/>
          </a:ln>
        </p:spPr>
      </p:cxnSp>
      <p:sp>
        <p:nvSpPr>
          <p:cNvPr id="76" name="B"/>
          <p:cNvSpPr/>
          <p:nvPr/>
        </p:nvSpPr>
        <p:spPr>
          <a:xfrm>
            <a:off x="8872728" y="2478024"/>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sz="1000" b="0">
                <a:solidFill>
                  <a:srgbClr val="1B1F3B"/>
                </a:solidFill>
                <a:latin typeface="Calibri"/>
              </a:rPr>
              <a:t>Approval chains, deployment templates, promotion and validation rules.</a:t>
            </a:r>
          </a:p>
          <a:p>
            <a:pPr marL="137160" indent="-137160">
              <a:lnSpc>
                <a:spcPct val="112000"/>
              </a:lnSpc>
              <a:spcBef>
                <a:spcPts val="150"/>
              </a:spcBef>
              <a:buFont typeface="Arial" charset="0"/>
              <a:buChar char="•"/>
            </a:pPr>
            <a:r>
              <a:rPr sz="1000" b="0">
                <a:solidFill>
                  <a:srgbClr val="1B1F3B"/>
                </a:solidFill>
                <a:latin typeface="Calibri"/>
              </a:rPr>
              <a:t>Defined as configuration, not code — changes apply to the very next release.</a:t>
            </a:r>
          </a:p>
        </p:txBody>
      </p:sp>
      <p:cxnSp>
        <p:nvCxnSpPr>
          <p:cNvPr id="77" name="C"/>
          <p:cNvCxnSpPr/>
          <p:nvPr/>
        </p:nvCxnSpPr>
        <p:spPr>
          <a:xfrm>
            <a:off x="8351520" y="2688336"/>
            <a:ext cx="365760" cy="1"/>
          </a:xfrm>
          <a:prstGeom prst="line">
            <a:avLst/>
          </a:prstGeom>
          <a:ln w="11430">
            <a:solidFill>
              <a:srgbClr val="7A3FB0"/>
            </a:solidFill>
            <a:prstDash val="dash"/>
          </a:ln>
        </p:spPr>
      </p:cxnSp>
      <p:sp>
        <p:nvSpPr>
          <p:cNvPr id="78" name="S"/>
          <p:cNvSpPr/>
          <p:nvPr/>
        </p:nvSpPr>
        <p:spPr>
          <a:xfrm>
            <a:off x="8329520" y="2666336"/>
            <a:ext cx="44000" cy="44000"/>
          </a:xfrm>
          <a:prstGeom prst="ellipse">
            <a:avLst/>
          </a:prstGeom>
          <a:solidFill>
            <a:srgbClr val="7A3FB0"/>
          </a:solidFill>
          <a:ln>
            <a:noFill/>
          </a:ln>
        </p:spPr>
        <p:txBody>
          <a:bodyPr/>
          <a:lstStyle/>
          <a:p>
            <a:endParaRPr/>
          </a:p>
        </p:txBody>
      </p:sp>
      <p:sp>
        <p:nvSpPr>
          <p:cNvPr id="79" name="S"/>
          <p:cNvSpPr/>
          <p:nvPr/>
        </p:nvSpPr>
        <p:spPr>
          <a:xfrm>
            <a:off x="8717280" y="3657600"/>
            <a:ext cx="3017520" cy="1609344"/>
          </a:xfrm>
          <a:prstGeom prst="roundRect">
            <a:avLst>
              <a:gd name="adj" fmla="val 6500"/>
            </a:avLst>
          </a:prstGeom>
          <a:solidFill>
            <a:srgbClr val="FAE7EF"/>
          </a:solidFill>
          <a:ln w="13000">
            <a:solidFill>
              <a:srgbClr val="AA3E6E"/>
            </a:solidFill>
          </a:ln>
          <a:effectLst>
            <a:outerShdw blurRad="90000" dist="28000" dir="5400000" rotWithShape="0">
              <a:srgbClr val="1B1F3B">
                <a:alpha val="11000"/>
              </a:srgbClr>
            </a:outerShdw>
          </a:effectLst>
        </p:spPr>
        <p:txBody>
          <a:bodyPr/>
          <a:lstStyle/>
          <a:p>
            <a:endParaRPr/>
          </a:p>
        </p:txBody>
      </p:sp>
      <p:sp>
        <p:nvSpPr>
          <p:cNvPr id="80" name="S"/>
          <p:cNvSpPr/>
          <p:nvPr/>
        </p:nvSpPr>
        <p:spPr>
          <a:xfrm>
            <a:off x="8872728" y="3794760"/>
            <a:ext cx="283464" cy="283464"/>
          </a:xfrm>
          <a:prstGeom prst="ellipse">
            <a:avLst/>
          </a:prstGeom>
          <a:solidFill>
            <a:srgbClr val="AA3E6E"/>
          </a:solidFill>
          <a:ln>
            <a:noFill/>
          </a:ln>
        </p:spPr>
        <p:txBody>
          <a:bodyPr/>
          <a:lstStyle/>
          <a:p>
            <a:endParaRPr/>
          </a:p>
        </p:txBody>
      </p:sp>
      <p:sp>
        <p:nvSpPr>
          <p:cNvPr id="81" name="T"/>
          <p:cNvSpPr>
            <a:spLocks noGrp="1"/>
          </p:cNvSpPr>
          <p:nvPr/>
        </p:nvSpPr>
        <p:spPr>
          <a:xfrm>
            <a:off x="8872728" y="3794760"/>
            <a:ext cx="283464" cy="283464"/>
          </a:xfrm>
          <a:prstGeom prst="rect">
            <a:avLst/>
          </a:prstGeom>
          <a:noFill/>
          <a:ln>
            <a:noFill/>
          </a:ln>
        </p:spPr>
        <p:txBody>
          <a:bodyPr wrap="square" lIns="0" tIns="0" rIns="0" bIns="0" rtlCol="0" anchor="ctr"/>
          <a:lstStyle/>
          <a:p>
            <a:pPr marL="0" indent="0" algn="ctr">
              <a:buNone/>
            </a:pPr>
            <a:r>
              <a:rPr sz="1100" b="1">
                <a:solidFill>
                  <a:srgbClr val="FFFFFF"/>
                </a:solidFill>
                <a:latin typeface="Calibri"/>
              </a:rPr>
              <a:t>4</a:t>
            </a:r>
          </a:p>
        </p:txBody>
      </p:sp>
      <p:sp>
        <p:nvSpPr>
          <p:cNvPr id="82" name="T"/>
          <p:cNvSpPr>
            <a:spLocks noGrp="1"/>
          </p:cNvSpPr>
          <p:nvPr/>
        </p:nvSpPr>
        <p:spPr>
          <a:xfrm>
            <a:off x="9247632" y="3785616"/>
            <a:ext cx="2331720" cy="292608"/>
          </a:xfrm>
          <a:prstGeom prst="rect">
            <a:avLst/>
          </a:prstGeom>
          <a:noFill/>
          <a:ln>
            <a:noFill/>
          </a:ln>
        </p:spPr>
        <p:txBody>
          <a:bodyPr wrap="square" lIns="0" tIns="0" rIns="0" bIns="0" rtlCol="0" anchor="ctr"/>
          <a:lstStyle/>
          <a:p>
            <a:pPr marL="0" indent="0" algn="l">
              <a:buNone/>
            </a:pPr>
            <a:r>
              <a:rPr sz="1400" b="1">
                <a:solidFill>
                  <a:srgbClr val="B42846"/>
                </a:solidFill>
                <a:latin typeface="Calibri"/>
              </a:rPr>
              <a:t>Observe</a:t>
            </a:r>
          </a:p>
        </p:txBody>
      </p:sp>
      <p:cxnSp>
        <p:nvCxnSpPr>
          <p:cNvPr id="83" name="C"/>
          <p:cNvCxnSpPr/>
          <p:nvPr/>
        </p:nvCxnSpPr>
        <p:spPr>
          <a:xfrm>
            <a:off x="8872728" y="4169664"/>
            <a:ext cx="2706624" cy="1"/>
          </a:xfrm>
          <a:prstGeom prst="line">
            <a:avLst/>
          </a:prstGeom>
          <a:ln w="6350">
            <a:solidFill>
              <a:srgbClr val="D7E1F5"/>
            </a:solidFill>
            <a:prstDash val="dash"/>
          </a:ln>
        </p:spPr>
      </p:cxnSp>
      <p:sp>
        <p:nvSpPr>
          <p:cNvPr id="84" name="B"/>
          <p:cNvSpPr/>
          <p:nvPr/>
        </p:nvSpPr>
        <p:spPr>
          <a:xfrm>
            <a:off x="8872728" y="4251960"/>
            <a:ext cx="2706624" cy="896112"/>
          </a:xfrm>
          <a:prstGeom prst="rect">
            <a:avLst/>
          </a:prstGeom>
          <a:noFill/>
          <a:ln>
            <a:noFill/>
          </a:ln>
        </p:spPr>
        <p:txBody>
          <a:bodyPr wrap="square" lIns="0" tIns="0" rIns="0" bIns="0" anchor="t"/>
          <a:lstStyle/>
          <a:p>
            <a:pPr marL="137160" indent="-137160">
              <a:lnSpc>
                <a:spcPct val="112000"/>
              </a:lnSpc>
              <a:spcBef>
                <a:spcPts val="100"/>
              </a:spcBef>
              <a:buFont typeface="Arial" charset="0"/>
              <a:buChar char="•"/>
            </a:pPr>
            <a:r>
              <a:rPr sz="1000" b="0">
                <a:solidFill>
                  <a:srgbClr val="1B1F3B"/>
                </a:solidFill>
                <a:latin typeface="Calibri"/>
              </a:rPr>
              <a:t>Live dashboards, health signals, full audit trail and exportable reports.</a:t>
            </a:r>
          </a:p>
          <a:p>
            <a:pPr marL="137160" indent="-137160">
              <a:lnSpc>
                <a:spcPct val="112000"/>
              </a:lnSpc>
              <a:spcBef>
                <a:spcPts val="150"/>
              </a:spcBef>
              <a:buFont typeface="Arial" charset="0"/>
              <a:buChar char="•"/>
            </a:pPr>
            <a:r>
              <a:rPr sz="1000" b="0">
                <a:solidFill>
                  <a:srgbClr val="1B1F3B"/>
                </a:solidFill>
                <a:latin typeface="Calibri"/>
              </a:rPr>
              <a:t>Every action traces back to who approved what, and when.</a:t>
            </a:r>
          </a:p>
        </p:txBody>
      </p:sp>
      <p:cxnSp>
        <p:nvCxnSpPr>
          <p:cNvPr id="85" name="C"/>
          <p:cNvCxnSpPr/>
          <p:nvPr/>
        </p:nvCxnSpPr>
        <p:spPr>
          <a:xfrm>
            <a:off x="8351520" y="4462272"/>
            <a:ext cx="365760" cy="1"/>
          </a:xfrm>
          <a:prstGeom prst="line">
            <a:avLst/>
          </a:prstGeom>
          <a:ln w="11430">
            <a:solidFill>
              <a:srgbClr val="AA3E6E"/>
            </a:solidFill>
            <a:prstDash val="dash"/>
          </a:ln>
        </p:spPr>
      </p:cxnSp>
      <p:sp>
        <p:nvSpPr>
          <p:cNvPr id="86" name="S"/>
          <p:cNvSpPr/>
          <p:nvPr/>
        </p:nvSpPr>
        <p:spPr>
          <a:xfrm>
            <a:off x="8329520" y="4440272"/>
            <a:ext cx="44000" cy="44000"/>
          </a:xfrm>
          <a:prstGeom prst="ellipse">
            <a:avLst/>
          </a:prstGeom>
          <a:solidFill>
            <a:srgbClr val="AA3E6E"/>
          </a:solidFill>
          <a:ln>
            <a:noFill/>
          </a:ln>
        </p:spPr>
        <p:txBody>
          <a:bodyPr/>
          <a:lstStyle/>
          <a:p>
            <a:endParaRPr/>
          </a:p>
        </p:txBody>
      </p:sp>
      <p:sp>
        <p:nvSpPr>
          <p:cNvPr id="87" name="S"/>
          <p:cNvSpPr/>
          <p:nvPr/>
        </p:nvSpPr>
        <p:spPr>
          <a:xfrm>
            <a:off x="457200" y="5468112"/>
            <a:ext cx="11277600" cy="603504"/>
          </a:xfrm>
          <a:prstGeom prst="roundRect">
            <a:avLst>
              <a:gd name="adj" fmla="val 4500"/>
            </a:avLst>
          </a:prstGeom>
          <a:solidFill>
            <a:srgbClr val="0F1B35"/>
          </a:solidFill>
          <a:ln>
            <a:noFill/>
          </a:ln>
        </p:spPr>
        <p:txBody>
          <a:bodyPr/>
          <a:lstStyle/>
          <a:p>
            <a:endParaRPr/>
          </a:p>
        </p:txBody>
      </p:sp>
      <p:sp>
        <p:nvSpPr>
          <p:cNvPr id="89" name="T"/>
          <p:cNvSpPr>
            <a:spLocks noGrp="1"/>
          </p:cNvSpPr>
          <p:nvPr/>
        </p:nvSpPr>
        <p:spPr>
          <a:xfrm>
            <a:off x="676656" y="5715000"/>
            <a:ext cx="6309360" cy="292608"/>
          </a:xfrm>
          <a:prstGeom prst="rect">
            <a:avLst/>
          </a:prstGeom>
          <a:noFill/>
          <a:ln>
            <a:noFill/>
          </a:ln>
        </p:spPr>
        <p:txBody>
          <a:bodyPr wrap="square" lIns="0" tIns="0" rIns="0" bIns="0" rtlCol="0" anchor="t"/>
          <a:lstStyle/>
          <a:p>
            <a:pPr marL="0" indent="0" algn="l">
              <a:buNone/>
            </a:pPr>
            <a:r>
              <a:rPr sz="1100" b="0">
                <a:solidFill>
                  <a:srgbClr val="FFFFFF"/>
                </a:solidFill>
                <a:latin typeface="Calibri"/>
              </a:rPr>
              <a:t>One engine, always — every change resolves down through the same governed, agent-driven stack.</a:t>
            </a:r>
          </a:p>
        </p:txBody>
      </p:sp>
      <p:sp>
        <p:nvSpPr>
          <p:cNvPr id="90" name="S"/>
          <p:cNvSpPr/>
          <p:nvPr/>
        </p:nvSpPr>
        <p:spPr>
          <a:xfrm>
            <a:off x="7235952" y="5577840"/>
            <a:ext cx="1353312" cy="384048"/>
          </a:xfrm>
          <a:prstGeom prst="roundRect">
            <a:avLst>
              <a:gd name="adj" fmla="val 6000"/>
            </a:avLst>
          </a:prstGeom>
          <a:solidFill>
            <a:srgbClr val="1B2C52"/>
          </a:solidFill>
          <a:ln w="7620">
            <a:solidFill>
              <a:srgbClr val="3C5488"/>
            </a:solidFill>
          </a:ln>
        </p:spPr>
        <p:txBody>
          <a:bodyPr/>
          <a:lstStyle/>
          <a:p>
            <a:endParaRPr/>
          </a:p>
        </p:txBody>
      </p:sp>
      <p:sp>
        <p:nvSpPr>
          <p:cNvPr id="91" name="T"/>
          <p:cNvSpPr>
            <a:spLocks noGrp="1"/>
          </p:cNvSpPr>
          <p:nvPr/>
        </p:nvSpPr>
        <p:spPr>
          <a:xfrm>
            <a:off x="7235952" y="5614416"/>
            <a:ext cx="1353312" cy="192024"/>
          </a:xfrm>
          <a:prstGeom prst="rect">
            <a:avLst/>
          </a:prstGeom>
          <a:noFill/>
          <a:ln>
            <a:noFill/>
          </a:ln>
        </p:spPr>
        <p:txBody>
          <a:bodyPr wrap="square" lIns="0" tIns="0" rIns="0" bIns="0" rtlCol="0" anchor="ctr"/>
          <a:lstStyle/>
          <a:p>
            <a:pPr marL="0" indent="0" algn="ctr">
              <a:buNone/>
            </a:pPr>
            <a:r>
              <a:rPr sz="1450" b="1">
                <a:solidFill>
                  <a:srgbClr val="FFFFFF"/>
                </a:solidFill>
                <a:latin typeface="Calibri"/>
              </a:rPr>
              <a:t>60–80%</a:t>
            </a:r>
          </a:p>
        </p:txBody>
      </p:sp>
      <p:sp>
        <p:nvSpPr>
          <p:cNvPr id="92" name="T"/>
          <p:cNvSpPr>
            <a:spLocks noGrp="1"/>
          </p:cNvSpPr>
          <p:nvPr/>
        </p:nvSpPr>
        <p:spPr>
          <a:xfrm>
            <a:off x="7235952" y="5797296"/>
            <a:ext cx="1353312" cy="155448"/>
          </a:xfrm>
          <a:prstGeom prst="rect">
            <a:avLst/>
          </a:prstGeom>
          <a:noFill/>
          <a:ln>
            <a:noFill/>
          </a:ln>
        </p:spPr>
        <p:txBody>
          <a:bodyPr wrap="square" lIns="0" tIns="0" rIns="0" bIns="0" rtlCol="0" anchor="ctr"/>
          <a:lstStyle/>
          <a:p>
            <a:pPr marL="0" indent="0" algn="ctr">
              <a:buNone/>
            </a:pPr>
            <a:r>
              <a:rPr sz="880" b="0">
                <a:solidFill>
                  <a:srgbClr val="B4C8E6"/>
                </a:solidFill>
                <a:latin typeface="Calibri"/>
              </a:rPr>
              <a:t>faster execution</a:t>
            </a:r>
          </a:p>
        </p:txBody>
      </p:sp>
      <p:sp>
        <p:nvSpPr>
          <p:cNvPr id="93" name="S"/>
          <p:cNvSpPr/>
          <p:nvPr/>
        </p:nvSpPr>
        <p:spPr>
          <a:xfrm>
            <a:off x="8698992" y="5577840"/>
            <a:ext cx="1353312" cy="384048"/>
          </a:xfrm>
          <a:prstGeom prst="roundRect">
            <a:avLst>
              <a:gd name="adj" fmla="val 6000"/>
            </a:avLst>
          </a:prstGeom>
          <a:solidFill>
            <a:srgbClr val="1B2C52"/>
          </a:solidFill>
          <a:ln w="7620">
            <a:solidFill>
              <a:srgbClr val="3C5488"/>
            </a:solidFill>
          </a:ln>
        </p:spPr>
        <p:txBody>
          <a:bodyPr/>
          <a:lstStyle/>
          <a:p>
            <a:endParaRPr/>
          </a:p>
        </p:txBody>
      </p:sp>
      <p:sp>
        <p:nvSpPr>
          <p:cNvPr id="94" name="T"/>
          <p:cNvSpPr>
            <a:spLocks noGrp="1"/>
          </p:cNvSpPr>
          <p:nvPr/>
        </p:nvSpPr>
        <p:spPr>
          <a:xfrm>
            <a:off x="8698992" y="5614416"/>
            <a:ext cx="1353312" cy="192024"/>
          </a:xfrm>
          <a:prstGeom prst="rect">
            <a:avLst/>
          </a:prstGeom>
          <a:noFill/>
          <a:ln>
            <a:noFill/>
          </a:ln>
        </p:spPr>
        <p:txBody>
          <a:bodyPr wrap="square" lIns="0" tIns="0" rIns="0" bIns="0" rtlCol="0" anchor="ctr"/>
          <a:lstStyle/>
          <a:p>
            <a:pPr marL="0" indent="0" algn="ctr">
              <a:buNone/>
            </a:pPr>
            <a:r>
              <a:rPr sz="1450" b="1">
                <a:solidFill>
                  <a:srgbClr val="FFFFFF"/>
                </a:solidFill>
                <a:latin typeface="Calibri"/>
              </a:rPr>
              <a:t>2–4×</a:t>
            </a:r>
          </a:p>
        </p:txBody>
      </p:sp>
      <p:sp>
        <p:nvSpPr>
          <p:cNvPr id="95" name="T"/>
          <p:cNvSpPr>
            <a:spLocks noGrp="1"/>
          </p:cNvSpPr>
          <p:nvPr/>
        </p:nvSpPr>
        <p:spPr>
          <a:xfrm>
            <a:off x="8698992" y="5797296"/>
            <a:ext cx="1353312" cy="155448"/>
          </a:xfrm>
          <a:prstGeom prst="rect">
            <a:avLst/>
          </a:prstGeom>
          <a:noFill/>
          <a:ln>
            <a:noFill/>
          </a:ln>
        </p:spPr>
        <p:txBody>
          <a:bodyPr wrap="square" lIns="0" tIns="0" rIns="0" bIns="0" rtlCol="0" anchor="ctr"/>
          <a:lstStyle/>
          <a:p>
            <a:pPr marL="0" indent="0" algn="ctr">
              <a:buNone/>
            </a:pPr>
            <a:r>
              <a:rPr sz="880" b="0">
                <a:solidFill>
                  <a:srgbClr val="B4C8E6"/>
                </a:solidFill>
                <a:latin typeface="Calibri"/>
              </a:rPr>
              <a:t>release frequency</a:t>
            </a:r>
          </a:p>
        </p:txBody>
      </p:sp>
      <p:sp>
        <p:nvSpPr>
          <p:cNvPr id="96" name="S"/>
          <p:cNvSpPr/>
          <p:nvPr/>
        </p:nvSpPr>
        <p:spPr>
          <a:xfrm>
            <a:off x="10162032" y="5577840"/>
            <a:ext cx="1353312" cy="384048"/>
          </a:xfrm>
          <a:prstGeom prst="roundRect">
            <a:avLst>
              <a:gd name="adj" fmla="val 6000"/>
            </a:avLst>
          </a:prstGeom>
          <a:solidFill>
            <a:srgbClr val="1B2C52"/>
          </a:solidFill>
          <a:ln w="7620">
            <a:solidFill>
              <a:srgbClr val="3C5488"/>
            </a:solidFill>
          </a:ln>
        </p:spPr>
        <p:txBody>
          <a:bodyPr/>
          <a:lstStyle/>
          <a:p>
            <a:endParaRPr/>
          </a:p>
        </p:txBody>
      </p:sp>
      <p:sp>
        <p:nvSpPr>
          <p:cNvPr id="97" name="T"/>
          <p:cNvSpPr>
            <a:spLocks noGrp="1"/>
          </p:cNvSpPr>
          <p:nvPr/>
        </p:nvSpPr>
        <p:spPr>
          <a:xfrm>
            <a:off x="10162032" y="5614416"/>
            <a:ext cx="1353312" cy="192024"/>
          </a:xfrm>
          <a:prstGeom prst="rect">
            <a:avLst/>
          </a:prstGeom>
          <a:noFill/>
          <a:ln>
            <a:noFill/>
          </a:ln>
        </p:spPr>
        <p:txBody>
          <a:bodyPr wrap="square" lIns="0" tIns="0" rIns="0" bIns="0" rtlCol="0" anchor="ctr"/>
          <a:lstStyle/>
          <a:p>
            <a:pPr marL="0" indent="0" algn="ctr">
              <a:buNone/>
            </a:pPr>
            <a:r>
              <a:rPr sz="1450" b="1">
                <a:solidFill>
                  <a:srgbClr val="FFFFFF"/>
                </a:solidFill>
                <a:latin typeface="Calibri"/>
              </a:rPr>
              <a:t>100%</a:t>
            </a:r>
          </a:p>
        </p:txBody>
      </p:sp>
      <p:sp>
        <p:nvSpPr>
          <p:cNvPr id="98" name="T"/>
          <p:cNvSpPr>
            <a:spLocks noGrp="1"/>
          </p:cNvSpPr>
          <p:nvPr/>
        </p:nvSpPr>
        <p:spPr>
          <a:xfrm>
            <a:off x="10162032" y="5797296"/>
            <a:ext cx="1353312" cy="155448"/>
          </a:xfrm>
          <a:prstGeom prst="rect">
            <a:avLst/>
          </a:prstGeom>
          <a:noFill/>
          <a:ln>
            <a:noFill/>
          </a:ln>
        </p:spPr>
        <p:txBody>
          <a:bodyPr wrap="square" lIns="0" tIns="0" rIns="0" bIns="0" rtlCol="0" anchor="ctr"/>
          <a:lstStyle/>
          <a:p>
            <a:pPr marL="0" indent="0" algn="ctr">
              <a:buNone/>
            </a:pPr>
            <a:r>
              <a:rPr sz="880" b="0">
                <a:solidFill>
                  <a:srgbClr val="B4C8E6"/>
                </a:solidFill>
                <a:latin typeface="Calibri"/>
              </a:rPr>
              <a:t>audit coverage</a:t>
            </a:r>
          </a:p>
        </p:txBody>
      </p:sp>
    </p:spTree>
    <p:extLst>
      <p:ext uri="{BB962C8B-B14F-4D97-AF65-F5344CB8AC3E}">
        <p14:creationId xmlns:p14="http://schemas.microsoft.com/office/powerpoint/2010/main" val="276071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p:cNvSpPr/>
          <p:nvPr/>
        </p:nvSpPr>
        <p:spPr>
          <a:xfrm>
            <a:off x="0" y="0"/>
            <a:ext cx="12192000" cy="505000"/>
          </a:xfrm>
          <a:prstGeom prst="roundRect">
            <a:avLst>
              <a:gd name="adj" fmla="val 0"/>
            </a:avLst>
          </a:prstGeom>
          <a:solidFill>
            <a:srgbClr val="0F1B35"/>
          </a:solidFill>
          <a:ln/>
        </p:spPr>
        <p:txBody>
          <a:bodyPr/>
          <a:lstStyle/>
          <a:p>
            <a:endParaRPr/>
          </a:p>
        </p:txBody>
      </p:sp>
      <p:sp>
        <p:nvSpPr>
          <p:cNvPr id="4" name="TB"/>
          <p:cNvSpPr>
            <a:spLocks noGrp="1"/>
          </p:cNvSpPr>
          <p:nvPr/>
        </p:nvSpPr>
        <p:spPr>
          <a:xfrm>
            <a:off x="548640" y="0"/>
            <a:ext cx="3000000" cy="505000"/>
          </a:xfrm>
          <a:prstGeom prst="rect">
            <a:avLst/>
          </a:prstGeom>
          <a:noFill/>
          <a:ln/>
        </p:spPr>
        <p:txBody>
          <a:bodyPr wrap="square" lIns="0" tIns="0" rIns="0" bIns="0" rtlCol="0" anchor="ctr"/>
          <a:lstStyle/>
          <a:p>
            <a:pPr marL="0" indent="0" algn="l">
              <a:buNone/>
            </a:pPr>
            <a:r>
              <a:rPr lang="en-US" sz="800" b="1" i="0" dirty="0">
                <a:solidFill>
                  <a:srgbClr val="CADCFC"/>
                </a:solidFill>
                <a:latin typeface="Calibri" pitchFamily="34" charset="0"/>
              </a:rPr>
              <a:t>PRE-ONBOARDING</a:t>
            </a:r>
          </a:p>
        </p:txBody>
      </p:sp>
      <p:sp>
        <p:nvSpPr>
          <p:cNvPr id="5" name="TB"/>
          <p:cNvSpPr>
            <a:spLocks noGrp="1"/>
          </p:cNvSpPr>
          <p:nvPr/>
        </p:nvSpPr>
        <p:spPr>
          <a:xfrm>
            <a:off x="0" y="0"/>
            <a:ext cx="12192000" cy="505000"/>
          </a:xfrm>
          <a:prstGeom prst="rect">
            <a:avLst/>
          </a:prstGeom>
          <a:noFill/>
          <a:ln/>
        </p:spPr>
        <p:txBody>
          <a:bodyPr wrap="square" lIns="0" tIns="0" rIns="0" bIns="0" rtlCol="0" anchor="ctr"/>
          <a:lstStyle/>
          <a:p>
            <a:pPr marL="0" indent="0" algn="ctr">
              <a:buNone/>
            </a:pPr>
            <a:r>
              <a:rPr lang="en-US" sz="1300" b="1" i="0" dirty="0">
                <a:solidFill>
                  <a:srgbClr val="FFFFFF"/>
                </a:solidFill>
                <a:latin typeface="Calibri" pitchFamily="34" charset="0"/>
              </a:rPr>
              <a:t>Analyse — Understand the Client Environment Before Connecting</a:t>
            </a:r>
          </a:p>
        </p:txBody>
      </p:sp>
      <p:sp>
        <p:nvSpPr>
          <p:cNvPr id="6" name="Shape"/>
          <p:cNvSpPr/>
          <p:nvPr/>
        </p:nvSpPr>
        <p:spPr>
          <a:xfrm>
            <a:off x="2354832" y="86472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7" name="TB"/>
          <p:cNvSpPr>
            <a:spLocks noGrp="1"/>
          </p:cNvSpPr>
          <p:nvPr/>
        </p:nvSpPr>
        <p:spPr>
          <a:xfrm>
            <a:off x="2354832" y="864720"/>
            <a:ext cx="1700000" cy="329184"/>
          </a:xfrm>
          <a:prstGeom prst="rect">
            <a:avLst/>
          </a:prstGeom>
          <a:noFill/>
          <a:ln/>
        </p:spPr>
        <p:txBody>
          <a:bodyPr wrap="square" lIns="0" tIns="0" rIns="0" bIns="0" rtlCol="0" anchor="ctr"/>
          <a:lstStyle/>
          <a:p>
            <a:pPr marL="0" indent="0" algn="ctr">
              <a:buNone/>
            </a:pPr>
            <a:r>
              <a:rPr lang="en-US" sz="850" b="1" i="0" dirty="0">
                <a:solidFill>
                  <a:srgbClr val="FFFFFF"/>
                </a:solidFill>
                <a:latin typeface="Calibri" pitchFamily="34" charset="0"/>
              </a:rPr>
              <a:t>ANALYSE</a:t>
            </a:r>
          </a:p>
        </p:txBody>
      </p:sp>
      <p:sp>
        <p:nvSpPr>
          <p:cNvPr id="8" name="TB"/>
          <p:cNvSpPr>
            <a:spLocks noGrp="1"/>
          </p:cNvSpPr>
          <p:nvPr/>
        </p:nvSpPr>
        <p:spPr>
          <a:xfrm>
            <a:off x="4054832" y="86472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9" name="Shape"/>
          <p:cNvSpPr/>
          <p:nvPr/>
        </p:nvSpPr>
        <p:spPr>
          <a:xfrm>
            <a:off x="4201136" y="86472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0" name="TB"/>
          <p:cNvSpPr>
            <a:spLocks noGrp="1"/>
          </p:cNvSpPr>
          <p:nvPr/>
        </p:nvSpPr>
        <p:spPr>
          <a:xfrm>
            <a:off x="4201136" y="86472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CONNECT</a:t>
            </a:r>
          </a:p>
        </p:txBody>
      </p:sp>
      <p:sp>
        <p:nvSpPr>
          <p:cNvPr id="11" name="TB"/>
          <p:cNvSpPr>
            <a:spLocks noGrp="1"/>
          </p:cNvSpPr>
          <p:nvPr/>
        </p:nvSpPr>
        <p:spPr>
          <a:xfrm>
            <a:off x="5901136" y="86472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2" name="Shape"/>
          <p:cNvSpPr/>
          <p:nvPr/>
        </p:nvSpPr>
        <p:spPr>
          <a:xfrm>
            <a:off x="6047440" y="86472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3" name="TB"/>
          <p:cNvSpPr>
            <a:spLocks noGrp="1"/>
          </p:cNvSpPr>
          <p:nvPr/>
        </p:nvSpPr>
        <p:spPr>
          <a:xfrm>
            <a:off x="6047440" y="86472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CONFIGURE</a:t>
            </a:r>
          </a:p>
        </p:txBody>
      </p:sp>
      <p:sp>
        <p:nvSpPr>
          <p:cNvPr id="14" name="TB"/>
          <p:cNvSpPr>
            <a:spLocks noGrp="1"/>
          </p:cNvSpPr>
          <p:nvPr/>
        </p:nvSpPr>
        <p:spPr>
          <a:xfrm>
            <a:off x="7747440" y="86472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5" name="Shape"/>
          <p:cNvSpPr/>
          <p:nvPr/>
        </p:nvSpPr>
        <p:spPr>
          <a:xfrm>
            <a:off x="7893744" y="86472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6" name="TB"/>
          <p:cNvSpPr>
            <a:spLocks noGrp="1"/>
          </p:cNvSpPr>
          <p:nvPr/>
        </p:nvSpPr>
        <p:spPr>
          <a:xfrm>
            <a:off x="7893744" y="86472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RUN</a:t>
            </a:r>
          </a:p>
        </p:txBody>
      </p:sp>
      <p:sp>
        <p:nvSpPr>
          <p:cNvPr id="17" name="Circle"/>
          <p:cNvSpPr/>
          <p:nvPr/>
        </p:nvSpPr>
        <p:spPr>
          <a:xfrm>
            <a:off x="432526" y="1274080"/>
            <a:ext cx="420624" cy="420624"/>
          </a:xfrm>
          <a:prstGeom prst="ellipse">
            <a:avLst/>
          </a:prstGeom>
          <a:solidFill>
            <a:srgbClr val="C8860A"/>
          </a:solidFill>
          <a:ln/>
        </p:spPr>
        <p:txBody>
          <a:bodyPr anchor="ctr"/>
          <a:lstStyle/>
          <a:p>
            <a:pPr algn="ctr">
              <a:buNone/>
            </a:pPr>
            <a:r>
              <a:rPr lang="en-US" sz="1400" b="1" dirty="0">
                <a:solidFill>
                  <a:srgbClr val="FFFFFF"/>
                </a:solidFill>
                <a:latin typeface="Calibri"/>
              </a:rPr>
              <a:t>0</a:t>
            </a:r>
          </a:p>
        </p:txBody>
      </p:sp>
      <p:sp>
        <p:nvSpPr>
          <p:cNvPr id="18" name="TB"/>
          <p:cNvSpPr>
            <a:spLocks noGrp="1"/>
          </p:cNvSpPr>
          <p:nvPr/>
        </p:nvSpPr>
        <p:spPr>
          <a:xfrm>
            <a:off x="953150" y="1254080"/>
            <a:ext cx="3200000" cy="300000"/>
          </a:xfrm>
          <a:prstGeom prst="rect">
            <a:avLst/>
          </a:prstGeom>
          <a:noFill/>
          <a:ln/>
        </p:spPr>
        <p:txBody>
          <a:bodyPr wrap="square" lIns="0" tIns="0" rIns="0" bIns="0" rtlCol="0" anchor="ctr"/>
          <a:lstStyle/>
          <a:p>
            <a:pPr marL="0" indent="0" algn="l">
              <a:buNone/>
            </a:pPr>
            <a:r>
              <a:rPr lang="en-US" sz="1500" b="1" i="0" dirty="0">
                <a:solidFill>
                  <a:srgbClr val="C8860A"/>
                </a:solidFill>
                <a:latin typeface="Calibri" pitchFamily="34" charset="0"/>
              </a:rPr>
              <a:t>ANALYSE</a:t>
            </a:r>
          </a:p>
        </p:txBody>
      </p:sp>
      <p:sp>
        <p:nvSpPr>
          <p:cNvPr id="19" name="TB"/>
          <p:cNvSpPr>
            <a:spLocks noGrp="1"/>
          </p:cNvSpPr>
          <p:nvPr/>
        </p:nvSpPr>
        <p:spPr>
          <a:xfrm>
            <a:off x="953150" y="1519080"/>
            <a:ext cx="10487010" cy="260000"/>
          </a:xfrm>
          <a:prstGeom prst="rect">
            <a:avLst/>
          </a:prstGeom>
          <a:noFill/>
          <a:ln/>
        </p:spPr>
        <p:txBody>
          <a:bodyPr wrap="square" lIns="0" tIns="0" rIns="0" bIns="0" rtlCol="0" anchor="t"/>
          <a:lstStyle/>
          <a:p>
            <a:pPr marL="0" indent="0" algn="l">
              <a:buNone/>
            </a:pPr>
            <a:r>
              <a:rPr lang="en-US" sz="1000" b="0" i="0" dirty="0">
                <a:solidFill>
                  <a:srgbClr val="5B6584"/>
                </a:solidFill>
                <a:latin typeface="Calibri" pitchFamily="34" charset="0"/>
              </a:rPr>
              <a:t>A structured discovery pass across six dimensions of the client’s environment — completed before a single integration point is connected.</a:t>
            </a:r>
          </a:p>
        </p:txBody>
      </p:sp>
      <p:sp>
        <p:nvSpPr>
          <p:cNvPr id="20" name="Div"/>
          <p:cNvSpPr/>
          <p:nvPr/>
        </p:nvSpPr>
        <p:spPr>
          <a:xfrm>
            <a:off x="432526" y="1824704"/>
            <a:ext cx="11007634" cy="0"/>
          </a:xfrm>
          <a:prstGeom prst="line">
            <a:avLst/>
          </a:prstGeom>
          <a:ln w="6350">
            <a:solidFill>
              <a:srgbClr val="CADCFC"/>
            </a:solidFill>
          </a:ln>
        </p:spPr>
        <p:txBody>
          <a:bodyPr/>
          <a:lstStyle/>
          <a:p>
            <a:endParaRPr/>
          </a:p>
        </p:txBody>
      </p:sp>
      <p:sp>
        <p:nvSpPr>
          <p:cNvPr id="21" name="Shape"/>
          <p:cNvSpPr/>
          <p:nvPr/>
        </p:nvSpPr>
        <p:spPr>
          <a:xfrm>
            <a:off x="432526" y="1914704"/>
            <a:ext cx="3706000" cy="1830000"/>
          </a:xfrm>
          <a:prstGeom prst="roundRect">
            <a:avLst>
              <a:gd name="adj" fmla="val 5500"/>
            </a:avLst>
          </a:prstGeom>
          <a:solidFill>
            <a:srgbClr val="E3F3F0"/>
          </a:solidFill>
          <a:ln w="12700">
            <a:solidFill>
              <a:srgbClr val="1D6F66"/>
            </a:solidFill>
            <a:prstDash val="solid"/>
          </a:ln>
          <a:effectLst>
            <a:outerShdw blurRad="90000" dist="25000" dir="5400000" rotWithShape="0">
              <a:srgbClr val="1B1F3B">
                <a:alpha val="10000"/>
              </a:srgbClr>
            </a:outerShdw>
          </a:effectLst>
        </p:spPr>
        <p:txBody>
          <a:bodyPr/>
          <a:lstStyle/>
          <a:p>
            <a:endParaRPr/>
          </a:p>
        </p:txBody>
      </p:sp>
      <p:sp>
        <p:nvSpPr>
          <p:cNvPr id="22" name="Circle"/>
          <p:cNvSpPr/>
          <p:nvPr/>
        </p:nvSpPr>
        <p:spPr>
          <a:xfrm>
            <a:off x="562526" y="2044704"/>
            <a:ext cx="300000" cy="300000"/>
          </a:xfrm>
          <a:prstGeom prst="ellipse">
            <a:avLst/>
          </a:prstGeom>
          <a:solidFill>
            <a:srgbClr val="1D6F66"/>
          </a:solidFill>
          <a:ln/>
        </p:spPr>
        <p:txBody>
          <a:bodyPr anchor="ctr"/>
          <a:lstStyle/>
          <a:p>
            <a:pPr algn="ctr">
              <a:buNone/>
            </a:pPr>
            <a:r>
              <a:rPr lang="en-US" sz="1100" b="1" dirty="0">
                <a:solidFill>
                  <a:srgbClr val="FFFFFF"/>
                </a:solidFill>
                <a:latin typeface="Calibri"/>
              </a:rPr>
              <a:t>1</a:t>
            </a:r>
          </a:p>
        </p:txBody>
      </p:sp>
      <p:sp>
        <p:nvSpPr>
          <p:cNvPr id="23" name="TB"/>
          <p:cNvSpPr>
            <a:spLocks noGrp="1"/>
          </p:cNvSpPr>
          <p:nvPr/>
        </p:nvSpPr>
        <p:spPr>
          <a:xfrm>
            <a:off x="952526" y="2029704"/>
            <a:ext cx="3056000" cy="330000"/>
          </a:xfrm>
          <a:prstGeom prst="rect">
            <a:avLst/>
          </a:prstGeom>
          <a:noFill/>
          <a:ln/>
        </p:spPr>
        <p:txBody>
          <a:bodyPr wrap="square" lIns="0" tIns="0" rIns="0" bIns="0" rtlCol="0" anchor="ctr"/>
          <a:lstStyle/>
          <a:p>
            <a:pPr marL="0" indent="0" algn="l">
              <a:buNone/>
            </a:pPr>
            <a:r>
              <a:rPr lang="en-US" sz="1050" b="1" i="0" dirty="0">
                <a:solidFill>
                  <a:srgbClr val="1D6F66"/>
                </a:solidFill>
                <a:latin typeface="Calibri" pitchFamily="34" charset="0"/>
              </a:rPr>
              <a:t>Cloud Environment</a:t>
            </a:r>
          </a:p>
        </p:txBody>
      </p:sp>
      <p:sp>
        <p:nvSpPr>
          <p:cNvPr id="24" name="Div"/>
          <p:cNvSpPr/>
          <p:nvPr/>
        </p:nvSpPr>
        <p:spPr>
          <a:xfrm>
            <a:off x="562526" y="2434704"/>
            <a:ext cx="3446000" cy="0"/>
          </a:xfrm>
          <a:prstGeom prst="line">
            <a:avLst/>
          </a:prstGeom>
          <a:ln w="4000">
            <a:solidFill>
              <a:srgbClr val="1D6F66"/>
            </a:solidFill>
          </a:ln>
        </p:spPr>
        <p:txBody>
          <a:bodyPr/>
          <a:lstStyle/>
          <a:p>
            <a:endParaRPr/>
          </a:p>
        </p:txBody>
      </p:sp>
      <p:sp>
        <p:nvSpPr>
          <p:cNvPr id="25" name="BulletBox"/>
          <p:cNvSpPr/>
          <p:nvPr/>
        </p:nvSpPr>
        <p:spPr>
          <a:xfrm>
            <a:off x="562526" y="2504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Provider &amp; Accounts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Cloud provider(s) in use — Azure, AWS, GCP, or hybrid — with all active subscriptions.</a:t>
            </a:r>
          </a:p>
          <a:p>
            <a:pPr marL="137160" indent="-137160">
              <a:lnSpc>
                <a:spcPct val="106000"/>
              </a:lnSpc>
              <a:spcBef>
                <a:spcPts val="100"/>
              </a:spcBef>
              <a:buFont typeface="Arial" charset="0"/>
              <a:buChar char="•"/>
            </a:pPr>
            <a:r>
              <a:rPr lang="en-US" sz="850" dirty="0">
                <a:solidFill>
                  <a:srgbClr val="5B6584"/>
                </a:solidFill>
                <a:latin typeface="Calibri" pitchFamily="34" charset="0"/>
              </a:rPr>
              <a:t>Resource groups, regions, VNets, and security boundaries per environment.</a:t>
            </a:r>
          </a:p>
          <a:p>
            <a:pPr marL="0" indent="0">
              <a:spcBef>
                <a:spcPts val="420"/>
              </a:spcBef>
              <a:buNone/>
            </a:pPr>
            <a:r>
              <a:rPr lang="en-US" sz="950" b="1" dirty="0">
                <a:solidFill>
                  <a:srgbClr val="1B1F3B"/>
                </a:solidFill>
                <a:latin typeface="Calibri" pitchFamily="34" charset="0"/>
              </a:rPr>
              <a:t>Environments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Which environments exist today (DEV → QA → UAT → Pre-Prod → PROD) and who owns each.</a:t>
            </a:r>
          </a:p>
        </p:txBody>
      </p:sp>
      <p:sp>
        <p:nvSpPr>
          <p:cNvPr id="26" name="Shape"/>
          <p:cNvSpPr/>
          <p:nvPr/>
        </p:nvSpPr>
        <p:spPr>
          <a:xfrm>
            <a:off x="4235526" y="1914704"/>
            <a:ext cx="3706000" cy="1830000"/>
          </a:xfrm>
          <a:prstGeom prst="roundRect">
            <a:avLst>
              <a:gd name="adj" fmla="val 5500"/>
            </a:avLst>
          </a:prstGeom>
          <a:solidFill>
            <a:srgbClr val="E6ECFB"/>
          </a:solidFill>
          <a:ln w="12700">
            <a:solidFill>
              <a:srgbClr val="2C4C9B"/>
            </a:solidFill>
            <a:prstDash val="solid"/>
          </a:ln>
          <a:effectLst>
            <a:outerShdw blurRad="90000" dist="25000" dir="5400000" rotWithShape="0">
              <a:srgbClr val="1B1F3B">
                <a:alpha val="10000"/>
              </a:srgbClr>
            </a:outerShdw>
          </a:effectLst>
        </p:spPr>
        <p:txBody>
          <a:bodyPr/>
          <a:lstStyle/>
          <a:p>
            <a:endParaRPr/>
          </a:p>
        </p:txBody>
      </p:sp>
      <p:sp>
        <p:nvSpPr>
          <p:cNvPr id="27" name="Circle"/>
          <p:cNvSpPr/>
          <p:nvPr/>
        </p:nvSpPr>
        <p:spPr>
          <a:xfrm>
            <a:off x="4365526" y="2044704"/>
            <a:ext cx="300000" cy="300000"/>
          </a:xfrm>
          <a:prstGeom prst="ellipse">
            <a:avLst/>
          </a:prstGeom>
          <a:solidFill>
            <a:srgbClr val="2C4C9B"/>
          </a:solidFill>
          <a:ln/>
        </p:spPr>
        <p:txBody>
          <a:bodyPr anchor="ctr"/>
          <a:lstStyle/>
          <a:p>
            <a:pPr algn="ctr">
              <a:buNone/>
            </a:pPr>
            <a:r>
              <a:rPr lang="en-US" sz="1100" b="1" dirty="0">
                <a:solidFill>
                  <a:srgbClr val="FFFFFF"/>
                </a:solidFill>
                <a:latin typeface="Calibri"/>
              </a:rPr>
              <a:t>2</a:t>
            </a:r>
          </a:p>
        </p:txBody>
      </p:sp>
      <p:sp>
        <p:nvSpPr>
          <p:cNvPr id="28" name="TB"/>
          <p:cNvSpPr>
            <a:spLocks noGrp="1"/>
          </p:cNvSpPr>
          <p:nvPr/>
        </p:nvSpPr>
        <p:spPr>
          <a:xfrm>
            <a:off x="4755526" y="2029704"/>
            <a:ext cx="3056000" cy="330000"/>
          </a:xfrm>
          <a:prstGeom prst="rect">
            <a:avLst/>
          </a:prstGeom>
          <a:noFill/>
          <a:ln/>
        </p:spPr>
        <p:txBody>
          <a:bodyPr wrap="square" lIns="0" tIns="0" rIns="0" bIns="0" rtlCol="0" anchor="ctr"/>
          <a:lstStyle/>
          <a:p>
            <a:pPr marL="0" indent="0" algn="l">
              <a:buNone/>
            </a:pPr>
            <a:r>
              <a:rPr lang="en-US" sz="1050" b="1" i="0" dirty="0">
                <a:solidFill>
                  <a:srgbClr val="2C4C9B"/>
                </a:solidFill>
                <a:latin typeface="Calibri" pitchFamily="34" charset="0"/>
              </a:rPr>
              <a:t>CI/CD Pipelines</a:t>
            </a:r>
          </a:p>
        </p:txBody>
      </p:sp>
      <p:sp>
        <p:nvSpPr>
          <p:cNvPr id="29" name="Div"/>
          <p:cNvSpPr/>
          <p:nvPr/>
        </p:nvSpPr>
        <p:spPr>
          <a:xfrm>
            <a:off x="4365526" y="2434704"/>
            <a:ext cx="3446000" cy="0"/>
          </a:xfrm>
          <a:prstGeom prst="line">
            <a:avLst/>
          </a:prstGeom>
          <a:ln w="4000">
            <a:solidFill>
              <a:srgbClr val="2C4C9B"/>
            </a:solidFill>
          </a:ln>
        </p:spPr>
        <p:txBody>
          <a:bodyPr/>
          <a:lstStyle/>
          <a:p>
            <a:endParaRPr/>
          </a:p>
        </p:txBody>
      </p:sp>
      <p:sp>
        <p:nvSpPr>
          <p:cNvPr id="30" name="BulletBox"/>
          <p:cNvSpPr/>
          <p:nvPr/>
        </p:nvSpPr>
        <p:spPr>
          <a:xfrm>
            <a:off x="4365526" y="2504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Tooling &amp; Inventory</a:t>
            </a:r>
          </a:p>
          <a:p>
            <a:pPr marL="137160" indent="-137160">
              <a:lnSpc>
                <a:spcPct val="106000"/>
              </a:lnSpc>
              <a:spcBef>
                <a:spcPts val="100"/>
              </a:spcBef>
              <a:buFont typeface="Arial" charset="0"/>
              <a:buChar char="•"/>
            </a:pPr>
            <a:r>
              <a:rPr lang="en-US" sz="850" dirty="0">
                <a:solidFill>
                  <a:srgbClr val="5B6584"/>
                </a:solidFill>
                <a:latin typeface="Calibri" pitchFamily="34" charset="0"/>
              </a:rPr>
              <a:t>CI/CD engine in use — Azure DevOps, GitHub Actions, Jenkins, GitLab CI — and total pipeline count.</a:t>
            </a:r>
          </a:p>
          <a:p>
            <a:pPr marL="137160" indent="-137160">
              <a:lnSpc>
                <a:spcPct val="106000"/>
              </a:lnSpc>
              <a:spcBef>
                <a:spcPts val="100"/>
              </a:spcBef>
              <a:buFont typeface="Arial" charset="0"/>
              <a:buChar char="•"/>
            </a:pPr>
            <a:r>
              <a:rPr lang="en-US" sz="850" dirty="0">
                <a:solidFill>
                  <a:srgbClr val="5B6584"/>
                </a:solidFill>
                <a:latin typeface="Calibri" pitchFamily="34" charset="0"/>
              </a:rPr>
              <a:t>Pipeline stages per app: build, test, deploy, smoke test, rollback.</a:t>
            </a:r>
          </a:p>
          <a:p>
            <a:pPr marL="0" indent="0">
              <a:spcBef>
                <a:spcPts val="420"/>
              </a:spcBef>
              <a:buNone/>
            </a:pPr>
            <a:r>
              <a:rPr lang="en-US" sz="950" b="1" dirty="0">
                <a:solidFill>
                  <a:srgbClr val="1B1F3B"/>
                </a:solidFill>
                <a:latin typeface="Calibri" pitchFamily="34" charset="0"/>
              </a:rPr>
              <a:t>Trigger &amp; Branching</a:t>
            </a:r>
          </a:p>
          <a:p>
            <a:pPr marL="137160" indent="-137160">
              <a:lnSpc>
                <a:spcPct val="106000"/>
              </a:lnSpc>
              <a:spcBef>
                <a:spcPts val="100"/>
              </a:spcBef>
              <a:buFont typeface="Arial" charset="0"/>
              <a:buChar char="•"/>
            </a:pPr>
            <a:r>
              <a:rPr lang="en-US" sz="850" dirty="0">
                <a:solidFill>
                  <a:srgbClr val="5B6584"/>
                </a:solidFill>
                <a:latin typeface="Calibri" pitchFamily="34" charset="0"/>
              </a:rPr>
              <a:t>How pipelines trigger and which branch maps to which environment.</a:t>
            </a:r>
          </a:p>
        </p:txBody>
      </p:sp>
      <p:sp>
        <p:nvSpPr>
          <p:cNvPr id="31" name="Shape"/>
          <p:cNvSpPr/>
          <p:nvPr/>
        </p:nvSpPr>
        <p:spPr>
          <a:xfrm>
            <a:off x="8038526" y="1914704"/>
            <a:ext cx="3706000" cy="1830000"/>
          </a:xfrm>
          <a:prstGeom prst="roundRect">
            <a:avLst>
              <a:gd name="adj" fmla="val 5500"/>
            </a:avLst>
          </a:prstGeom>
          <a:solidFill>
            <a:srgbClr val="F1E7FA"/>
          </a:solidFill>
          <a:ln w="12700">
            <a:solidFill>
              <a:srgbClr val="7A3FB0"/>
            </a:solidFill>
            <a:prstDash val="solid"/>
          </a:ln>
          <a:effectLst>
            <a:outerShdw blurRad="90000" dist="25000" dir="5400000" rotWithShape="0">
              <a:srgbClr val="1B1F3B">
                <a:alpha val="10000"/>
              </a:srgbClr>
            </a:outerShdw>
          </a:effectLst>
        </p:spPr>
        <p:txBody>
          <a:bodyPr/>
          <a:lstStyle/>
          <a:p>
            <a:endParaRPr/>
          </a:p>
        </p:txBody>
      </p:sp>
      <p:sp>
        <p:nvSpPr>
          <p:cNvPr id="32" name="Circle"/>
          <p:cNvSpPr/>
          <p:nvPr/>
        </p:nvSpPr>
        <p:spPr>
          <a:xfrm>
            <a:off x="8168526" y="2044704"/>
            <a:ext cx="300000" cy="300000"/>
          </a:xfrm>
          <a:prstGeom prst="ellipse">
            <a:avLst/>
          </a:prstGeom>
          <a:solidFill>
            <a:srgbClr val="7A3FB0"/>
          </a:solidFill>
          <a:ln/>
        </p:spPr>
        <p:txBody>
          <a:bodyPr anchor="ctr"/>
          <a:lstStyle/>
          <a:p>
            <a:pPr algn="ctr">
              <a:buNone/>
            </a:pPr>
            <a:r>
              <a:rPr lang="en-US" sz="1100" b="1" dirty="0">
                <a:solidFill>
                  <a:srgbClr val="FFFFFF"/>
                </a:solidFill>
                <a:latin typeface="Calibri"/>
              </a:rPr>
              <a:t>3</a:t>
            </a:r>
          </a:p>
        </p:txBody>
      </p:sp>
      <p:sp>
        <p:nvSpPr>
          <p:cNvPr id="33" name="TB"/>
          <p:cNvSpPr>
            <a:spLocks noGrp="1"/>
          </p:cNvSpPr>
          <p:nvPr/>
        </p:nvSpPr>
        <p:spPr>
          <a:xfrm>
            <a:off x="8558526" y="2029704"/>
            <a:ext cx="3056000" cy="330000"/>
          </a:xfrm>
          <a:prstGeom prst="rect">
            <a:avLst/>
          </a:prstGeom>
          <a:noFill/>
          <a:ln/>
        </p:spPr>
        <p:txBody>
          <a:bodyPr wrap="square" lIns="0" tIns="0" rIns="0" bIns="0" rtlCol="0" anchor="ctr"/>
          <a:lstStyle/>
          <a:p>
            <a:pPr marL="0" indent="0" algn="l">
              <a:buNone/>
            </a:pPr>
            <a:r>
              <a:rPr lang="en-US" sz="1050" b="1" i="0" dirty="0">
                <a:solidFill>
                  <a:srgbClr val="7A3FB0"/>
                </a:solidFill>
                <a:latin typeface="Calibri" pitchFamily="34" charset="0"/>
              </a:rPr>
              <a:t>Ticketing &amp; ITSM</a:t>
            </a:r>
          </a:p>
        </p:txBody>
      </p:sp>
      <p:sp>
        <p:nvSpPr>
          <p:cNvPr id="34" name="Div"/>
          <p:cNvSpPr/>
          <p:nvPr/>
        </p:nvSpPr>
        <p:spPr>
          <a:xfrm>
            <a:off x="8168526" y="2434704"/>
            <a:ext cx="3446000" cy="0"/>
          </a:xfrm>
          <a:prstGeom prst="line">
            <a:avLst/>
          </a:prstGeom>
          <a:ln w="4000">
            <a:solidFill>
              <a:srgbClr val="7A3FB0"/>
            </a:solidFill>
          </a:ln>
        </p:spPr>
        <p:txBody>
          <a:bodyPr/>
          <a:lstStyle/>
          <a:p>
            <a:endParaRPr/>
          </a:p>
        </p:txBody>
      </p:sp>
      <p:sp>
        <p:nvSpPr>
          <p:cNvPr id="35" name="BulletBox"/>
          <p:cNvSpPr/>
          <p:nvPr/>
        </p:nvSpPr>
        <p:spPr>
          <a:xfrm>
            <a:off x="8168526" y="2504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Ticketing Tool</a:t>
            </a:r>
          </a:p>
          <a:p>
            <a:pPr marL="137160" indent="-137160">
              <a:lnSpc>
                <a:spcPct val="106000"/>
              </a:lnSpc>
              <a:spcBef>
                <a:spcPts val="100"/>
              </a:spcBef>
              <a:buFont typeface="Arial" charset="0"/>
              <a:buChar char="•"/>
            </a:pPr>
            <a:r>
              <a:rPr lang="en-US" sz="850" dirty="0">
                <a:solidFill>
                  <a:srgbClr val="5B6584"/>
                </a:solidFill>
                <a:latin typeface="Calibri" pitchFamily="34" charset="0"/>
              </a:rPr>
              <a:t>ITSM platform in use — ServiceNow, Jira, Remedy — and how change requests are raised today.</a:t>
            </a:r>
          </a:p>
          <a:p>
            <a:pPr marL="137160" indent="-137160">
              <a:lnSpc>
                <a:spcPct val="106000"/>
              </a:lnSpc>
              <a:spcBef>
                <a:spcPts val="100"/>
              </a:spcBef>
              <a:buFont typeface="Arial" charset="0"/>
              <a:buChar char="•"/>
            </a:pPr>
            <a:r>
              <a:rPr lang="en-US" sz="850" dirty="0">
                <a:solidFill>
                  <a:srgbClr val="5B6584"/>
                </a:solidFill>
                <a:latin typeface="Calibri" pitchFamily="34" charset="0"/>
              </a:rPr>
              <a:t>Change request template: required fields, mandatory approvers, SLA timers.</a:t>
            </a:r>
          </a:p>
          <a:p>
            <a:pPr marL="0" indent="0">
              <a:spcBef>
                <a:spcPts val="420"/>
              </a:spcBef>
              <a:buNone/>
            </a:pPr>
            <a:r>
              <a:rPr lang="en-US" sz="950" b="1" dirty="0">
                <a:solidFill>
                  <a:srgbClr val="1B1F3B"/>
                </a:solidFill>
                <a:latin typeface="Calibri" pitchFamily="34" charset="0"/>
              </a:rPr>
              <a:t>Change Board</a:t>
            </a:r>
          </a:p>
          <a:p>
            <a:pPr marL="137160" indent="-137160">
              <a:lnSpc>
                <a:spcPct val="106000"/>
              </a:lnSpc>
              <a:spcBef>
                <a:spcPts val="100"/>
              </a:spcBef>
              <a:buFont typeface="Arial" charset="0"/>
              <a:buChar char="•"/>
            </a:pPr>
            <a:r>
              <a:rPr lang="en-US" sz="850" dirty="0">
                <a:solidFill>
                  <a:srgbClr val="5B6584"/>
                </a:solidFill>
                <a:latin typeface="Calibri" pitchFamily="34" charset="0"/>
              </a:rPr>
              <a:t>CAB frequency, emergency change path, and ticket-to-release traceability.</a:t>
            </a:r>
          </a:p>
        </p:txBody>
      </p:sp>
      <p:sp>
        <p:nvSpPr>
          <p:cNvPr id="36" name="Shape"/>
          <p:cNvSpPr/>
          <p:nvPr/>
        </p:nvSpPr>
        <p:spPr>
          <a:xfrm>
            <a:off x="432526" y="3841704"/>
            <a:ext cx="3706000" cy="1830000"/>
          </a:xfrm>
          <a:prstGeom prst="roundRect">
            <a:avLst>
              <a:gd name="adj" fmla="val 5500"/>
            </a:avLst>
          </a:prstGeom>
          <a:solidFill>
            <a:srgbClr val="FBF0DE"/>
          </a:solidFill>
          <a:ln w="12700">
            <a:solidFill>
              <a:srgbClr val="B8790F"/>
            </a:solidFill>
            <a:prstDash val="solid"/>
          </a:ln>
          <a:effectLst>
            <a:outerShdw blurRad="90000" dist="25000" dir="5400000" rotWithShape="0">
              <a:srgbClr val="1B1F3B">
                <a:alpha val="10000"/>
              </a:srgbClr>
            </a:outerShdw>
          </a:effectLst>
        </p:spPr>
        <p:txBody>
          <a:bodyPr/>
          <a:lstStyle/>
          <a:p>
            <a:endParaRPr/>
          </a:p>
        </p:txBody>
      </p:sp>
      <p:sp>
        <p:nvSpPr>
          <p:cNvPr id="37" name="Circle"/>
          <p:cNvSpPr/>
          <p:nvPr/>
        </p:nvSpPr>
        <p:spPr>
          <a:xfrm>
            <a:off x="562526" y="3971704"/>
            <a:ext cx="300000" cy="300000"/>
          </a:xfrm>
          <a:prstGeom prst="ellipse">
            <a:avLst/>
          </a:prstGeom>
          <a:solidFill>
            <a:srgbClr val="B8790F"/>
          </a:solidFill>
          <a:ln/>
        </p:spPr>
        <p:txBody>
          <a:bodyPr anchor="ctr"/>
          <a:lstStyle/>
          <a:p>
            <a:pPr algn="ctr">
              <a:buNone/>
            </a:pPr>
            <a:r>
              <a:rPr lang="en-US" sz="1100" b="1" dirty="0">
                <a:solidFill>
                  <a:srgbClr val="FFFFFF"/>
                </a:solidFill>
                <a:latin typeface="Calibri"/>
              </a:rPr>
              <a:t>4</a:t>
            </a:r>
          </a:p>
        </p:txBody>
      </p:sp>
      <p:sp>
        <p:nvSpPr>
          <p:cNvPr id="38" name="TB"/>
          <p:cNvSpPr>
            <a:spLocks noGrp="1"/>
          </p:cNvSpPr>
          <p:nvPr/>
        </p:nvSpPr>
        <p:spPr>
          <a:xfrm>
            <a:off x="952526" y="3956704"/>
            <a:ext cx="3056000" cy="330000"/>
          </a:xfrm>
          <a:prstGeom prst="rect">
            <a:avLst/>
          </a:prstGeom>
          <a:noFill/>
          <a:ln/>
        </p:spPr>
        <p:txBody>
          <a:bodyPr wrap="square" lIns="0" tIns="0" rIns="0" bIns="0" rtlCol="0" anchor="ctr"/>
          <a:lstStyle/>
          <a:p>
            <a:pPr marL="0" indent="0" algn="l">
              <a:buNone/>
            </a:pPr>
            <a:r>
              <a:rPr lang="en-US" sz="1050" b="1" i="0" dirty="0">
                <a:solidFill>
                  <a:srgbClr val="B8790F"/>
                </a:solidFill>
                <a:latin typeface="Calibri" pitchFamily="34" charset="0"/>
              </a:rPr>
              <a:t>Approval Stages</a:t>
            </a:r>
          </a:p>
        </p:txBody>
      </p:sp>
      <p:sp>
        <p:nvSpPr>
          <p:cNvPr id="39" name="Div"/>
          <p:cNvSpPr/>
          <p:nvPr/>
        </p:nvSpPr>
        <p:spPr>
          <a:xfrm>
            <a:off x="562526" y="4361704"/>
            <a:ext cx="3446000" cy="0"/>
          </a:xfrm>
          <a:prstGeom prst="line">
            <a:avLst/>
          </a:prstGeom>
          <a:ln w="4000">
            <a:solidFill>
              <a:srgbClr val="B8790F"/>
            </a:solidFill>
          </a:ln>
        </p:spPr>
        <p:txBody>
          <a:bodyPr/>
          <a:lstStyle/>
          <a:p>
            <a:endParaRPr/>
          </a:p>
        </p:txBody>
      </p:sp>
      <p:sp>
        <p:nvSpPr>
          <p:cNvPr id="40" name="BulletBox"/>
          <p:cNvSpPr/>
          <p:nvPr/>
        </p:nvSpPr>
        <p:spPr>
          <a:xfrm>
            <a:off x="562526" y="4431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Current Approval Chain</a:t>
            </a:r>
          </a:p>
          <a:p>
            <a:pPr marL="137160" indent="-137160">
              <a:lnSpc>
                <a:spcPct val="106000"/>
              </a:lnSpc>
              <a:spcBef>
                <a:spcPts val="100"/>
              </a:spcBef>
              <a:buFont typeface="Arial" charset="0"/>
              <a:buChar char="•"/>
            </a:pPr>
            <a:r>
              <a:rPr lang="en-US" sz="850" dirty="0">
                <a:solidFill>
                  <a:srgbClr val="5B6584"/>
                </a:solidFill>
                <a:latin typeface="Calibri" pitchFamily="34" charset="0"/>
              </a:rPr>
              <a:t>Approval stages per environment — who approves, in what order, and any conditional gates.</a:t>
            </a:r>
          </a:p>
          <a:p>
            <a:pPr marL="137160" indent="-137160">
              <a:lnSpc>
                <a:spcPct val="106000"/>
              </a:lnSpc>
              <a:spcBef>
                <a:spcPts val="100"/>
              </a:spcBef>
              <a:buFont typeface="Arial" charset="0"/>
              <a:buChar char="•"/>
            </a:pPr>
            <a:r>
              <a:rPr lang="en-US" sz="850" dirty="0">
                <a:solidFill>
                  <a:srgbClr val="5B6584"/>
                </a:solidFill>
                <a:latin typeface="Calibri" pitchFamily="34" charset="0"/>
              </a:rPr>
              <a:t>Role-based approvals: Dev Lead, QA, Architect, Release Manager, CAB, Business Owner.</a:t>
            </a:r>
          </a:p>
          <a:p>
            <a:pPr marL="0" indent="0">
              <a:spcBef>
                <a:spcPts val="420"/>
              </a:spcBef>
              <a:buNone/>
            </a:pPr>
            <a:r>
              <a:rPr lang="en-US" sz="950" b="1" dirty="0">
                <a:solidFill>
                  <a:srgbClr val="1B1F3B"/>
                </a:solidFill>
                <a:latin typeface="Calibri" pitchFamily="34" charset="0"/>
              </a:rPr>
              <a:t>SLA &amp; Escalation</a:t>
            </a:r>
          </a:p>
          <a:p>
            <a:pPr marL="137160" indent="-137160">
              <a:lnSpc>
                <a:spcPct val="106000"/>
              </a:lnSpc>
              <a:spcBef>
                <a:spcPts val="100"/>
              </a:spcBef>
              <a:buFont typeface="Arial" charset="0"/>
              <a:buChar char="•"/>
            </a:pPr>
            <a:r>
              <a:rPr lang="en-US" sz="850" dirty="0">
                <a:solidFill>
                  <a:srgbClr val="5B6584"/>
                </a:solidFill>
                <a:latin typeface="Calibri" pitchFamily="34" charset="0"/>
              </a:rPr>
              <a:t>SLA per stage and the escalation path when an approver is unavailable.</a:t>
            </a:r>
          </a:p>
        </p:txBody>
      </p:sp>
      <p:sp>
        <p:nvSpPr>
          <p:cNvPr id="41" name="Shape"/>
          <p:cNvSpPr/>
          <p:nvPr/>
        </p:nvSpPr>
        <p:spPr>
          <a:xfrm>
            <a:off x="4235526" y="3841704"/>
            <a:ext cx="3706000" cy="1830000"/>
          </a:xfrm>
          <a:prstGeom prst="roundRect">
            <a:avLst>
              <a:gd name="adj" fmla="val 5500"/>
            </a:avLst>
          </a:prstGeom>
          <a:solidFill>
            <a:srgbClr val="E2F1F6"/>
          </a:solidFill>
          <a:ln w="12700">
            <a:solidFill>
              <a:srgbClr val="1F6F8B"/>
            </a:solidFill>
            <a:prstDash val="solid"/>
          </a:ln>
          <a:effectLst>
            <a:outerShdw blurRad="90000" dist="25000" dir="5400000" rotWithShape="0">
              <a:srgbClr val="1B1F3B">
                <a:alpha val="10000"/>
              </a:srgbClr>
            </a:outerShdw>
          </a:effectLst>
        </p:spPr>
        <p:txBody>
          <a:bodyPr/>
          <a:lstStyle/>
          <a:p>
            <a:endParaRPr/>
          </a:p>
        </p:txBody>
      </p:sp>
      <p:sp>
        <p:nvSpPr>
          <p:cNvPr id="42" name="Circle"/>
          <p:cNvSpPr/>
          <p:nvPr/>
        </p:nvSpPr>
        <p:spPr>
          <a:xfrm>
            <a:off x="4365526" y="3971704"/>
            <a:ext cx="300000" cy="300000"/>
          </a:xfrm>
          <a:prstGeom prst="ellipse">
            <a:avLst/>
          </a:prstGeom>
          <a:solidFill>
            <a:srgbClr val="1F6F8B"/>
          </a:solidFill>
          <a:ln/>
        </p:spPr>
        <p:txBody>
          <a:bodyPr anchor="ctr"/>
          <a:lstStyle/>
          <a:p>
            <a:pPr algn="ctr">
              <a:buNone/>
            </a:pPr>
            <a:r>
              <a:rPr lang="en-US" sz="1100" b="1" dirty="0">
                <a:solidFill>
                  <a:srgbClr val="FFFFFF"/>
                </a:solidFill>
                <a:latin typeface="Calibri"/>
              </a:rPr>
              <a:t>5</a:t>
            </a:r>
          </a:p>
        </p:txBody>
      </p:sp>
      <p:sp>
        <p:nvSpPr>
          <p:cNvPr id="43" name="TB"/>
          <p:cNvSpPr>
            <a:spLocks noGrp="1"/>
          </p:cNvSpPr>
          <p:nvPr/>
        </p:nvSpPr>
        <p:spPr>
          <a:xfrm>
            <a:off x="4755526" y="3956704"/>
            <a:ext cx="3056000" cy="330000"/>
          </a:xfrm>
          <a:prstGeom prst="rect">
            <a:avLst/>
          </a:prstGeom>
          <a:noFill/>
          <a:ln/>
        </p:spPr>
        <p:txBody>
          <a:bodyPr wrap="square" lIns="0" tIns="0" rIns="0" bIns="0" rtlCol="0" anchor="ctr"/>
          <a:lstStyle/>
          <a:p>
            <a:pPr marL="0" indent="0" algn="l">
              <a:buNone/>
            </a:pPr>
            <a:r>
              <a:rPr lang="en-US" sz="1050" b="1" i="0" dirty="0">
                <a:solidFill>
                  <a:srgbClr val="1F6F8B"/>
                </a:solidFill>
                <a:latin typeface="Calibri" pitchFamily="34" charset="0"/>
              </a:rPr>
              <a:t>Release Management Today</a:t>
            </a:r>
          </a:p>
        </p:txBody>
      </p:sp>
      <p:sp>
        <p:nvSpPr>
          <p:cNvPr id="44" name="Div"/>
          <p:cNvSpPr/>
          <p:nvPr/>
        </p:nvSpPr>
        <p:spPr>
          <a:xfrm>
            <a:off x="4365526" y="4361704"/>
            <a:ext cx="3446000" cy="0"/>
          </a:xfrm>
          <a:prstGeom prst="line">
            <a:avLst/>
          </a:prstGeom>
          <a:ln w="4000">
            <a:solidFill>
              <a:srgbClr val="1F6F8B"/>
            </a:solidFill>
          </a:ln>
        </p:spPr>
        <p:txBody>
          <a:bodyPr/>
          <a:lstStyle/>
          <a:p>
            <a:endParaRPr/>
          </a:p>
        </p:txBody>
      </p:sp>
      <p:sp>
        <p:nvSpPr>
          <p:cNvPr id="45" name="BulletBox"/>
          <p:cNvSpPr/>
          <p:nvPr/>
        </p:nvSpPr>
        <p:spPr>
          <a:xfrm>
            <a:off x="4365526" y="4431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Current Process</a:t>
            </a:r>
          </a:p>
          <a:p>
            <a:pPr marL="137160" indent="-137160">
              <a:lnSpc>
                <a:spcPct val="106000"/>
              </a:lnSpc>
              <a:spcBef>
                <a:spcPts val="100"/>
              </a:spcBef>
              <a:buFont typeface="Arial" charset="0"/>
              <a:buChar char="•"/>
            </a:pPr>
            <a:r>
              <a:rPr lang="en-US" sz="850" dirty="0">
                <a:solidFill>
                  <a:srgbClr val="5B6584"/>
                </a:solidFill>
                <a:latin typeface="Calibri" pitchFamily="34" charset="0"/>
              </a:rPr>
              <a:t>How releases are planned, scheduled, and communicated across teams today.</a:t>
            </a:r>
          </a:p>
          <a:p>
            <a:pPr marL="137160" indent="-137160">
              <a:lnSpc>
                <a:spcPct val="106000"/>
              </a:lnSpc>
              <a:spcBef>
                <a:spcPts val="100"/>
              </a:spcBef>
              <a:buFont typeface="Arial" charset="0"/>
              <a:buChar char="•"/>
            </a:pPr>
            <a:r>
              <a:rPr lang="en-US" sz="850" dirty="0">
                <a:solidFill>
                  <a:srgbClr val="5B6584"/>
                </a:solidFill>
                <a:latin typeface="Calibri" pitchFamily="34" charset="0"/>
              </a:rPr>
              <a:t>Release manager role, runbook format, and current rollback procedure.</a:t>
            </a:r>
          </a:p>
          <a:p>
            <a:pPr marL="0" indent="0">
              <a:spcBef>
                <a:spcPts val="420"/>
              </a:spcBef>
              <a:buNone/>
            </a:pPr>
            <a:r>
              <a:rPr lang="en-US" sz="950" b="1" dirty="0">
                <a:solidFill>
                  <a:srgbClr val="1B1F3B"/>
                </a:solidFill>
                <a:latin typeface="Calibri" pitchFamily="34" charset="0"/>
              </a:rPr>
              <a:t>Pain Points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Manual steps, bottlenecks, and recurring failures DaaS is expected to address.</a:t>
            </a:r>
          </a:p>
        </p:txBody>
      </p:sp>
      <p:sp>
        <p:nvSpPr>
          <p:cNvPr id="46" name="Shape"/>
          <p:cNvSpPr/>
          <p:nvPr/>
        </p:nvSpPr>
        <p:spPr>
          <a:xfrm>
            <a:off x="8038526" y="3841704"/>
            <a:ext cx="3706000" cy="1830000"/>
          </a:xfrm>
          <a:prstGeom prst="roundRect">
            <a:avLst>
              <a:gd name="adj" fmla="val 5500"/>
            </a:avLst>
          </a:prstGeom>
          <a:solidFill>
            <a:srgbClr val="FAE7EF"/>
          </a:solidFill>
          <a:ln w="12700">
            <a:solidFill>
              <a:srgbClr val="AA3E6E"/>
            </a:solidFill>
            <a:prstDash val="solid"/>
          </a:ln>
          <a:effectLst>
            <a:outerShdw blurRad="90000" dist="25000" dir="5400000" rotWithShape="0">
              <a:srgbClr val="1B1F3B">
                <a:alpha val="10000"/>
              </a:srgbClr>
            </a:outerShdw>
          </a:effectLst>
        </p:spPr>
        <p:txBody>
          <a:bodyPr/>
          <a:lstStyle/>
          <a:p>
            <a:endParaRPr/>
          </a:p>
        </p:txBody>
      </p:sp>
      <p:sp>
        <p:nvSpPr>
          <p:cNvPr id="47" name="Circle"/>
          <p:cNvSpPr/>
          <p:nvPr/>
        </p:nvSpPr>
        <p:spPr>
          <a:xfrm>
            <a:off x="8168526" y="3971704"/>
            <a:ext cx="300000" cy="300000"/>
          </a:xfrm>
          <a:prstGeom prst="ellipse">
            <a:avLst/>
          </a:prstGeom>
          <a:solidFill>
            <a:srgbClr val="AA3E6E"/>
          </a:solidFill>
          <a:ln/>
        </p:spPr>
        <p:txBody>
          <a:bodyPr anchor="ctr"/>
          <a:lstStyle/>
          <a:p>
            <a:pPr algn="ctr">
              <a:buNone/>
            </a:pPr>
            <a:r>
              <a:rPr lang="en-US" sz="1100" b="1" dirty="0">
                <a:solidFill>
                  <a:srgbClr val="FFFFFF"/>
                </a:solidFill>
                <a:latin typeface="Calibri"/>
              </a:rPr>
              <a:t>6</a:t>
            </a:r>
          </a:p>
        </p:txBody>
      </p:sp>
      <p:sp>
        <p:nvSpPr>
          <p:cNvPr id="48" name="TB"/>
          <p:cNvSpPr>
            <a:spLocks noGrp="1"/>
          </p:cNvSpPr>
          <p:nvPr/>
        </p:nvSpPr>
        <p:spPr>
          <a:xfrm>
            <a:off x="8558526" y="3956704"/>
            <a:ext cx="3056000" cy="330000"/>
          </a:xfrm>
          <a:prstGeom prst="rect">
            <a:avLst/>
          </a:prstGeom>
          <a:noFill/>
          <a:ln/>
        </p:spPr>
        <p:txBody>
          <a:bodyPr wrap="square" lIns="0" tIns="0" rIns="0" bIns="0" rtlCol="0" anchor="ctr"/>
          <a:lstStyle/>
          <a:p>
            <a:pPr marL="0" indent="0" algn="l">
              <a:buNone/>
            </a:pPr>
            <a:r>
              <a:rPr lang="en-US" sz="1050" b="1" i="0" dirty="0">
                <a:solidFill>
                  <a:srgbClr val="AA3E6E"/>
                </a:solidFill>
                <a:latin typeface="Calibri" pitchFamily="34" charset="0"/>
              </a:rPr>
              <a:t>Notifications &amp; Comms</a:t>
            </a:r>
          </a:p>
        </p:txBody>
      </p:sp>
      <p:sp>
        <p:nvSpPr>
          <p:cNvPr id="49" name="Div"/>
          <p:cNvSpPr/>
          <p:nvPr/>
        </p:nvSpPr>
        <p:spPr>
          <a:xfrm>
            <a:off x="8168526" y="4361704"/>
            <a:ext cx="3446000" cy="0"/>
          </a:xfrm>
          <a:prstGeom prst="line">
            <a:avLst/>
          </a:prstGeom>
          <a:ln w="4000">
            <a:solidFill>
              <a:srgbClr val="AA3E6E"/>
            </a:solidFill>
          </a:ln>
        </p:spPr>
        <p:txBody>
          <a:bodyPr/>
          <a:lstStyle/>
          <a:p>
            <a:endParaRPr/>
          </a:p>
        </p:txBody>
      </p:sp>
      <p:sp>
        <p:nvSpPr>
          <p:cNvPr id="50" name="BulletBox"/>
          <p:cNvSpPr/>
          <p:nvPr/>
        </p:nvSpPr>
        <p:spPr>
          <a:xfrm>
            <a:off x="8168526" y="4431704"/>
            <a:ext cx="3446000" cy="1180000"/>
          </a:xfrm>
          <a:prstGeom prst="rect">
            <a:avLst/>
          </a:prstGeom>
          <a:noFill/>
          <a:ln/>
        </p:spPr>
        <p:txBody>
          <a:bodyPr wrap="square" lIns="0" tIns="0" rIns="0" bIns="0" rtlCol="0" anchor="t"/>
          <a:lstStyle/>
          <a:p>
            <a:pPr marL="0" indent="0">
              <a:spcBef>
                <a:spcPts val="0"/>
              </a:spcBef>
              <a:buNone/>
            </a:pPr>
            <a:r>
              <a:rPr lang="en-US" sz="950" b="1" dirty="0">
                <a:solidFill>
                  <a:srgbClr val="1B1F3B"/>
                </a:solidFill>
                <a:latin typeface="Calibri" pitchFamily="34" charset="0"/>
              </a:rPr>
              <a:t>Communication Channels</a:t>
            </a:r>
          </a:p>
          <a:p>
            <a:pPr marL="137160" indent="-137160">
              <a:lnSpc>
                <a:spcPct val="106000"/>
              </a:lnSpc>
              <a:spcBef>
                <a:spcPts val="100"/>
              </a:spcBef>
              <a:buFont typeface="Arial" charset="0"/>
              <a:buChar char="•"/>
            </a:pPr>
            <a:r>
              <a:rPr lang="en-US" sz="850" dirty="0">
                <a:solidFill>
                  <a:srgbClr val="5B6584"/>
                </a:solidFill>
                <a:latin typeface="Calibri" pitchFamily="34" charset="0"/>
              </a:rPr>
              <a:t>Existing channels — Teams, Slack, email — and who subscribes to release events.</a:t>
            </a:r>
          </a:p>
          <a:p>
            <a:pPr marL="137160" indent="-137160">
              <a:lnSpc>
                <a:spcPct val="106000"/>
              </a:lnSpc>
              <a:spcBef>
                <a:spcPts val="100"/>
              </a:spcBef>
              <a:buFont typeface="Arial" charset="0"/>
              <a:buChar char="•"/>
            </a:pPr>
            <a:r>
              <a:rPr lang="en-US" sz="850" dirty="0">
                <a:solidFill>
                  <a:srgbClr val="5B6584"/>
                </a:solidFill>
                <a:latin typeface="Calibri" pitchFamily="34" charset="0"/>
              </a:rPr>
              <a:t>Alert expectations for approvals, failures, and sign-off confirmations.</a:t>
            </a:r>
          </a:p>
          <a:p>
            <a:pPr marL="0" indent="0">
              <a:spcBef>
                <a:spcPts val="420"/>
              </a:spcBef>
              <a:buNone/>
            </a:pPr>
            <a:r>
              <a:rPr lang="en-US" sz="950" b="1" dirty="0">
                <a:solidFill>
                  <a:srgbClr val="1B1F3B"/>
                </a:solidFill>
                <a:latin typeface="Calibri" pitchFamily="34" charset="0"/>
              </a:rPr>
              <a:t>Reporting</a:t>
            </a:r>
          </a:p>
          <a:p>
            <a:pPr marL="137160" indent="-137160">
              <a:lnSpc>
                <a:spcPct val="106000"/>
              </a:lnSpc>
              <a:spcBef>
                <a:spcPts val="100"/>
              </a:spcBef>
              <a:buFont typeface="Arial" charset="0"/>
              <a:buChar char="•"/>
            </a:pPr>
            <a:r>
              <a:rPr lang="en-US" sz="850" dirty="0">
                <a:solidFill>
                  <a:srgbClr val="5B6584"/>
                </a:solidFill>
                <a:latin typeface="Calibri" pitchFamily="34" charset="0"/>
              </a:rPr>
              <a:t>Regulatory, audit, or management reporting expected after each release.</a:t>
            </a:r>
          </a:p>
        </p:txBody>
      </p:sp>
      <p:sp>
        <p:nvSpPr>
          <p:cNvPr id="51" name="Shape"/>
          <p:cNvSpPr/>
          <p:nvPr/>
        </p:nvSpPr>
        <p:spPr>
          <a:xfrm>
            <a:off x="442686" y="5924104"/>
            <a:ext cx="11007634" cy="480000"/>
          </a:xfrm>
          <a:prstGeom prst="roundRect">
            <a:avLst>
              <a:gd name="adj" fmla="val 5500"/>
            </a:avLst>
          </a:prstGeom>
          <a:solidFill>
            <a:srgbClr val="0F1B35"/>
          </a:solidFill>
          <a:ln/>
        </p:spPr>
        <p:txBody>
          <a:bodyPr/>
          <a:lstStyle/>
          <a:p>
            <a:endParaRPr/>
          </a:p>
        </p:txBody>
      </p:sp>
      <p:sp>
        <p:nvSpPr>
          <p:cNvPr id="52" name="TB"/>
          <p:cNvSpPr>
            <a:spLocks noGrp="1"/>
          </p:cNvSpPr>
          <p:nvPr/>
        </p:nvSpPr>
        <p:spPr>
          <a:xfrm>
            <a:off x="572686" y="5924104"/>
            <a:ext cx="10747634" cy="480000"/>
          </a:xfrm>
          <a:prstGeom prst="rect">
            <a:avLst/>
          </a:prstGeom>
          <a:noFill/>
          <a:ln/>
        </p:spPr>
        <p:txBody>
          <a:bodyPr wrap="square" lIns="0" tIns="0" rIns="0" bIns="0" rtlCol="0" anchor="ctr"/>
          <a:lstStyle/>
          <a:p>
            <a:pPr marL="0" indent="0" algn="l">
              <a:buNone/>
            </a:pPr>
            <a:r>
              <a:rPr lang="en-US" sz="950" b="0" i="0" dirty="0">
                <a:solidFill>
                  <a:srgbClr val="CADCFC"/>
                </a:solidFill>
                <a:latin typeface="Calibri" pitchFamily="34" charset="0"/>
              </a:rPr>
              <a:t>The Analyse phase runs once, before any integration begins. Its output — the Onboarding Blueprint — drives every subsequent Connect, Configure, and Run decision for that client.</a:t>
            </a:r>
          </a:p>
        </p:txBody>
      </p:sp>
      <p:sp>
        <p:nvSpPr>
          <p:cNvPr id="53" name="TB"/>
          <p:cNvSpPr>
            <a:spLocks noGrp="1"/>
          </p:cNvSpPr>
          <p:nvPr/>
        </p:nvSpPr>
        <p:spPr>
          <a:xfrm>
            <a:off x="548640" y="6519672"/>
            <a:ext cx="8229600" cy="274320"/>
          </a:xfrm>
          <a:prstGeom prst="rect">
            <a:avLst/>
          </a:prstGeom>
          <a:noFill/>
          <a:ln/>
        </p:spPr>
        <p:txBody>
          <a:bodyPr wrap="square" lIns="0" tIns="0" rIns="0" bIns="0" rtlCol="0" anchor="ctr"/>
          <a:lstStyle/>
          <a:p>
            <a:pPr marL="0" indent="0" algn="l">
              <a:buNone/>
            </a:pPr>
            <a:r>
              <a:rPr lang="en-US" sz="800" b="0" i="0">
                <a:solidFill>
                  <a:srgbClr val="5B6584"/>
                </a:solidFill>
                <a:latin typeface="Calibri"/>
                <a:ea typeface="Calibri"/>
                <a:cs typeface="Calibri"/>
              </a:rPr>
              <a:t>Deployment as a Service</a:t>
            </a:r>
          </a:p>
        </p:txBody>
      </p:sp>
      <p:sp>
        <p:nvSpPr>
          <p:cNvPr id="54" name="TB"/>
          <p:cNvSpPr>
            <a:spLocks noGrp="1"/>
          </p:cNvSpPr>
          <p:nvPr/>
        </p:nvSpPr>
        <p:spPr>
          <a:xfrm>
            <a:off x="11274552" y="6519672"/>
            <a:ext cx="457200" cy="274320"/>
          </a:xfrm>
          <a:prstGeom prst="rect">
            <a:avLst/>
          </a:prstGeom>
          <a:noFill/>
          <a:ln/>
        </p:spPr>
        <p:txBody>
          <a:bodyPr wrap="square" lIns="0" tIns="0" rIns="0" bIns="0" rtlCol="0" anchor="ctr"/>
          <a:lstStyle/>
          <a:p>
            <a:pPr marL="0" indent="0" algn="r">
              <a:buNone/>
            </a:pPr>
            <a:r>
              <a:rPr lang="en-US" sz="800" b="0" i="0" dirty="0">
                <a:solidFill>
                  <a:srgbClr val="5B6584"/>
                </a:solidFill>
                <a:latin typeface="Calibri" pitchFamily="34" charset="0"/>
              </a:rPr>
              <a:t>3</a:t>
            </a:r>
          </a:p>
        </p:txBody>
      </p:sp>
    </p:spTree>
    <p:extLst>
      <p:ext uri="{BB962C8B-B14F-4D97-AF65-F5344CB8AC3E}">
        <p14:creationId xmlns:p14="http://schemas.microsoft.com/office/powerpoint/2010/main" val="2791267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5" name="TB"/>
          <p:cNvSpPr>
            <a:spLocks noGrp="1"/>
          </p:cNvSpPr>
          <p:nvPr/>
        </p:nvSpPr>
        <p:spPr>
          <a:xfrm>
            <a:off x="0" y="0"/>
            <a:ext cx="12192000" cy="5050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rPr>
              <a:t>Two Steps to Onboard — Then Every Release Just Runs</a:t>
            </a:r>
          </a:p>
        </p:txBody>
      </p:sp>
      <p:sp>
        <p:nvSpPr>
          <p:cNvPr id="6" name="Shape"/>
          <p:cNvSpPr/>
          <p:nvPr/>
        </p:nvSpPr>
        <p:spPr>
          <a:xfrm>
            <a:off x="1932466" y="99834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7" name="TB"/>
          <p:cNvSpPr>
            <a:spLocks noGrp="1"/>
          </p:cNvSpPr>
          <p:nvPr/>
        </p:nvSpPr>
        <p:spPr>
          <a:xfrm>
            <a:off x="1932466" y="998340"/>
            <a:ext cx="1689115"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ANALYSE</a:t>
            </a:r>
          </a:p>
        </p:txBody>
      </p:sp>
      <p:sp>
        <p:nvSpPr>
          <p:cNvPr id="8" name="TB"/>
          <p:cNvSpPr>
            <a:spLocks noGrp="1"/>
          </p:cNvSpPr>
          <p:nvPr/>
        </p:nvSpPr>
        <p:spPr>
          <a:xfrm>
            <a:off x="3632466" y="998340"/>
            <a:ext cx="182880" cy="329184"/>
          </a:xfrm>
          <a:prstGeom prst="rect">
            <a:avLst/>
          </a:prstGeom>
          <a:noFill/>
          <a:ln/>
        </p:spPr>
        <p:txBody>
          <a:bodyPr wrap="square" lIns="0" tIns="0" rIns="0" bIns="0" rtlCol="0" anchor="ctr"/>
          <a:lstStyle/>
          <a:p>
            <a:pPr marL="0" indent="0" algn="ctr">
              <a:buNone/>
            </a:pPr>
            <a:r>
              <a:rPr lang="en-US" sz="1000" b="0" dirty="0">
                <a:solidFill>
                  <a:srgbClr val="CADCFC"/>
                </a:solidFill>
                <a:latin typeface="Calibri" pitchFamily="34" charset="0"/>
              </a:rPr>
              <a:t>→</a:t>
            </a:r>
          </a:p>
        </p:txBody>
      </p:sp>
      <p:sp>
        <p:nvSpPr>
          <p:cNvPr id="9" name="Shape"/>
          <p:cNvSpPr/>
          <p:nvPr/>
        </p:nvSpPr>
        <p:spPr>
          <a:xfrm>
            <a:off x="3778770" y="99834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10" name="TB"/>
          <p:cNvSpPr>
            <a:spLocks noGrp="1"/>
          </p:cNvSpPr>
          <p:nvPr/>
        </p:nvSpPr>
        <p:spPr>
          <a:xfrm>
            <a:off x="3778770" y="998340"/>
            <a:ext cx="1700000" cy="32918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rPr>
              <a:t>CONNECT</a:t>
            </a:r>
          </a:p>
        </p:txBody>
      </p:sp>
      <p:sp>
        <p:nvSpPr>
          <p:cNvPr id="11" name="TB"/>
          <p:cNvSpPr>
            <a:spLocks noGrp="1"/>
          </p:cNvSpPr>
          <p:nvPr/>
        </p:nvSpPr>
        <p:spPr>
          <a:xfrm>
            <a:off x="5478770" y="998340"/>
            <a:ext cx="182880" cy="329184"/>
          </a:xfrm>
          <a:prstGeom prst="rect">
            <a:avLst/>
          </a:prstGeom>
          <a:noFill/>
          <a:ln/>
        </p:spPr>
        <p:txBody>
          <a:bodyPr wrap="square" lIns="0" tIns="0" rIns="0" bIns="0" rtlCol="0" anchor="ctr"/>
          <a:lstStyle/>
          <a:p>
            <a:pPr marL="0" indent="0" algn="ctr">
              <a:buNone/>
            </a:pPr>
            <a:r>
              <a:rPr lang="en-US" sz="1000" b="0" dirty="0">
                <a:solidFill>
                  <a:srgbClr val="CADCFC"/>
                </a:solidFill>
                <a:latin typeface="Calibri" pitchFamily="34" charset="0"/>
              </a:rPr>
              <a:t>→</a:t>
            </a:r>
          </a:p>
        </p:txBody>
      </p:sp>
      <p:sp>
        <p:nvSpPr>
          <p:cNvPr id="12" name="Shape"/>
          <p:cNvSpPr/>
          <p:nvPr/>
        </p:nvSpPr>
        <p:spPr>
          <a:xfrm>
            <a:off x="5625074" y="99834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3" name="TB"/>
          <p:cNvSpPr>
            <a:spLocks noGrp="1"/>
          </p:cNvSpPr>
          <p:nvPr/>
        </p:nvSpPr>
        <p:spPr>
          <a:xfrm>
            <a:off x="5592417" y="99834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CONFIGURE</a:t>
            </a:r>
          </a:p>
        </p:txBody>
      </p:sp>
      <p:sp>
        <p:nvSpPr>
          <p:cNvPr id="14" name="TB"/>
          <p:cNvSpPr>
            <a:spLocks noGrp="1"/>
          </p:cNvSpPr>
          <p:nvPr/>
        </p:nvSpPr>
        <p:spPr>
          <a:xfrm>
            <a:off x="7325074" y="998340"/>
            <a:ext cx="182880" cy="329184"/>
          </a:xfrm>
          <a:prstGeom prst="rect">
            <a:avLst/>
          </a:prstGeom>
          <a:noFill/>
          <a:ln/>
        </p:spPr>
        <p:txBody>
          <a:bodyPr wrap="square" lIns="0" tIns="0" rIns="0" bIns="0" rtlCol="0" anchor="ctr"/>
          <a:lstStyle/>
          <a:p>
            <a:pPr marL="0" indent="0" algn="ctr">
              <a:buNone/>
            </a:pPr>
            <a:r>
              <a:rPr lang="en-US" sz="1000" b="0" dirty="0">
                <a:solidFill>
                  <a:srgbClr val="CADCFC"/>
                </a:solidFill>
                <a:latin typeface="Calibri" pitchFamily="34" charset="0"/>
              </a:rPr>
              <a:t>→</a:t>
            </a:r>
          </a:p>
        </p:txBody>
      </p:sp>
      <p:sp>
        <p:nvSpPr>
          <p:cNvPr id="15" name="Shape"/>
          <p:cNvSpPr/>
          <p:nvPr/>
        </p:nvSpPr>
        <p:spPr>
          <a:xfrm>
            <a:off x="7471378" y="99834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6" name="TB"/>
          <p:cNvSpPr>
            <a:spLocks noGrp="1"/>
          </p:cNvSpPr>
          <p:nvPr/>
        </p:nvSpPr>
        <p:spPr>
          <a:xfrm>
            <a:off x="7471378" y="99834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RUN</a:t>
            </a:r>
          </a:p>
        </p:txBody>
      </p:sp>
      <p:sp>
        <p:nvSpPr>
          <p:cNvPr id="17" name="Shape"/>
          <p:cNvSpPr/>
          <p:nvPr/>
        </p:nvSpPr>
        <p:spPr>
          <a:xfrm>
            <a:off x="635726" y="2039983"/>
            <a:ext cx="3246120" cy="2900000"/>
          </a:xfrm>
          <a:prstGeom prst="roundRect">
            <a:avLst>
              <a:gd name="adj" fmla="val 4167"/>
            </a:avLst>
          </a:prstGeom>
          <a:solidFill>
            <a:srgbClr val="002060"/>
          </a:solidFill>
          <a:ln/>
        </p:spPr>
        <p:txBody>
          <a:bodyPr/>
          <a:lstStyle/>
          <a:p>
            <a:endParaRPr/>
          </a:p>
        </p:txBody>
      </p:sp>
      <p:sp>
        <p:nvSpPr>
          <p:cNvPr id="18" name="Shape"/>
          <p:cNvSpPr/>
          <p:nvPr/>
        </p:nvSpPr>
        <p:spPr>
          <a:xfrm>
            <a:off x="4430486" y="2050869"/>
            <a:ext cx="7315200" cy="2900000"/>
          </a:xfrm>
          <a:prstGeom prst="roundRect">
            <a:avLst>
              <a:gd name="adj" fmla="val 4167"/>
            </a:avLst>
          </a:prstGeom>
          <a:solidFill>
            <a:srgbClr val="FFFFFF"/>
          </a:solidFill>
          <a:ln w="15875">
            <a:solidFill>
              <a:srgbClr val="CADCFC"/>
            </a:solidFill>
            <a:prstDash val="solid"/>
          </a:ln>
        </p:spPr>
        <p:txBody>
          <a:bodyPr/>
          <a:lstStyle/>
          <a:p>
            <a:endParaRPr/>
          </a:p>
        </p:txBody>
      </p:sp>
      <p:sp>
        <p:nvSpPr>
          <p:cNvPr id="19" name="Circle"/>
          <p:cNvSpPr/>
          <p:nvPr/>
        </p:nvSpPr>
        <p:spPr>
          <a:xfrm>
            <a:off x="820783" y="3290557"/>
            <a:ext cx="420624" cy="420624"/>
          </a:xfrm>
          <a:prstGeom prst="ellipse">
            <a:avLst/>
          </a:prstGeom>
          <a:solidFill>
            <a:srgbClr val="FFFFFF"/>
          </a:solidFill>
          <a:ln/>
        </p:spPr>
        <p:txBody>
          <a:bodyPr anchor="ctr"/>
          <a:lstStyle/>
          <a:p>
            <a:pPr algn="ctr">
              <a:buNone/>
            </a:pPr>
            <a:r>
              <a:rPr lang="en-US" sz="1600" b="1" dirty="0">
                <a:solidFill>
                  <a:srgbClr val="002060"/>
                </a:solidFill>
                <a:latin typeface="Arial"/>
              </a:rPr>
              <a:t>1</a:t>
            </a:r>
          </a:p>
        </p:txBody>
      </p:sp>
      <p:sp>
        <p:nvSpPr>
          <p:cNvPr id="20" name="TB"/>
          <p:cNvSpPr>
            <a:spLocks noGrp="1"/>
          </p:cNvSpPr>
          <p:nvPr/>
        </p:nvSpPr>
        <p:spPr>
          <a:xfrm>
            <a:off x="1331407" y="3386569"/>
            <a:ext cx="2000000" cy="22860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rPr>
              <a:t>CONNECT</a:t>
            </a:r>
          </a:p>
        </p:txBody>
      </p:sp>
      <p:sp>
        <p:nvSpPr>
          <p:cNvPr id="21" name="TB"/>
          <p:cNvSpPr>
            <a:spLocks noGrp="1"/>
          </p:cNvSpPr>
          <p:nvPr/>
        </p:nvSpPr>
        <p:spPr>
          <a:xfrm>
            <a:off x="4011846" y="3350869"/>
            <a:ext cx="219456" cy="300000"/>
          </a:xfrm>
          <a:prstGeom prst="rect">
            <a:avLst/>
          </a:prstGeom>
          <a:noFill/>
          <a:ln/>
        </p:spPr>
        <p:txBody>
          <a:bodyPr wrap="square" lIns="0" tIns="0" rIns="0" bIns="0" rtlCol="0" anchor="ctr"/>
          <a:lstStyle/>
          <a:p>
            <a:pPr marL="0" indent="0" algn="ctr">
              <a:buNone/>
            </a:pPr>
            <a:r>
              <a:rPr lang="en-US" sz="1800" b="0" dirty="0">
                <a:solidFill>
                  <a:srgbClr val="5B6584"/>
                </a:solidFill>
                <a:latin typeface="Calibri" pitchFamily="34" charset="0"/>
              </a:rPr>
              <a:t>→</a:t>
            </a:r>
          </a:p>
        </p:txBody>
      </p:sp>
      <p:sp>
        <p:nvSpPr>
          <p:cNvPr id="22" name="BulletBox"/>
          <p:cNvSpPr/>
          <p:nvPr/>
        </p:nvSpPr>
        <p:spPr>
          <a:xfrm>
            <a:off x="4430486" y="2050869"/>
            <a:ext cx="7315200" cy="2900000"/>
          </a:xfrm>
          <a:prstGeom prst="rect">
            <a:avLst/>
          </a:prstGeom>
          <a:noFill/>
          <a:ln/>
        </p:spPr>
        <p:txBody>
          <a:bodyPr wrap="square" lIns="91440" tIns="45720" rIns="91440" bIns="45720" rtlCol="0" anchor="t"/>
          <a:lstStyle/>
          <a:p>
            <a:pPr marL="171450" indent="-171450">
              <a:spcBef>
                <a:spcPts val="0"/>
              </a:spcBef>
              <a:buFont typeface="Wingdings"/>
              <a:buChar char="q"/>
            </a:pPr>
            <a:r>
              <a:rPr lang="en-US" sz="1000" b="1" dirty="0">
                <a:solidFill>
                  <a:srgbClr val="1B1F3B"/>
                </a:solidFill>
                <a:latin typeface="Calibri" pitchFamily="34" charset="0"/>
              </a:rPr>
              <a:t>Cloud accounts</a:t>
            </a:r>
            <a:endParaRPr lang="en-US">
              <a:ea typeface="Calibri" panose="020F0502020204030204"/>
              <a:cs typeface="Calibri" panose="020F0502020204030204"/>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Link Azure subscriptions across DEV, QA, UAT, Pre-Prod, and PROD — each scoped with its own resource group.</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a:ea typeface="Calibri"/>
                <a:cs typeface="Calibri"/>
              </a:rPr>
              <a:t>Every environment carries its own RBAC boundary and deployment target so the platform always knows where a release is going.</a:t>
            </a: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Authentication uses Managed Identity or Service Principal — no credentials are ever stored in the platform.</a:t>
            </a:r>
            <a:endParaRPr lang="en-US" sz="900" dirty="0">
              <a:solidFill>
                <a:srgbClr val="5B6584"/>
              </a:solidFill>
              <a:latin typeface="Calibri" pitchFamily="34" charset="0"/>
              <a:ea typeface="Calibri" pitchFamily="34" charset="0"/>
              <a:cs typeface="Calibri" pitchFamily="34" charset="0"/>
            </a:endParaRPr>
          </a:p>
          <a:p>
            <a:pPr marL="171450" indent="-171450">
              <a:spcBef>
                <a:spcPts val="500"/>
              </a:spcBef>
              <a:buFont typeface="Wingdings"/>
              <a:buChar char="q"/>
            </a:pPr>
            <a:r>
              <a:rPr lang="en-US" sz="1000" b="1" dirty="0">
                <a:solidFill>
                  <a:srgbClr val="1B1F3B"/>
                </a:solidFill>
                <a:latin typeface="Calibri" pitchFamily="34" charset="0"/>
              </a:rPr>
              <a:t>Applications and repos</a:t>
            </a:r>
            <a:endParaRPr lang="en-US" sz="1000" b="1" dirty="0">
              <a:solidFill>
                <a:srgbClr val="1B1F3B"/>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Register each application with its source repository, branching strategy, and artefact feed.</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Branch-to-environment promotion rules are set once — the platform follows them on every release automatically.</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Multiple services or microservices per app are fully supported, each with independent deployment templates.</a:t>
            </a:r>
            <a:endParaRPr lang="en-US" sz="900" dirty="0">
              <a:solidFill>
                <a:srgbClr val="5B6584"/>
              </a:solidFill>
              <a:latin typeface="Calibri" pitchFamily="34" charset="0"/>
              <a:ea typeface="Calibri" pitchFamily="34" charset="0"/>
              <a:cs typeface="Calibri" pitchFamily="34" charset="0"/>
            </a:endParaRPr>
          </a:p>
          <a:p>
            <a:pPr marL="171450" indent="-171450">
              <a:spcBef>
                <a:spcPts val="500"/>
              </a:spcBef>
              <a:buFont typeface="Wingdings"/>
              <a:buChar char="q"/>
            </a:pPr>
            <a:r>
              <a:rPr lang="en-US" sz="1000" b="1" dirty="0">
                <a:solidFill>
                  <a:srgbClr val="1B1F3B"/>
                </a:solidFill>
                <a:latin typeface="Calibri" pitchFamily="34" charset="0"/>
              </a:rPr>
              <a:t>Tooling</a:t>
            </a:r>
            <a:endParaRPr lang="en-US" sz="1000" b="1" dirty="0">
              <a:solidFill>
                <a:srgbClr val="1B1F3B"/>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Connect your CI/CD engine — Azure DevOps, GitHub Actions, or Jenkins. DaaS triggers it; it never replaces it.</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Attach your ticketing system (ServiceNow, Jira) so change requests are auto-linked to every deployment run.</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Wire in monitoring tools (Prometheus, Grafana, Datadog) for live, automated post-deploy health checks.</a:t>
            </a:r>
            <a:endParaRPr lang="en-US" sz="900" dirty="0">
              <a:solidFill>
                <a:srgbClr val="5B6584"/>
              </a:solidFill>
              <a:latin typeface="Calibri" pitchFamily="34" charset="0"/>
              <a:ea typeface="Calibri" pitchFamily="34" charset="0"/>
              <a:cs typeface="Calibri" pitchFamily="34" charset="0"/>
            </a:endParaRPr>
          </a:p>
          <a:p>
            <a:pPr marL="171450" indent="-171450">
              <a:spcBef>
                <a:spcPts val="500"/>
              </a:spcBef>
              <a:buFont typeface="Wingdings"/>
              <a:buChar char="q"/>
            </a:pPr>
            <a:r>
              <a:rPr lang="en-US" sz="1000" b="1" dirty="0">
                <a:solidFill>
                  <a:srgbClr val="1B1F3B"/>
                </a:solidFill>
                <a:latin typeface="Calibri" pitchFamily="34" charset="0"/>
              </a:rPr>
              <a:t>Communication Channel</a:t>
            </a:r>
            <a:endParaRPr lang="en-US" sz="1000" b="1" dirty="0">
              <a:solidFill>
                <a:srgbClr val="1B1F3B"/>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Route notifications through Teams, Slack, or email — no new tooling or channels required.</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Per-stage rules ensure the right people are alerted at the right moment — approvals, failures, and sign-offs.</a:t>
            </a:r>
            <a:endParaRPr lang="en-US" sz="900" dirty="0">
              <a:solidFill>
                <a:srgbClr val="5B6584"/>
              </a:solidFill>
              <a:latin typeface="Calibri" pitchFamily="34" charset="0"/>
              <a:ea typeface="Calibri" pitchFamily="34" charset="0"/>
              <a:cs typeface="Calibri" pitchFamily="34" charset="0"/>
            </a:endParaRPr>
          </a:p>
          <a:p>
            <a:pPr marL="609600" lvl="1" indent="-152400">
              <a:lnSpc>
                <a:spcPct val="108000"/>
              </a:lnSpc>
              <a:spcBef>
                <a:spcPts val="120"/>
              </a:spcBef>
              <a:buFont typeface="Wingdings" charset="0"/>
              <a:buChar char="Ø"/>
            </a:pPr>
            <a:r>
              <a:rPr lang="en-US" sz="900" dirty="0">
                <a:solidFill>
                  <a:srgbClr val="5B6584"/>
                </a:solidFill>
                <a:latin typeface="Calibri" pitchFamily="34" charset="0"/>
              </a:rPr>
              <a:t>Templates carry environment name, release version, approver list, and direct one-click action links.</a:t>
            </a:r>
            <a:endParaRPr lang="en-US" sz="900" dirty="0">
              <a:solidFill>
                <a:srgbClr val="5B6584"/>
              </a:solidFill>
              <a:latin typeface="Calibri" pitchFamily="34" charset="0"/>
              <a:ea typeface="Calibri" pitchFamily="34" charset="0"/>
              <a:cs typeface="Calibri" pitchFamily="34" charset="0"/>
            </a:endParaRPr>
          </a:p>
        </p:txBody>
      </p:sp>
      <p:sp>
        <p:nvSpPr>
          <p:cNvPr id="23" name="TB"/>
          <p:cNvSpPr>
            <a:spLocks noGrp="1"/>
          </p:cNvSpPr>
          <p:nvPr/>
        </p:nvSpPr>
        <p:spPr>
          <a:xfrm>
            <a:off x="613034" y="5130869"/>
            <a:ext cx="10881360" cy="457200"/>
          </a:xfrm>
          <a:prstGeom prst="rect">
            <a:avLst/>
          </a:prstGeom>
          <a:noFill/>
          <a:ln/>
        </p:spPr>
        <p:txBody>
          <a:bodyPr wrap="square" lIns="0" tIns="0" rIns="0" bIns="0" rtlCol="0" anchor="ctr"/>
          <a:lstStyle/>
          <a:p>
            <a:pPr marL="0" indent="0" algn="l">
              <a:buNone/>
            </a:pPr>
            <a:r>
              <a:rPr lang="en-US" sz="1050" b="0" dirty="0">
                <a:solidFill>
                  <a:srgbClr val="5B6584"/>
                </a:solidFill>
                <a:latin typeface="Calibri" pitchFamily="34" charset="0"/>
              </a:rPr>
              <a:t>Connect and Configure happen once per client. After that, every deployment runs through the platform automatically — no code change to add a client or change a process.</a:t>
            </a:r>
          </a:p>
        </p:txBody>
      </p:sp>
      <p:sp>
        <p:nvSpPr>
          <p:cNvPr id="24" name="Shape"/>
          <p:cNvSpPr/>
          <p:nvPr/>
        </p:nvSpPr>
        <p:spPr>
          <a:xfrm>
            <a:off x="548640" y="5591890"/>
            <a:ext cx="10881360" cy="566928"/>
          </a:xfrm>
          <a:prstGeom prst="roundRect">
            <a:avLst>
              <a:gd name="adj" fmla="val 4167"/>
            </a:avLst>
          </a:prstGeom>
          <a:solidFill>
            <a:srgbClr val="0F1B35"/>
          </a:solidFill>
          <a:ln/>
        </p:spPr>
        <p:txBody>
          <a:bodyPr/>
          <a:lstStyle/>
          <a:p>
            <a:endParaRPr/>
          </a:p>
        </p:txBody>
      </p:sp>
      <p:sp>
        <p:nvSpPr>
          <p:cNvPr id="25" name="TB"/>
          <p:cNvSpPr>
            <a:spLocks noGrp="1"/>
          </p:cNvSpPr>
          <p:nvPr/>
        </p:nvSpPr>
        <p:spPr>
          <a:xfrm>
            <a:off x="822960" y="5591890"/>
            <a:ext cx="10332720" cy="566928"/>
          </a:xfrm>
          <a:prstGeom prst="rect">
            <a:avLst/>
          </a:prstGeom>
          <a:noFill/>
          <a:ln/>
        </p:spPr>
        <p:txBody>
          <a:bodyPr wrap="square" lIns="0" tIns="0" rIns="0" bIns="0" rtlCol="0" anchor="ctr"/>
          <a:lstStyle/>
          <a:p>
            <a:pPr marL="0" indent="0" algn="l">
              <a:buNone/>
            </a:pPr>
            <a:r>
              <a:rPr lang="en-US" sz="1050" b="0" dirty="0">
                <a:solidFill>
                  <a:srgbClr val="CADCFC"/>
                </a:solidFill>
                <a:latin typeface="Calibri" pitchFamily="34" charset="0"/>
              </a:rPr>
              <a:t>Everything a deployment needs — phases, approvals, templates, notifications, environments — is defined here once and reused on every release.</a:t>
            </a:r>
          </a:p>
        </p:txBody>
      </p:sp>
      <p:sp>
        <p:nvSpPr>
          <p:cNvPr id="26" name="TB"/>
          <p:cNvSpPr>
            <a:spLocks noGrp="1"/>
          </p:cNvSpPr>
          <p:nvPr/>
        </p:nvSpPr>
        <p:spPr>
          <a:xfrm>
            <a:off x="457200" y="6519672"/>
            <a:ext cx="8229600" cy="274320"/>
          </a:xfrm>
          <a:prstGeom prst="rect">
            <a:avLst/>
          </a:prstGeom>
          <a:noFill/>
          <a:ln/>
        </p:spPr>
        <p:txBody>
          <a:bodyPr wrap="square" lIns="0" tIns="0" rIns="0" bIns="0" rtlCol="0" anchor="ctr"/>
          <a:lstStyle/>
          <a:p>
            <a:pPr marL="0" indent="0" algn="l">
              <a:buNone/>
            </a:pPr>
            <a:r>
              <a:rPr lang="en-US" sz="800" b="0">
                <a:solidFill>
                  <a:srgbClr val="5B6584"/>
                </a:solidFill>
                <a:latin typeface="Calibri"/>
                <a:ea typeface="Calibri"/>
                <a:cs typeface="Calibri"/>
              </a:rPr>
              <a:t>Deployment as a Service</a:t>
            </a:r>
          </a:p>
        </p:txBody>
      </p:sp>
      <p:sp>
        <p:nvSpPr>
          <p:cNvPr id="27" name="TB"/>
          <p:cNvSpPr>
            <a:spLocks noGrp="1"/>
          </p:cNvSpPr>
          <p:nvPr/>
        </p:nvSpPr>
        <p:spPr>
          <a:xfrm>
            <a:off x="11274552" y="6519672"/>
            <a:ext cx="457200" cy="274320"/>
          </a:xfrm>
          <a:prstGeom prst="rect">
            <a:avLst/>
          </a:prstGeom>
          <a:noFill/>
          <a:ln/>
        </p:spPr>
        <p:txBody>
          <a:bodyPr wrap="square" lIns="0" tIns="0" rIns="0" bIns="0" rtlCol="0" anchor="ctr"/>
          <a:lstStyle/>
          <a:p>
            <a:pPr marL="0" indent="0" algn="r">
              <a:buNone/>
            </a:pPr>
            <a:r>
              <a:rPr lang="en-US" sz="800" b="0" dirty="0">
                <a:solidFill>
                  <a:srgbClr val="5B6584"/>
                </a:solidFill>
                <a:latin typeface="Calibri" pitchFamily="34" charset="0"/>
              </a:rPr>
              <a:t>4</a:t>
            </a:r>
          </a:p>
        </p:txBody>
      </p:sp>
      <p:sp>
        <p:nvSpPr>
          <p:cNvPr id="29" name="Text 0">
            <a:extLst>
              <a:ext uri="{FF2B5EF4-FFF2-40B4-BE49-F238E27FC236}">
                <a16:creationId xmlns:a16="http://schemas.microsoft.com/office/drawing/2014/main" id="{3A39FD0D-1678-A9F0-89B2-CE603341130C}"/>
              </a:ext>
            </a:extLst>
          </p:cNvPr>
          <p:cNvSpPr/>
          <p:nvPr/>
        </p:nvSpPr>
        <p:spPr>
          <a:xfrm>
            <a:off x="461555" y="224246"/>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TARGET ARCHITECTURE</a:t>
            </a:r>
            <a:endParaRPr lang="en-US" sz="1200"/>
          </a:p>
        </p:txBody>
      </p:sp>
    </p:spTree>
    <p:extLst>
      <p:ext uri="{BB962C8B-B14F-4D97-AF65-F5344CB8AC3E}">
        <p14:creationId xmlns:p14="http://schemas.microsoft.com/office/powerpoint/2010/main" val="1958370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TARGET ARCHITECTURE</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How It's Configured &amp; Orchestrated</a:t>
            </a:r>
            <a:endParaRPr lang="en-US" sz="2600"/>
          </a:p>
        </p:txBody>
      </p:sp>
      <p:sp>
        <p:nvSpPr>
          <p:cNvPr id="13" name="Shape 11"/>
          <p:cNvSpPr/>
          <p:nvPr/>
        </p:nvSpPr>
        <p:spPr>
          <a:xfrm>
            <a:off x="537908" y="2732682"/>
            <a:ext cx="3246120" cy="2194560"/>
          </a:xfrm>
          <a:prstGeom prst="roundRect">
            <a:avLst>
              <a:gd name="adj" fmla="val 4167"/>
            </a:avLst>
          </a:prstGeom>
          <a:solidFill>
            <a:srgbClr val="002060"/>
          </a:solidFill>
          <a:ln/>
        </p:spPr>
        <p:txBody>
          <a:bodyPr/>
          <a:lstStyle/>
          <a:p>
            <a:endParaRPr/>
          </a:p>
        </p:txBody>
      </p:sp>
      <p:sp>
        <p:nvSpPr>
          <p:cNvPr id="14" name="Shape 12"/>
          <p:cNvSpPr/>
          <p:nvPr/>
        </p:nvSpPr>
        <p:spPr>
          <a:xfrm>
            <a:off x="766508" y="3598683"/>
            <a:ext cx="420624" cy="420624"/>
          </a:xfrm>
          <a:prstGeom prst="ellipse">
            <a:avLst/>
          </a:prstGeom>
          <a:solidFill>
            <a:srgbClr val="FFFFFF"/>
          </a:solidFill>
          <a:ln/>
        </p:spPr>
        <p:txBody>
          <a:bodyPr/>
          <a:lstStyle/>
          <a:p>
            <a:endParaRPr/>
          </a:p>
        </p:txBody>
      </p:sp>
      <p:sp>
        <p:nvSpPr>
          <p:cNvPr id="15" name="Text 13"/>
          <p:cNvSpPr/>
          <p:nvPr/>
        </p:nvSpPr>
        <p:spPr>
          <a:xfrm>
            <a:off x="766508" y="3623094"/>
            <a:ext cx="420624" cy="420624"/>
          </a:xfrm>
          <a:prstGeom prst="rect">
            <a:avLst/>
          </a:prstGeom>
          <a:noFill/>
          <a:ln/>
        </p:spPr>
        <p:txBody>
          <a:bodyPr wrap="square" lIns="0" tIns="0" rIns="0" bIns="0" rtlCol="0" anchor="ctr"/>
          <a:lstStyle/>
          <a:p>
            <a:pPr marL="0" indent="0" algn="ctr">
              <a:buNone/>
            </a:pPr>
            <a:r>
              <a:rPr lang="en-US" sz="1600" b="1">
                <a:solidFill>
                  <a:srgbClr val="2C3E7B"/>
                </a:solidFill>
                <a:latin typeface="Arial"/>
                <a:cs typeface="Arial"/>
              </a:rPr>
              <a:t>2</a:t>
            </a:r>
          </a:p>
        </p:txBody>
      </p:sp>
      <p:sp>
        <p:nvSpPr>
          <p:cNvPr id="16" name="Text 14"/>
          <p:cNvSpPr/>
          <p:nvPr/>
        </p:nvSpPr>
        <p:spPr>
          <a:xfrm>
            <a:off x="1287716" y="3564047"/>
            <a:ext cx="2423160" cy="457200"/>
          </a:xfrm>
          <a:prstGeom prst="rect">
            <a:avLst/>
          </a:prstGeom>
          <a:noFill/>
          <a:ln/>
        </p:spPr>
        <p:txBody>
          <a:bodyPr wrap="square" lIns="91440" tIns="45720" rIns="91440" bIns="45720" rtlCol="0" anchor="ctr"/>
          <a:lstStyle/>
          <a:p>
            <a:pPr marL="0" indent="0">
              <a:lnSpc>
                <a:spcPct val="102000"/>
              </a:lnSpc>
              <a:buNone/>
            </a:pPr>
            <a:r>
              <a:rPr lang="en-US" sz="1300" b="1">
                <a:solidFill>
                  <a:schemeClr val="bg1"/>
                </a:solidFill>
                <a:latin typeface="Calibri"/>
                <a:ea typeface="Calibri"/>
                <a:cs typeface="Calibri"/>
              </a:rPr>
              <a:t>CLIENT</a:t>
            </a:r>
            <a:endParaRPr lang="en-US" sz="1300">
              <a:solidFill>
                <a:schemeClr val="bg1"/>
              </a:solidFill>
              <a:latin typeface="Calibri"/>
              <a:ea typeface="Calibri"/>
              <a:cs typeface="Calibri"/>
            </a:endParaRPr>
          </a:p>
          <a:p>
            <a:pPr marL="0" indent="0">
              <a:lnSpc>
                <a:spcPct val="102000"/>
              </a:lnSpc>
              <a:buNone/>
            </a:pPr>
            <a:r>
              <a:rPr lang="en-US" sz="1300" b="1">
                <a:solidFill>
                  <a:schemeClr val="bg1"/>
                </a:solidFill>
                <a:latin typeface="Calibri"/>
                <a:ea typeface="Calibri"/>
                <a:cs typeface="Calibri"/>
              </a:rPr>
              <a:t>CONFIGURATION</a:t>
            </a:r>
            <a:endParaRPr lang="en-US" sz="1300">
              <a:solidFill>
                <a:schemeClr val="bg1"/>
              </a:solidFill>
              <a:latin typeface="Calibri"/>
              <a:ea typeface="Calibri"/>
              <a:cs typeface="Calibri"/>
            </a:endParaRPr>
          </a:p>
        </p:txBody>
      </p:sp>
      <p:sp>
        <p:nvSpPr>
          <p:cNvPr id="17" name="Shape 15"/>
          <p:cNvSpPr/>
          <p:nvPr/>
        </p:nvSpPr>
        <p:spPr>
          <a:xfrm>
            <a:off x="3838892" y="3829962"/>
            <a:ext cx="219456" cy="0"/>
          </a:xfrm>
          <a:prstGeom prst="line">
            <a:avLst/>
          </a:prstGeom>
          <a:noFill/>
          <a:ln w="31750">
            <a:solidFill>
              <a:srgbClr val="5B6584"/>
            </a:solidFill>
            <a:prstDash val="solid"/>
            <a:tailEnd type="triangle"/>
          </a:ln>
        </p:spPr>
        <p:txBody>
          <a:bodyPr/>
          <a:lstStyle/>
          <a:p>
            <a:endParaRPr/>
          </a:p>
        </p:txBody>
      </p:sp>
      <p:sp>
        <p:nvSpPr>
          <p:cNvPr id="18" name="Shape 16"/>
          <p:cNvSpPr/>
          <p:nvPr/>
        </p:nvSpPr>
        <p:spPr>
          <a:xfrm>
            <a:off x="4265054" y="2743415"/>
            <a:ext cx="7315200" cy="2194560"/>
          </a:xfrm>
          <a:prstGeom prst="roundRect">
            <a:avLst>
              <a:gd name="adj" fmla="val 4167"/>
            </a:avLst>
          </a:prstGeom>
          <a:solidFill>
            <a:srgbClr val="FFFFFF"/>
          </a:solidFill>
          <a:ln w="15875">
            <a:solidFill>
              <a:srgbClr val="CADCFC"/>
            </a:solidFill>
            <a:prstDash val="solid"/>
          </a:ln>
        </p:spPr>
        <p:txBody>
          <a:bodyPr/>
          <a:lstStyle/>
          <a:p>
            <a:endParaRPr/>
          </a:p>
        </p:txBody>
      </p:sp>
      <p:sp>
        <p:nvSpPr>
          <p:cNvPr id="20" name="Text 18"/>
          <p:cNvSpPr/>
          <p:nvPr/>
        </p:nvSpPr>
        <p:spPr>
          <a:xfrm>
            <a:off x="4676534" y="29262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a:ea typeface="Calibri"/>
                <a:cs typeface="Calibri"/>
              </a:rPr>
              <a:t>Applications, Environments &amp; Release Definitions — registered once per account</a:t>
            </a:r>
            <a:endParaRPr lang="en-US" sz="1000">
              <a:ea typeface="Calibri" panose="020F0502020204030204"/>
              <a:cs typeface="Calibri" panose="020F0502020204030204"/>
            </a:endParaRPr>
          </a:p>
        </p:txBody>
      </p:sp>
      <p:sp>
        <p:nvSpPr>
          <p:cNvPr id="22" name="Text 20"/>
          <p:cNvSpPr/>
          <p:nvPr/>
        </p:nvSpPr>
        <p:spPr>
          <a:xfrm>
            <a:off x="4676534" y="33834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pitchFamily="34" charset="0"/>
                <a:ea typeface="Calibri" pitchFamily="34" charset="-122"/>
                <a:cs typeface="Calibri" pitchFamily="34" charset="-120"/>
              </a:rPr>
              <a:t>Approval Workflows — sequential, parallel, or conditional per stage, defined as configuration, not code</a:t>
            </a:r>
            <a:endParaRPr lang="en-US" sz="1000">
              <a:ea typeface="Calibri" panose="020F0502020204030204"/>
              <a:cs typeface="Calibri" panose="020F0502020204030204"/>
            </a:endParaRPr>
          </a:p>
        </p:txBody>
      </p:sp>
      <p:sp>
        <p:nvSpPr>
          <p:cNvPr id="24" name="Text 22"/>
          <p:cNvSpPr/>
          <p:nvPr/>
        </p:nvSpPr>
        <p:spPr>
          <a:xfrm>
            <a:off x="4676534" y="38406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pitchFamily="34" charset="0"/>
                <a:ea typeface="Calibri" pitchFamily="34" charset="-122"/>
                <a:cs typeface="Calibri" pitchFamily="34" charset="-120"/>
              </a:rPr>
              <a:t>Deployment Templates — Standard Release, Config-Only, Hotfix, Infra-Only — each mapped to its own phases and APIs</a:t>
            </a:r>
            <a:endParaRPr lang="en-US" sz="1000">
              <a:ea typeface="Calibri" panose="020F0502020204030204"/>
              <a:cs typeface="Calibri" panose="020F0502020204030204"/>
            </a:endParaRPr>
          </a:p>
        </p:txBody>
      </p:sp>
      <p:sp>
        <p:nvSpPr>
          <p:cNvPr id="26" name="Text 24"/>
          <p:cNvSpPr/>
          <p:nvPr/>
        </p:nvSpPr>
        <p:spPr>
          <a:xfrm>
            <a:off x="4676534" y="4297895"/>
            <a:ext cx="6675120" cy="457200"/>
          </a:xfrm>
          <a:prstGeom prst="rect">
            <a:avLst/>
          </a:prstGeom>
          <a:noFill/>
          <a:ln/>
        </p:spPr>
        <p:txBody>
          <a:bodyPr wrap="square" lIns="91440" tIns="45720" rIns="91440" bIns="45720" rtlCol="0" anchor="t"/>
          <a:lstStyle/>
          <a:p>
            <a:pPr marL="171450" indent="-171450">
              <a:lnSpc>
                <a:spcPct val="112000"/>
              </a:lnSpc>
              <a:buFont typeface="Wingdings"/>
              <a:buChar char="q"/>
            </a:pPr>
            <a:r>
              <a:rPr lang="en-US" sz="1000">
                <a:solidFill>
                  <a:srgbClr val="1B1F3B"/>
                </a:solidFill>
                <a:latin typeface="Calibri"/>
                <a:ea typeface="Calibri"/>
                <a:cs typeface="Calibri"/>
              </a:rPr>
              <a:t>Promotion, Notification &amp; Validation Rules — the gates and alerts that govern every release</a:t>
            </a:r>
            <a:endParaRPr lang="en-US" sz="1000">
              <a:latin typeface="Calibri"/>
              <a:ea typeface="Calibri"/>
              <a:cs typeface="Calibri"/>
            </a:endParaRPr>
          </a:p>
        </p:txBody>
      </p:sp>
      <p:sp>
        <p:nvSpPr>
          <p:cNvPr id="41" name="Text 39"/>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42" name="Text 40"/>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5</a:t>
            </a:r>
            <a:endParaRPr lang="en-US" sz="1000"/>
          </a:p>
        </p:txBody>
      </p:sp>
      <p:sp>
        <p:nvSpPr>
          <p:cNvPr id="56" name="Shape">
            <a:extLst>
              <a:ext uri="{FF2B5EF4-FFF2-40B4-BE49-F238E27FC236}">
                <a16:creationId xmlns:a16="http://schemas.microsoft.com/office/drawing/2014/main" id="{01AC10C3-FE1F-FD76-0456-1DF93D058DF8}"/>
              </a:ext>
            </a:extLst>
          </p:cNvPr>
          <p:cNvSpPr/>
          <p:nvPr/>
        </p:nvSpPr>
        <p:spPr>
          <a:xfrm>
            <a:off x="1521712" y="140320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58" name="TB">
            <a:extLst>
              <a:ext uri="{FF2B5EF4-FFF2-40B4-BE49-F238E27FC236}">
                <a16:creationId xmlns:a16="http://schemas.microsoft.com/office/drawing/2014/main" id="{B6A13FD9-C87A-6280-A32B-47F35118DCA2}"/>
              </a:ext>
            </a:extLst>
          </p:cNvPr>
          <p:cNvSpPr>
            <a:spLocks noGrp="1"/>
          </p:cNvSpPr>
          <p:nvPr/>
        </p:nvSpPr>
        <p:spPr>
          <a:xfrm>
            <a:off x="1521712" y="140320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ANALYSE</a:t>
            </a:r>
          </a:p>
        </p:txBody>
      </p:sp>
      <p:sp>
        <p:nvSpPr>
          <p:cNvPr id="60" name="TB">
            <a:extLst>
              <a:ext uri="{FF2B5EF4-FFF2-40B4-BE49-F238E27FC236}">
                <a16:creationId xmlns:a16="http://schemas.microsoft.com/office/drawing/2014/main" id="{DCB27BCD-2039-A476-F651-1A9D0D357D7B}"/>
              </a:ext>
            </a:extLst>
          </p:cNvPr>
          <p:cNvSpPr>
            <a:spLocks noGrp="1"/>
          </p:cNvSpPr>
          <p:nvPr/>
        </p:nvSpPr>
        <p:spPr>
          <a:xfrm>
            <a:off x="3221712" y="140320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62" name="Shape">
            <a:extLst>
              <a:ext uri="{FF2B5EF4-FFF2-40B4-BE49-F238E27FC236}">
                <a16:creationId xmlns:a16="http://schemas.microsoft.com/office/drawing/2014/main" id="{E2CC44C4-201B-6BB7-0AF7-5EEB1621212A}"/>
              </a:ext>
            </a:extLst>
          </p:cNvPr>
          <p:cNvSpPr/>
          <p:nvPr/>
        </p:nvSpPr>
        <p:spPr>
          <a:xfrm>
            <a:off x="3368016" y="140320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64" name="TB">
            <a:extLst>
              <a:ext uri="{FF2B5EF4-FFF2-40B4-BE49-F238E27FC236}">
                <a16:creationId xmlns:a16="http://schemas.microsoft.com/office/drawing/2014/main" id="{C98665CC-1507-CAA2-B473-F488AEC3B43F}"/>
              </a:ext>
            </a:extLst>
          </p:cNvPr>
          <p:cNvSpPr>
            <a:spLocks noGrp="1"/>
          </p:cNvSpPr>
          <p:nvPr/>
        </p:nvSpPr>
        <p:spPr>
          <a:xfrm>
            <a:off x="3317216" y="140320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CONNECT</a:t>
            </a:r>
          </a:p>
        </p:txBody>
      </p:sp>
      <p:sp>
        <p:nvSpPr>
          <p:cNvPr id="66" name="TB">
            <a:extLst>
              <a:ext uri="{FF2B5EF4-FFF2-40B4-BE49-F238E27FC236}">
                <a16:creationId xmlns:a16="http://schemas.microsoft.com/office/drawing/2014/main" id="{ACE59751-CA74-B642-FB2F-8537BB94C63E}"/>
              </a:ext>
            </a:extLst>
          </p:cNvPr>
          <p:cNvSpPr>
            <a:spLocks noGrp="1"/>
          </p:cNvSpPr>
          <p:nvPr/>
        </p:nvSpPr>
        <p:spPr>
          <a:xfrm>
            <a:off x="5068016" y="140320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68" name="Shape">
            <a:extLst>
              <a:ext uri="{FF2B5EF4-FFF2-40B4-BE49-F238E27FC236}">
                <a16:creationId xmlns:a16="http://schemas.microsoft.com/office/drawing/2014/main" id="{54D117F3-4D76-0C8A-BBEE-3EBCFF92FDEE}"/>
              </a:ext>
            </a:extLst>
          </p:cNvPr>
          <p:cNvSpPr/>
          <p:nvPr/>
        </p:nvSpPr>
        <p:spPr>
          <a:xfrm>
            <a:off x="5214320" y="140320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70" name="TB">
            <a:extLst>
              <a:ext uri="{FF2B5EF4-FFF2-40B4-BE49-F238E27FC236}">
                <a16:creationId xmlns:a16="http://schemas.microsoft.com/office/drawing/2014/main" id="{5D5A73E1-B106-3625-E62A-76FAF371B14A}"/>
              </a:ext>
            </a:extLst>
          </p:cNvPr>
          <p:cNvSpPr>
            <a:spLocks noGrp="1"/>
          </p:cNvSpPr>
          <p:nvPr/>
        </p:nvSpPr>
        <p:spPr>
          <a:xfrm>
            <a:off x="5204160" y="1403200"/>
            <a:ext cx="1700000" cy="329184"/>
          </a:xfrm>
          <a:prstGeom prst="rect">
            <a:avLst/>
          </a:prstGeom>
          <a:noFill/>
          <a:ln/>
        </p:spPr>
        <p:txBody>
          <a:bodyPr wrap="square" lIns="0" tIns="0" rIns="0" bIns="0" rtlCol="0" anchor="ctr"/>
          <a:lstStyle/>
          <a:p>
            <a:pPr marL="0" indent="0" algn="ctr">
              <a:buNone/>
            </a:pPr>
            <a:r>
              <a:rPr lang="en-US" sz="850" b="1" i="0" dirty="0">
                <a:solidFill>
                  <a:schemeClr val="bg1"/>
                </a:solidFill>
                <a:latin typeface="Calibri"/>
                <a:ea typeface="Calibri"/>
                <a:cs typeface="Calibri"/>
              </a:rPr>
              <a:t>CONFIGURE</a:t>
            </a:r>
          </a:p>
        </p:txBody>
      </p:sp>
      <p:sp>
        <p:nvSpPr>
          <p:cNvPr id="72" name="TB">
            <a:extLst>
              <a:ext uri="{FF2B5EF4-FFF2-40B4-BE49-F238E27FC236}">
                <a16:creationId xmlns:a16="http://schemas.microsoft.com/office/drawing/2014/main" id="{5C837C18-547B-3A70-FB81-F1F247139BC2}"/>
              </a:ext>
            </a:extLst>
          </p:cNvPr>
          <p:cNvSpPr>
            <a:spLocks noGrp="1"/>
          </p:cNvSpPr>
          <p:nvPr/>
        </p:nvSpPr>
        <p:spPr>
          <a:xfrm>
            <a:off x="6914320" y="140320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74" name="Shape">
            <a:extLst>
              <a:ext uri="{FF2B5EF4-FFF2-40B4-BE49-F238E27FC236}">
                <a16:creationId xmlns:a16="http://schemas.microsoft.com/office/drawing/2014/main" id="{057C3A79-BB90-7F33-EEDA-EF6BF54802F6}"/>
              </a:ext>
            </a:extLst>
          </p:cNvPr>
          <p:cNvSpPr/>
          <p:nvPr/>
        </p:nvSpPr>
        <p:spPr>
          <a:xfrm>
            <a:off x="7060624" y="140320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76" name="TB">
            <a:extLst>
              <a:ext uri="{FF2B5EF4-FFF2-40B4-BE49-F238E27FC236}">
                <a16:creationId xmlns:a16="http://schemas.microsoft.com/office/drawing/2014/main" id="{A3F4EBE7-F58E-4B17-DF05-3923C7B279E2}"/>
              </a:ext>
            </a:extLst>
          </p:cNvPr>
          <p:cNvSpPr>
            <a:spLocks noGrp="1"/>
          </p:cNvSpPr>
          <p:nvPr/>
        </p:nvSpPr>
        <p:spPr>
          <a:xfrm>
            <a:off x="7009824" y="138288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RUN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TARGET ARCHITECTURE</a:t>
            </a:r>
            <a:endParaRPr lang="en-US" sz="1200"/>
          </a:p>
        </p:txBody>
      </p:sp>
      <p:sp>
        <p:nvSpPr>
          <p:cNvPr id="3" name="Text 1"/>
          <p:cNvSpPr/>
          <p:nvPr/>
        </p:nvSpPr>
        <p:spPr>
          <a:xfrm>
            <a:off x="-317269" y="6133777"/>
            <a:ext cx="10881360" cy="640080"/>
          </a:xfrm>
          <a:prstGeom prst="rect">
            <a:avLst/>
          </a:prstGeom>
          <a:noFill/>
          <a:ln/>
        </p:spPr>
        <p:txBody>
          <a:bodyPr wrap="square" lIns="91440" tIns="45720" rIns="91440" bIns="45720" rtlCol="0" anchor="ctr"/>
          <a:lstStyle/>
          <a:p>
            <a:pPr marL="0" indent="0">
              <a:buNone/>
            </a:pPr>
            <a:endParaRPr lang="en-US" sz="2600" b="1" dirty="0">
              <a:solidFill>
                <a:srgbClr val="1E2761"/>
              </a:solidFill>
              <a:latin typeface="Cambria"/>
              <a:ea typeface="Cambria"/>
            </a:endParaRPr>
          </a:p>
        </p:txBody>
      </p:sp>
      <p:sp>
        <p:nvSpPr>
          <p:cNvPr id="4" name="Shape 2"/>
          <p:cNvSpPr/>
          <p:nvPr/>
        </p:nvSpPr>
        <p:spPr>
          <a:xfrm>
            <a:off x="548640" y="1417320"/>
            <a:ext cx="3246120" cy="1965960"/>
          </a:xfrm>
          <a:prstGeom prst="roundRect">
            <a:avLst>
              <a:gd name="adj" fmla="val 4651"/>
            </a:avLst>
          </a:prstGeom>
          <a:solidFill>
            <a:srgbClr val="002060"/>
          </a:solidFill>
          <a:ln/>
        </p:spPr>
        <p:txBody>
          <a:bodyPr/>
          <a:lstStyle/>
          <a:p>
            <a:endParaRPr/>
          </a:p>
        </p:txBody>
      </p:sp>
      <p:sp>
        <p:nvSpPr>
          <p:cNvPr id="5" name="Shape 3"/>
          <p:cNvSpPr/>
          <p:nvPr/>
        </p:nvSpPr>
        <p:spPr>
          <a:xfrm>
            <a:off x="777240" y="2189988"/>
            <a:ext cx="420624" cy="420624"/>
          </a:xfrm>
          <a:prstGeom prst="ellipse">
            <a:avLst/>
          </a:prstGeom>
          <a:solidFill>
            <a:srgbClr val="FFFFFF"/>
          </a:solidFill>
          <a:ln/>
        </p:spPr>
        <p:txBody>
          <a:bodyPr/>
          <a:lstStyle/>
          <a:p>
            <a:endParaRPr/>
          </a:p>
        </p:txBody>
      </p:sp>
      <p:sp>
        <p:nvSpPr>
          <p:cNvPr id="6" name="Text 4"/>
          <p:cNvSpPr/>
          <p:nvPr/>
        </p:nvSpPr>
        <p:spPr>
          <a:xfrm>
            <a:off x="777240" y="2189988"/>
            <a:ext cx="420624" cy="420624"/>
          </a:xfrm>
          <a:prstGeom prst="rect">
            <a:avLst/>
          </a:prstGeom>
          <a:noFill/>
          <a:ln/>
        </p:spPr>
        <p:txBody>
          <a:bodyPr wrap="square" lIns="0" tIns="0" rIns="0" bIns="0" rtlCol="0" anchor="ctr"/>
          <a:lstStyle/>
          <a:p>
            <a:pPr marL="0" indent="0" algn="ctr">
              <a:buNone/>
            </a:pPr>
            <a:r>
              <a:rPr lang="en-US" sz="1600" b="1">
                <a:solidFill>
                  <a:schemeClr val="tx1">
                    <a:lumMod val="85000"/>
                    <a:lumOff val="15000"/>
                  </a:schemeClr>
                </a:solidFill>
                <a:latin typeface="Arial"/>
                <a:ea typeface="Arial" pitchFamily="34" charset="-122"/>
                <a:cs typeface="Arial"/>
              </a:rPr>
              <a:t>3</a:t>
            </a:r>
            <a:endParaRPr lang="en-US" sz="1600">
              <a:solidFill>
                <a:schemeClr val="tx1">
                  <a:lumMod val="85000"/>
                  <a:lumOff val="15000"/>
                </a:schemeClr>
              </a:solidFill>
              <a:latin typeface="Arial"/>
              <a:ea typeface="Calibri"/>
              <a:cs typeface="Arial"/>
            </a:endParaRPr>
          </a:p>
        </p:txBody>
      </p:sp>
      <p:sp>
        <p:nvSpPr>
          <p:cNvPr id="7" name="Text 5"/>
          <p:cNvSpPr/>
          <p:nvPr/>
        </p:nvSpPr>
        <p:spPr>
          <a:xfrm>
            <a:off x="1298448" y="1417320"/>
            <a:ext cx="2423160" cy="1965960"/>
          </a:xfrm>
          <a:prstGeom prst="rect">
            <a:avLst/>
          </a:prstGeom>
          <a:noFill/>
          <a:ln/>
        </p:spPr>
        <p:txBody>
          <a:bodyPr wrap="square" lIns="91440" tIns="45720" rIns="91440" bIns="45720" rtlCol="0" anchor="ctr"/>
          <a:lstStyle/>
          <a:p>
            <a:pPr>
              <a:lnSpc>
                <a:spcPct val="102000"/>
              </a:lnSpc>
            </a:pPr>
            <a:r>
              <a:rPr lang="en-US" sz="1300" b="1">
                <a:solidFill>
                  <a:schemeClr val="bg1"/>
                </a:solidFill>
                <a:latin typeface="Calibri"/>
                <a:ea typeface="Calibri"/>
                <a:cs typeface="Calibri"/>
              </a:rPr>
              <a:t>AGENTIC ORCHESTRATION</a:t>
            </a:r>
            <a:endParaRPr lang="en-US" sz="1300">
              <a:solidFill>
                <a:schemeClr val="bg1"/>
              </a:solidFill>
              <a:latin typeface="Calibri"/>
              <a:ea typeface="Calibri"/>
              <a:cs typeface="Calibri"/>
            </a:endParaRPr>
          </a:p>
        </p:txBody>
      </p:sp>
      <p:sp>
        <p:nvSpPr>
          <p:cNvPr id="8" name="Shape 6"/>
          <p:cNvSpPr/>
          <p:nvPr/>
        </p:nvSpPr>
        <p:spPr>
          <a:xfrm>
            <a:off x="3849624" y="2400300"/>
            <a:ext cx="219456" cy="0"/>
          </a:xfrm>
          <a:prstGeom prst="line">
            <a:avLst/>
          </a:prstGeom>
          <a:noFill/>
          <a:ln w="31750">
            <a:solidFill>
              <a:srgbClr val="5B6584"/>
            </a:solidFill>
            <a:prstDash val="solid"/>
            <a:tailEnd type="triangle"/>
          </a:ln>
        </p:spPr>
        <p:txBody>
          <a:bodyPr/>
          <a:lstStyle/>
          <a:p>
            <a:endParaRPr/>
          </a:p>
        </p:txBody>
      </p:sp>
      <p:sp>
        <p:nvSpPr>
          <p:cNvPr id="9" name="Shape 7"/>
          <p:cNvSpPr/>
          <p:nvPr/>
        </p:nvSpPr>
        <p:spPr>
          <a:xfrm>
            <a:off x="4114800" y="1417320"/>
            <a:ext cx="7315200" cy="1965960"/>
          </a:xfrm>
          <a:prstGeom prst="roundRect">
            <a:avLst>
              <a:gd name="adj" fmla="val 4651"/>
            </a:avLst>
          </a:prstGeom>
          <a:solidFill>
            <a:srgbClr val="FFFFFF"/>
          </a:solidFill>
          <a:ln w="15875">
            <a:solidFill>
              <a:srgbClr val="CADCFC"/>
            </a:solidFill>
            <a:prstDash val="solid"/>
          </a:ln>
        </p:spPr>
        <p:txBody>
          <a:bodyPr/>
          <a:lstStyle/>
          <a:p>
            <a:endParaRPr/>
          </a:p>
        </p:txBody>
      </p:sp>
      <p:sp>
        <p:nvSpPr>
          <p:cNvPr id="10" name="Shape 8"/>
          <p:cNvSpPr/>
          <p:nvPr/>
        </p:nvSpPr>
        <p:spPr>
          <a:xfrm>
            <a:off x="4297680"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11" name="Text 9"/>
          <p:cNvSpPr/>
          <p:nvPr/>
        </p:nvSpPr>
        <p:spPr>
          <a:xfrm>
            <a:off x="4414151" y="170992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Scanning Agent</a:t>
            </a:r>
            <a:r>
              <a:rPr lang="en-US" sz="1000">
                <a:solidFill>
                  <a:srgbClr val="000000"/>
                </a:solidFill>
                <a:latin typeface="Calibri"/>
                <a:ea typeface="Calibri"/>
                <a:cs typeface="Calibri"/>
              </a:rPr>
              <a:t> </a:t>
            </a:r>
            <a:endParaRPr lang="en-US" sz="1000"/>
          </a:p>
        </p:txBody>
      </p:sp>
      <p:sp>
        <p:nvSpPr>
          <p:cNvPr id="12" name="Text 10"/>
          <p:cNvSpPr/>
          <p:nvPr/>
        </p:nvSpPr>
        <p:spPr>
          <a:xfrm>
            <a:off x="4425696"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Environment snapshot</a:t>
            </a:r>
            <a:endParaRPr lang="en-US" sz="830"/>
          </a:p>
        </p:txBody>
      </p:sp>
      <p:sp>
        <p:nvSpPr>
          <p:cNvPr id="13" name="Shape 11"/>
          <p:cNvSpPr/>
          <p:nvPr/>
        </p:nvSpPr>
        <p:spPr>
          <a:xfrm>
            <a:off x="6062472"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14" name="Text 12"/>
          <p:cNvSpPr/>
          <p:nvPr/>
        </p:nvSpPr>
        <p:spPr>
          <a:xfrm>
            <a:off x="6190488" y="170992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Comparison Agent</a:t>
            </a:r>
            <a:r>
              <a:rPr lang="en-US" sz="1000">
                <a:solidFill>
                  <a:srgbClr val="000000"/>
                </a:solidFill>
                <a:latin typeface="Calibri"/>
                <a:ea typeface="Calibri"/>
                <a:cs typeface="Calibri"/>
              </a:rPr>
              <a:t> </a:t>
            </a:r>
            <a:endParaRPr lang="en-US" sz="1000"/>
          </a:p>
        </p:txBody>
      </p:sp>
      <p:sp>
        <p:nvSpPr>
          <p:cNvPr id="15" name="Text 13"/>
          <p:cNvSpPr/>
          <p:nvPr/>
        </p:nvSpPr>
        <p:spPr>
          <a:xfrm>
            <a:off x="6190488"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Current vs. target delta</a:t>
            </a:r>
            <a:endParaRPr lang="en-US" sz="830"/>
          </a:p>
        </p:txBody>
      </p:sp>
      <p:sp>
        <p:nvSpPr>
          <p:cNvPr id="16" name="Shape 14"/>
          <p:cNvSpPr/>
          <p:nvPr/>
        </p:nvSpPr>
        <p:spPr>
          <a:xfrm>
            <a:off x="7827264"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17" name="Text 15"/>
          <p:cNvSpPr/>
          <p:nvPr/>
        </p:nvSpPr>
        <p:spPr>
          <a:xfrm>
            <a:off x="7955280" y="170992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Dependency Agent</a:t>
            </a:r>
            <a:endParaRPr lang="en-US" sz="1000"/>
          </a:p>
        </p:txBody>
      </p:sp>
      <p:sp>
        <p:nvSpPr>
          <p:cNvPr id="18" name="Text 16"/>
          <p:cNvSpPr/>
          <p:nvPr/>
        </p:nvSpPr>
        <p:spPr>
          <a:xfrm>
            <a:off x="7955280"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What else is impacted</a:t>
            </a:r>
            <a:endParaRPr lang="en-US" sz="830"/>
          </a:p>
        </p:txBody>
      </p:sp>
      <p:sp>
        <p:nvSpPr>
          <p:cNvPr id="19" name="Shape 17"/>
          <p:cNvSpPr/>
          <p:nvPr/>
        </p:nvSpPr>
        <p:spPr>
          <a:xfrm>
            <a:off x="9592056" y="160020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0" name="Text 18"/>
          <p:cNvSpPr/>
          <p:nvPr/>
        </p:nvSpPr>
        <p:spPr>
          <a:xfrm>
            <a:off x="9720072" y="1709928"/>
            <a:ext cx="1399032" cy="274320"/>
          </a:xfrm>
          <a:prstGeom prst="rect">
            <a:avLst/>
          </a:prstGeom>
          <a:noFill/>
          <a:ln/>
        </p:spPr>
        <p:txBody>
          <a:bodyPr wrap="square" rtlCol="0" anchor="ctr"/>
          <a:lstStyle/>
          <a:p>
            <a:pPr marL="0" indent="0">
              <a:buNone/>
            </a:pPr>
            <a:r>
              <a:rPr lang="en-US" sz="1000" b="1">
                <a:solidFill>
                  <a:srgbClr val="2E8E82"/>
                </a:solidFill>
                <a:latin typeface="Calibri" pitchFamily="34" charset="0"/>
                <a:ea typeface="Calibri" pitchFamily="34" charset="-122"/>
                <a:cs typeface="Calibri" pitchFamily="34" charset="-120"/>
              </a:rPr>
              <a:t>AI Readiness</a:t>
            </a:r>
            <a:endParaRPr lang="en-US" sz="1000"/>
          </a:p>
        </p:txBody>
      </p:sp>
      <p:sp>
        <p:nvSpPr>
          <p:cNvPr id="21" name="Text 19"/>
          <p:cNvSpPr/>
          <p:nvPr/>
        </p:nvSpPr>
        <p:spPr>
          <a:xfrm>
            <a:off x="9720072" y="198424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Should I deploy?</a:t>
            </a:r>
            <a:endParaRPr lang="en-US" sz="830"/>
          </a:p>
        </p:txBody>
      </p:sp>
      <p:sp>
        <p:nvSpPr>
          <p:cNvPr id="22" name="Shape 20"/>
          <p:cNvSpPr/>
          <p:nvPr/>
        </p:nvSpPr>
        <p:spPr>
          <a:xfrm>
            <a:off x="4297680" y="246888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3" name="Text 21"/>
          <p:cNvSpPr/>
          <p:nvPr/>
        </p:nvSpPr>
        <p:spPr>
          <a:xfrm>
            <a:off x="4425696" y="257860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Risk Assessment Agent</a:t>
            </a:r>
            <a:endParaRPr lang="en-US" sz="1000"/>
          </a:p>
        </p:txBody>
      </p:sp>
      <p:sp>
        <p:nvSpPr>
          <p:cNvPr id="24" name="Text 22"/>
          <p:cNvSpPr/>
          <p:nvPr/>
        </p:nvSpPr>
        <p:spPr>
          <a:xfrm>
            <a:off x="4425696" y="285292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Composite risk rating</a:t>
            </a:r>
            <a:endParaRPr lang="en-US" sz="830"/>
          </a:p>
        </p:txBody>
      </p:sp>
      <p:sp>
        <p:nvSpPr>
          <p:cNvPr id="25" name="Shape 23"/>
          <p:cNvSpPr/>
          <p:nvPr/>
        </p:nvSpPr>
        <p:spPr>
          <a:xfrm>
            <a:off x="6062472" y="246888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6" name="Text 24"/>
          <p:cNvSpPr/>
          <p:nvPr/>
        </p:nvSpPr>
        <p:spPr>
          <a:xfrm>
            <a:off x="6190488" y="2578608"/>
            <a:ext cx="1399032" cy="274320"/>
          </a:xfrm>
          <a:prstGeom prst="rect">
            <a:avLst/>
          </a:prstGeom>
          <a:noFill/>
          <a:ln/>
        </p:spPr>
        <p:txBody>
          <a:bodyPr wrap="square" lIns="91440" tIns="45720" rIns="91440" bIns="45720" rtlCol="0" anchor="ctr"/>
          <a:lstStyle/>
          <a:p>
            <a:r>
              <a:rPr lang="en-US" sz="1000" b="1">
                <a:solidFill>
                  <a:srgbClr val="2E8E82"/>
                </a:solidFill>
                <a:latin typeface="Calibri"/>
                <a:ea typeface="Calibri"/>
                <a:cs typeface="Calibri"/>
              </a:rPr>
              <a:t>Validation Agent</a:t>
            </a:r>
            <a:endParaRPr lang="en-US" sz="1000"/>
          </a:p>
        </p:txBody>
      </p:sp>
      <p:sp>
        <p:nvSpPr>
          <p:cNvPr id="27" name="Text 25"/>
          <p:cNvSpPr/>
          <p:nvPr/>
        </p:nvSpPr>
        <p:spPr>
          <a:xfrm>
            <a:off x="6190488" y="285292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Post-deploy checks</a:t>
            </a:r>
            <a:endParaRPr lang="en-US" sz="830"/>
          </a:p>
        </p:txBody>
      </p:sp>
      <p:sp>
        <p:nvSpPr>
          <p:cNvPr id="28" name="Shape 26"/>
          <p:cNvSpPr/>
          <p:nvPr/>
        </p:nvSpPr>
        <p:spPr>
          <a:xfrm>
            <a:off x="7827264" y="2468880"/>
            <a:ext cx="1655064" cy="749808"/>
          </a:xfrm>
          <a:prstGeom prst="roundRect">
            <a:avLst>
              <a:gd name="adj" fmla="val 7317"/>
            </a:avLst>
          </a:prstGeom>
          <a:solidFill>
            <a:srgbClr val="E1F2EF"/>
          </a:solidFill>
          <a:ln w="12700">
            <a:solidFill>
              <a:srgbClr val="2E8E82"/>
            </a:solidFill>
            <a:prstDash val="solid"/>
          </a:ln>
        </p:spPr>
        <p:txBody>
          <a:bodyPr/>
          <a:lstStyle/>
          <a:p>
            <a:endParaRPr/>
          </a:p>
        </p:txBody>
      </p:sp>
      <p:sp>
        <p:nvSpPr>
          <p:cNvPr id="29" name="Text 27"/>
          <p:cNvSpPr/>
          <p:nvPr/>
        </p:nvSpPr>
        <p:spPr>
          <a:xfrm>
            <a:off x="7955280" y="2578608"/>
            <a:ext cx="1399032" cy="274320"/>
          </a:xfrm>
          <a:prstGeom prst="rect">
            <a:avLst/>
          </a:prstGeom>
          <a:noFill/>
          <a:ln/>
        </p:spPr>
        <p:txBody>
          <a:bodyPr wrap="square" rtlCol="0" anchor="ctr"/>
          <a:lstStyle/>
          <a:p>
            <a:pPr marL="0" indent="0">
              <a:buNone/>
            </a:pPr>
            <a:r>
              <a:rPr lang="en-US" sz="1000" b="1">
                <a:solidFill>
                  <a:srgbClr val="2E8E82"/>
                </a:solidFill>
                <a:latin typeface="Calibri" pitchFamily="34" charset="0"/>
                <a:ea typeface="Calibri" pitchFamily="34" charset="-122"/>
                <a:cs typeface="Calibri" pitchFamily="34" charset="-120"/>
              </a:rPr>
              <a:t>Rollback Advisor</a:t>
            </a:r>
            <a:endParaRPr lang="en-US" sz="1000"/>
          </a:p>
        </p:txBody>
      </p:sp>
      <p:sp>
        <p:nvSpPr>
          <p:cNvPr id="30" name="Text 28"/>
          <p:cNvSpPr/>
          <p:nvPr/>
        </p:nvSpPr>
        <p:spPr>
          <a:xfrm>
            <a:off x="7955280" y="2852928"/>
            <a:ext cx="1399032" cy="310896"/>
          </a:xfrm>
          <a:prstGeom prst="rect">
            <a:avLst/>
          </a:prstGeom>
          <a:noFill/>
          <a:ln/>
        </p:spPr>
        <p:txBody>
          <a:bodyPr wrap="square" rtlCol="0" anchor="ctr"/>
          <a:lstStyle/>
          <a:p>
            <a:pPr marL="0" indent="0">
              <a:lnSpc>
                <a:spcPct val="105000"/>
              </a:lnSpc>
              <a:buNone/>
            </a:pPr>
            <a:r>
              <a:rPr lang="en-US" sz="830">
                <a:solidFill>
                  <a:srgbClr val="5B6584"/>
                </a:solidFill>
                <a:latin typeface="Calibri" pitchFamily="34" charset="0"/>
                <a:ea typeface="Calibri" pitchFamily="34" charset="-122"/>
                <a:cs typeface="Calibri" pitchFamily="34" charset="-120"/>
              </a:rPr>
              <a:t>Safe-to-rollback guidance</a:t>
            </a:r>
            <a:endParaRPr lang="en-US" sz="830"/>
          </a:p>
        </p:txBody>
      </p:sp>
      <p:sp>
        <p:nvSpPr>
          <p:cNvPr id="31" name="Shape 29"/>
          <p:cNvSpPr/>
          <p:nvPr/>
        </p:nvSpPr>
        <p:spPr>
          <a:xfrm>
            <a:off x="548640" y="3566160"/>
            <a:ext cx="3246120" cy="1234440"/>
          </a:xfrm>
          <a:prstGeom prst="roundRect">
            <a:avLst>
              <a:gd name="adj" fmla="val 7407"/>
            </a:avLst>
          </a:prstGeom>
          <a:solidFill>
            <a:srgbClr val="002060"/>
          </a:solidFill>
          <a:ln w="19050">
            <a:solidFill>
              <a:srgbClr val="2C3E7B"/>
            </a:solidFill>
            <a:prstDash val="solid"/>
          </a:ln>
        </p:spPr>
        <p:txBody>
          <a:bodyPr/>
          <a:lstStyle/>
          <a:p>
            <a:endParaRPr/>
          </a:p>
        </p:txBody>
      </p:sp>
      <p:sp>
        <p:nvSpPr>
          <p:cNvPr id="32" name="Shape 30"/>
          <p:cNvSpPr/>
          <p:nvPr/>
        </p:nvSpPr>
        <p:spPr>
          <a:xfrm>
            <a:off x="777240" y="3973068"/>
            <a:ext cx="420624" cy="420624"/>
          </a:xfrm>
          <a:prstGeom prst="ellipse">
            <a:avLst/>
          </a:prstGeom>
          <a:solidFill>
            <a:schemeClr val="bg1"/>
          </a:solidFill>
          <a:ln/>
        </p:spPr>
        <p:txBody>
          <a:bodyPr/>
          <a:lstStyle/>
          <a:p>
            <a:endParaRPr/>
          </a:p>
        </p:txBody>
      </p:sp>
      <p:sp>
        <p:nvSpPr>
          <p:cNvPr id="33" name="Text 31"/>
          <p:cNvSpPr/>
          <p:nvPr/>
        </p:nvSpPr>
        <p:spPr>
          <a:xfrm>
            <a:off x="777240" y="3973068"/>
            <a:ext cx="420624" cy="420624"/>
          </a:xfrm>
          <a:prstGeom prst="rect">
            <a:avLst/>
          </a:prstGeom>
          <a:noFill/>
          <a:ln/>
        </p:spPr>
        <p:txBody>
          <a:bodyPr wrap="square" lIns="0" tIns="0" rIns="0" bIns="0" rtlCol="0" anchor="ctr"/>
          <a:lstStyle/>
          <a:p>
            <a:pPr marL="0" indent="0" algn="ctr">
              <a:buNone/>
            </a:pPr>
            <a:r>
              <a:rPr lang="en-US" sz="1600" b="1">
                <a:solidFill>
                  <a:schemeClr val="tx1">
                    <a:lumMod val="85000"/>
                    <a:lumOff val="15000"/>
                  </a:schemeClr>
                </a:solidFill>
                <a:latin typeface="Arial"/>
                <a:cs typeface="Arial"/>
              </a:rPr>
              <a:t>4</a:t>
            </a:r>
          </a:p>
        </p:txBody>
      </p:sp>
      <p:sp>
        <p:nvSpPr>
          <p:cNvPr id="34" name="Text 32"/>
          <p:cNvSpPr/>
          <p:nvPr/>
        </p:nvSpPr>
        <p:spPr>
          <a:xfrm>
            <a:off x="1298448" y="3566160"/>
            <a:ext cx="2423160" cy="1234440"/>
          </a:xfrm>
          <a:prstGeom prst="rect">
            <a:avLst/>
          </a:prstGeom>
          <a:noFill/>
          <a:ln/>
        </p:spPr>
        <p:txBody>
          <a:bodyPr wrap="square" lIns="91440" tIns="45720" rIns="91440" bIns="45720" rtlCol="0" anchor="ctr"/>
          <a:lstStyle/>
          <a:p>
            <a:pPr marL="0" indent="0">
              <a:lnSpc>
                <a:spcPct val="102000"/>
              </a:lnSpc>
              <a:buNone/>
            </a:pPr>
            <a:r>
              <a:rPr lang="en-US" sz="1300" b="1">
                <a:solidFill>
                  <a:schemeClr val="bg1"/>
                </a:solidFill>
                <a:latin typeface="Calibri"/>
                <a:ea typeface="Calibri"/>
                <a:cs typeface="Calibri"/>
              </a:rPr>
              <a:t>EXECUTION</a:t>
            </a:r>
            <a:endParaRPr lang="en-US" sz="1300">
              <a:solidFill>
                <a:schemeClr val="bg1"/>
              </a:solidFill>
              <a:latin typeface="Calibri"/>
              <a:ea typeface="Calibri"/>
              <a:cs typeface="Calibri"/>
            </a:endParaRPr>
          </a:p>
        </p:txBody>
      </p:sp>
      <p:sp>
        <p:nvSpPr>
          <p:cNvPr id="35" name="Shape 33"/>
          <p:cNvSpPr/>
          <p:nvPr/>
        </p:nvSpPr>
        <p:spPr>
          <a:xfrm>
            <a:off x="3849624" y="4183380"/>
            <a:ext cx="219456" cy="0"/>
          </a:xfrm>
          <a:prstGeom prst="line">
            <a:avLst/>
          </a:prstGeom>
          <a:noFill/>
          <a:ln w="31750">
            <a:solidFill>
              <a:srgbClr val="5B6584"/>
            </a:solidFill>
            <a:prstDash val="solid"/>
            <a:tailEnd type="triangle"/>
          </a:ln>
        </p:spPr>
        <p:txBody>
          <a:bodyPr/>
          <a:lstStyle/>
          <a:p>
            <a:endParaRPr/>
          </a:p>
        </p:txBody>
      </p:sp>
      <p:sp>
        <p:nvSpPr>
          <p:cNvPr id="36" name="Shape 34"/>
          <p:cNvSpPr/>
          <p:nvPr/>
        </p:nvSpPr>
        <p:spPr>
          <a:xfrm>
            <a:off x="4114800" y="3566160"/>
            <a:ext cx="7315200" cy="1234440"/>
          </a:xfrm>
          <a:prstGeom prst="roundRect">
            <a:avLst>
              <a:gd name="adj" fmla="val 7407"/>
            </a:avLst>
          </a:prstGeom>
          <a:solidFill>
            <a:srgbClr val="FFFFFF"/>
          </a:solidFill>
          <a:ln w="15875">
            <a:solidFill>
              <a:srgbClr val="CADCFC"/>
            </a:solidFill>
            <a:prstDash val="solid"/>
          </a:ln>
        </p:spPr>
        <p:txBody>
          <a:bodyPr/>
          <a:lstStyle/>
          <a:p>
            <a:endParaRPr/>
          </a:p>
        </p:txBody>
      </p:sp>
      <p:sp>
        <p:nvSpPr>
          <p:cNvPr id="37" name="Text 35"/>
          <p:cNvSpPr/>
          <p:nvPr/>
        </p:nvSpPr>
        <p:spPr>
          <a:xfrm>
            <a:off x="4343400" y="3749040"/>
            <a:ext cx="6858000" cy="365760"/>
          </a:xfrm>
          <a:prstGeom prst="rect">
            <a:avLst/>
          </a:prstGeom>
          <a:noFill/>
          <a:ln/>
        </p:spPr>
        <p:txBody>
          <a:bodyPr wrap="square" rtlCol="0" anchor="ctr"/>
          <a:lstStyle/>
          <a:p>
            <a:pPr marL="0" indent="0">
              <a:buNone/>
            </a:pPr>
            <a:r>
              <a:rPr lang="en-US" sz="1150" b="1">
                <a:solidFill>
                  <a:srgbClr val="1B1F3B"/>
                </a:solidFill>
                <a:latin typeface="Calibri" pitchFamily="34" charset="0"/>
                <a:ea typeface="Calibri" pitchFamily="34" charset="-122"/>
                <a:cs typeface="Calibri" pitchFamily="34" charset="-120"/>
              </a:rPr>
              <a:t>Azure  ·  GitHub  ·  Terraform  ·  ArgoCD  ·  Kubernetes  ·  Key Vault  ·  Databases</a:t>
            </a:r>
            <a:endParaRPr lang="en-US" sz="1150"/>
          </a:p>
        </p:txBody>
      </p:sp>
      <p:sp>
        <p:nvSpPr>
          <p:cNvPr id="38" name="Text 36"/>
          <p:cNvSpPr/>
          <p:nvPr/>
        </p:nvSpPr>
        <p:spPr>
          <a:xfrm>
            <a:off x="4343400" y="4169664"/>
            <a:ext cx="6858000" cy="502920"/>
          </a:xfrm>
          <a:prstGeom prst="rect">
            <a:avLst/>
          </a:prstGeom>
          <a:noFill/>
          <a:ln/>
        </p:spPr>
        <p:txBody>
          <a:bodyPr wrap="square" lIns="91440" tIns="45720" rIns="91440" bIns="45720" rtlCol="0" anchor="ctr"/>
          <a:lstStyle/>
          <a:p>
            <a:pPr>
              <a:lnSpc>
                <a:spcPct val="115000"/>
              </a:lnSpc>
            </a:pPr>
            <a:r>
              <a:rPr lang="en-US" sz="1000" dirty="0">
                <a:solidFill>
                  <a:srgbClr val="5B6584"/>
                </a:solidFill>
                <a:latin typeface="Calibri"/>
                <a:ea typeface="Calibri"/>
                <a:cs typeface="Calibri"/>
              </a:rPr>
              <a:t>Where change actually lands — DaaS triggers the CI/CD and cloud tooling, orchestrating it rather than replacing it.</a:t>
            </a:r>
            <a:endParaRPr lang="en-US" sz="1000" dirty="0">
              <a:latin typeface="Calibri"/>
              <a:ea typeface="Calibri"/>
              <a:cs typeface="Calibri"/>
            </a:endParaRPr>
          </a:p>
        </p:txBody>
      </p:sp>
      <p:sp>
        <p:nvSpPr>
          <p:cNvPr id="39" name="Shape 37"/>
          <p:cNvSpPr/>
          <p:nvPr/>
        </p:nvSpPr>
        <p:spPr>
          <a:xfrm>
            <a:off x="548640" y="4983480"/>
            <a:ext cx="3246120" cy="1234440"/>
          </a:xfrm>
          <a:prstGeom prst="roundRect">
            <a:avLst>
              <a:gd name="adj" fmla="val 7407"/>
            </a:avLst>
          </a:prstGeom>
          <a:solidFill>
            <a:srgbClr val="002060"/>
          </a:solidFill>
          <a:ln/>
        </p:spPr>
        <p:txBody>
          <a:bodyPr/>
          <a:lstStyle/>
          <a:p>
            <a:endParaRPr/>
          </a:p>
        </p:txBody>
      </p:sp>
      <p:sp>
        <p:nvSpPr>
          <p:cNvPr id="40" name="Shape 38"/>
          <p:cNvSpPr/>
          <p:nvPr/>
        </p:nvSpPr>
        <p:spPr>
          <a:xfrm>
            <a:off x="777240" y="5390388"/>
            <a:ext cx="420624" cy="420624"/>
          </a:xfrm>
          <a:prstGeom prst="ellipse">
            <a:avLst/>
          </a:prstGeom>
          <a:solidFill>
            <a:srgbClr val="FFFFFF"/>
          </a:solidFill>
          <a:ln/>
        </p:spPr>
        <p:txBody>
          <a:bodyPr/>
          <a:lstStyle/>
          <a:p>
            <a:endParaRPr/>
          </a:p>
        </p:txBody>
      </p:sp>
      <p:sp>
        <p:nvSpPr>
          <p:cNvPr id="41" name="Text 39"/>
          <p:cNvSpPr/>
          <p:nvPr/>
        </p:nvSpPr>
        <p:spPr>
          <a:xfrm>
            <a:off x="777240" y="5390388"/>
            <a:ext cx="420624" cy="420624"/>
          </a:xfrm>
          <a:prstGeom prst="rect">
            <a:avLst/>
          </a:prstGeom>
          <a:noFill/>
          <a:ln/>
        </p:spPr>
        <p:txBody>
          <a:bodyPr wrap="square" lIns="0" tIns="0" rIns="0" bIns="0" rtlCol="0" anchor="ctr"/>
          <a:lstStyle/>
          <a:p>
            <a:pPr marL="0" indent="0" algn="ctr">
              <a:buNone/>
            </a:pPr>
            <a:r>
              <a:rPr lang="en-US" sz="1600" b="1">
                <a:solidFill>
                  <a:schemeClr val="tx1">
                    <a:lumMod val="85000"/>
                    <a:lumOff val="15000"/>
                  </a:schemeClr>
                </a:solidFill>
                <a:latin typeface="Arial"/>
                <a:ea typeface="Arial" pitchFamily="34" charset="-122"/>
                <a:cs typeface="Arial"/>
              </a:rPr>
              <a:t>5</a:t>
            </a:r>
            <a:endParaRPr lang="en-US" sz="1600">
              <a:solidFill>
                <a:schemeClr val="tx1">
                  <a:lumMod val="85000"/>
                  <a:lumOff val="15000"/>
                </a:schemeClr>
              </a:solidFill>
              <a:latin typeface="Arial"/>
              <a:cs typeface="Arial"/>
            </a:endParaRPr>
          </a:p>
        </p:txBody>
      </p:sp>
      <p:sp>
        <p:nvSpPr>
          <p:cNvPr id="42" name="Text 40"/>
          <p:cNvSpPr/>
          <p:nvPr/>
        </p:nvSpPr>
        <p:spPr>
          <a:xfrm>
            <a:off x="1298448" y="4983480"/>
            <a:ext cx="2423160" cy="1234440"/>
          </a:xfrm>
          <a:prstGeom prst="rect">
            <a:avLst/>
          </a:prstGeom>
          <a:noFill/>
          <a:ln/>
        </p:spPr>
        <p:txBody>
          <a:bodyPr wrap="square" lIns="91440" tIns="45720" rIns="91440" bIns="45720" rtlCol="0" anchor="ctr"/>
          <a:lstStyle/>
          <a:p>
            <a:pPr marL="0" indent="0">
              <a:lnSpc>
                <a:spcPct val="102000"/>
              </a:lnSpc>
              <a:buNone/>
            </a:pPr>
            <a:r>
              <a:rPr lang="en-US" sz="1300" b="1">
                <a:solidFill>
                  <a:schemeClr val="bg1"/>
                </a:solidFill>
                <a:latin typeface="Calibri"/>
                <a:ea typeface="Calibri"/>
                <a:cs typeface="Calibri"/>
              </a:rPr>
              <a:t>OBSERVABILITY</a:t>
            </a:r>
            <a:endParaRPr lang="en-US" sz="1300">
              <a:solidFill>
                <a:schemeClr val="bg1"/>
              </a:solidFill>
              <a:latin typeface="Calibri"/>
              <a:ea typeface="Calibri"/>
              <a:cs typeface="Calibri"/>
            </a:endParaRPr>
          </a:p>
          <a:p>
            <a:pPr marL="0" indent="0">
              <a:lnSpc>
                <a:spcPct val="102000"/>
              </a:lnSpc>
              <a:buNone/>
            </a:pPr>
            <a:r>
              <a:rPr lang="en-US" sz="1300" b="1">
                <a:solidFill>
                  <a:schemeClr val="bg1"/>
                </a:solidFill>
                <a:latin typeface="Calibri"/>
                <a:ea typeface="Calibri"/>
                <a:cs typeface="Calibri"/>
              </a:rPr>
              <a:t>&amp; REPORTING</a:t>
            </a:r>
            <a:endParaRPr lang="en-US" sz="1300">
              <a:solidFill>
                <a:schemeClr val="bg1"/>
              </a:solidFill>
              <a:latin typeface="Calibri"/>
              <a:ea typeface="Calibri"/>
              <a:cs typeface="Calibri"/>
            </a:endParaRPr>
          </a:p>
        </p:txBody>
      </p:sp>
      <p:sp>
        <p:nvSpPr>
          <p:cNvPr id="43" name="Shape 41"/>
          <p:cNvSpPr/>
          <p:nvPr/>
        </p:nvSpPr>
        <p:spPr>
          <a:xfrm>
            <a:off x="3849624" y="5600700"/>
            <a:ext cx="219456" cy="0"/>
          </a:xfrm>
          <a:prstGeom prst="line">
            <a:avLst/>
          </a:prstGeom>
          <a:noFill/>
          <a:ln w="31750">
            <a:solidFill>
              <a:srgbClr val="5B6584"/>
            </a:solidFill>
            <a:prstDash val="solid"/>
            <a:tailEnd type="triangle"/>
          </a:ln>
        </p:spPr>
        <p:txBody>
          <a:bodyPr/>
          <a:lstStyle/>
          <a:p>
            <a:endParaRPr/>
          </a:p>
        </p:txBody>
      </p:sp>
      <p:sp>
        <p:nvSpPr>
          <p:cNvPr id="44" name="Shape 42"/>
          <p:cNvSpPr/>
          <p:nvPr/>
        </p:nvSpPr>
        <p:spPr>
          <a:xfrm>
            <a:off x="4114800" y="4983480"/>
            <a:ext cx="7315200" cy="1234440"/>
          </a:xfrm>
          <a:prstGeom prst="roundRect">
            <a:avLst>
              <a:gd name="adj" fmla="val 7407"/>
            </a:avLst>
          </a:prstGeom>
          <a:solidFill>
            <a:srgbClr val="FFFFFF"/>
          </a:solidFill>
          <a:ln w="15875">
            <a:solidFill>
              <a:srgbClr val="CADCFC"/>
            </a:solidFill>
            <a:prstDash val="solid"/>
          </a:ln>
        </p:spPr>
        <p:txBody>
          <a:bodyPr/>
          <a:lstStyle/>
          <a:p>
            <a:endParaRPr/>
          </a:p>
        </p:txBody>
      </p:sp>
      <p:sp>
        <p:nvSpPr>
          <p:cNvPr id="45" name="Text 43"/>
          <p:cNvSpPr/>
          <p:nvPr/>
        </p:nvSpPr>
        <p:spPr>
          <a:xfrm>
            <a:off x="4343400" y="5166360"/>
            <a:ext cx="6858000" cy="365760"/>
          </a:xfrm>
          <a:prstGeom prst="rect">
            <a:avLst/>
          </a:prstGeom>
          <a:noFill/>
          <a:ln/>
        </p:spPr>
        <p:txBody>
          <a:bodyPr wrap="square" rtlCol="0" anchor="ctr"/>
          <a:lstStyle/>
          <a:p>
            <a:pPr marL="0" indent="0">
              <a:buNone/>
            </a:pPr>
            <a:r>
              <a:rPr lang="en-US" sz="1150" b="1">
                <a:solidFill>
                  <a:srgbClr val="1B1F3B"/>
                </a:solidFill>
                <a:latin typeface="Calibri" pitchFamily="34" charset="0"/>
                <a:ea typeface="Calibri" pitchFamily="34" charset="-122"/>
                <a:cs typeface="Calibri" pitchFamily="34" charset="-120"/>
              </a:rPr>
              <a:t>Approval Dashboard  ·  Environment Dashboard  ·  Release Summary  ·  Audit Trail  ·  Downloadable Reports</a:t>
            </a:r>
            <a:endParaRPr lang="en-US" sz="1150"/>
          </a:p>
        </p:txBody>
      </p:sp>
      <p:sp>
        <p:nvSpPr>
          <p:cNvPr id="46" name="Text 44"/>
          <p:cNvSpPr/>
          <p:nvPr/>
        </p:nvSpPr>
        <p:spPr>
          <a:xfrm>
            <a:off x="4343400" y="5586984"/>
            <a:ext cx="6858000" cy="502920"/>
          </a:xfrm>
          <a:prstGeom prst="rect">
            <a:avLst/>
          </a:prstGeom>
          <a:noFill/>
          <a:ln/>
        </p:spPr>
        <p:txBody>
          <a:bodyPr wrap="square" lIns="91440" tIns="45720" rIns="91440" bIns="45720" rtlCol="0" anchor="ctr"/>
          <a:lstStyle/>
          <a:p>
            <a:pPr marL="0" indent="0">
              <a:lnSpc>
                <a:spcPct val="115000"/>
              </a:lnSpc>
              <a:buNone/>
            </a:pPr>
            <a:r>
              <a:rPr lang="en-US" sz="1000">
                <a:solidFill>
                  <a:srgbClr val="5B6584"/>
                </a:solidFill>
                <a:latin typeface="Calibri"/>
                <a:ea typeface="Calibri"/>
                <a:cs typeface="Calibri"/>
              </a:rPr>
              <a:t>Every action surfaces here — dashboards, summaries, a full audit trail, and downloadable reports for change-management records.</a:t>
            </a:r>
            <a:endParaRPr lang="en-US" sz="1000">
              <a:latin typeface="Calibri"/>
              <a:ea typeface="Calibri"/>
              <a:cs typeface="Calibri"/>
            </a:endParaRPr>
          </a:p>
        </p:txBody>
      </p:sp>
      <p:sp>
        <p:nvSpPr>
          <p:cNvPr id="47" name="Text 45"/>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48" name="Text 46"/>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6</a:t>
            </a:r>
            <a:endParaRPr lang="en-US" sz="1000"/>
          </a:p>
        </p:txBody>
      </p:sp>
      <p:sp>
        <p:nvSpPr>
          <p:cNvPr id="102" name="Shape">
            <a:extLst>
              <a:ext uri="{FF2B5EF4-FFF2-40B4-BE49-F238E27FC236}">
                <a16:creationId xmlns:a16="http://schemas.microsoft.com/office/drawing/2014/main" id="{663072FA-AE2F-DE61-24C6-C152AC5C91B7}"/>
              </a:ext>
            </a:extLst>
          </p:cNvPr>
          <p:cNvSpPr/>
          <p:nvPr/>
        </p:nvSpPr>
        <p:spPr>
          <a:xfrm>
            <a:off x="1206752" y="82408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04" name="TB">
            <a:extLst>
              <a:ext uri="{FF2B5EF4-FFF2-40B4-BE49-F238E27FC236}">
                <a16:creationId xmlns:a16="http://schemas.microsoft.com/office/drawing/2014/main" id="{17F8AEC4-8F42-508A-E999-3A621FB85A5E}"/>
              </a:ext>
            </a:extLst>
          </p:cNvPr>
          <p:cNvSpPr>
            <a:spLocks noGrp="1"/>
          </p:cNvSpPr>
          <p:nvPr/>
        </p:nvSpPr>
        <p:spPr>
          <a:xfrm>
            <a:off x="1206752" y="824080"/>
            <a:ext cx="1700000" cy="329184"/>
          </a:xfrm>
          <a:prstGeom prst="rect">
            <a:avLst/>
          </a:prstGeom>
          <a:noFill/>
          <a:ln/>
        </p:spPr>
        <p:txBody>
          <a:bodyPr wrap="square" lIns="0" tIns="0" rIns="0" bIns="0" rtlCol="0" anchor="ctr"/>
          <a:lstStyle/>
          <a:p>
            <a:pPr marL="0" indent="0" algn="ctr">
              <a:buNone/>
            </a:pPr>
            <a:r>
              <a:rPr lang="en-US" sz="850" b="1" dirty="0">
                <a:solidFill>
                  <a:srgbClr val="5B6584"/>
                </a:solidFill>
                <a:latin typeface="Calibri" pitchFamily="34" charset="0"/>
              </a:rPr>
              <a:t>ANALYSE</a:t>
            </a:r>
          </a:p>
        </p:txBody>
      </p:sp>
      <p:sp>
        <p:nvSpPr>
          <p:cNvPr id="106" name="TB">
            <a:extLst>
              <a:ext uri="{FF2B5EF4-FFF2-40B4-BE49-F238E27FC236}">
                <a16:creationId xmlns:a16="http://schemas.microsoft.com/office/drawing/2014/main" id="{A34183A8-FF46-D7D0-8230-8A0890604D7D}"/>
              </a:ext>
            </a:extLst>
          </p:cNvPr>
          <p:cNvSpPr>
            <a:spLocks noGrp="1"/>
          </p:cNvSpPr>
          <p:nvPr/>
        </p:nvSpPr>
        <p:spPr>
          <a:xfrm>
            <a:off x="2906752" y="82408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08" name="Shape">
            <a:extLst>
              <a:ext uri="{FF2B5EF4-FFF2-40B4-BE49-F238E27FC236}">
                <a16:creationId xmlns:a16="http://schemas.microsoft.com/office/drawing/2014/main" id="{025D2BC1-1572-6626-F341-868E594311DF}"/>
              </a:ext>
            </a:extLst>
          </p:cNvPr>
          <p:cNvSpPr/>
          <p:nvPr/>
        </p:nvSpPr>
        <p:spPr>
          <a:xfrm>
            <a:off x="3053056" y="82408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10" name="TB">
            <a:extLst>
              <a:ext uri="{FF2B5EF4-FFF2-40B4-BE49-F238E27FC236}">
                <a16:creationId xmlns:a16="http://schemas.microsoft.com/office/drawing/2014/main" id="{3951963A-8AA1-B1AB-EC8F-97A7674A60F8}"/>
              </a:ext>
            </a:extLst>
          </p:cNvPr>
          <p:cNvSpPr>
            <a:spLocks noGrp="1"/>
          </p:cNvSpPr>
          <p:nvPr/>
        </p:nvSpPr>
        <p:spPr>
          <a:xfrm>
            <a:off x="3002256" y="82408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CONNECT</a:t>
            </a:r>
          </a:p>
        </p:txBody>
      </p:sp>
      <p:sp>
        <p:nvSpPr>
          <p:cNvPr id="112" name="TB">
            <a:extLst>
              <a:ext uri="{FF2B5EF4-FFF2-40B4-BE49-F238E27FC236}">
                <a16:creationId xmlns:a16="http://schemas.microsoft.com/office/drawing/2014/main" id="{F3FE6C29-8EB4-98E5-77D2-E3AC8578F79B}"/>
              </a:ext>
            </a:extLst>
          </p:cNvPr>
          <p:cNvSpPr>
            <a:spLocks noGrp="1"/>
          </p:cNvSpPr>
          <p:nvPr/>
        </p:nvSpPr>
        <p:spPr>
          <a:xfrm>
            <a:off x="4753056" y="82408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14" name="Shape">
            <a:extLst>
              <a:ext uri="{FF2B5EF4-FFF2-40B4-BE49-F238E27FC236}">
                <a16:creationId xmlns:a16="http://schemas.microsoft.com/office/drawing/2014/main" id="{FF166FFB-34F4-3D38-371B-86AB0AD3BB06}"/>
              </a:ext>
            </a:extLst>
          </p:cNvPr>
          <p:cNvSpPr/>
          <p:nvPr/>
        </p:nvSpPr>
        <p:spPr>
          <a:xfrm>
            <a:off x="4899360" y="824080"/>
            <a:ext cx="1700000" cy="329184"/>
          </a:xfrm>
          <a:prstGeom prst="roundRect">
            <a:avLst>
              <a:gd name="adj" fmla="val 16667"/>
            </a:avLst>
          </a:prstGeom>
          <a:solidFill>
            <a:srgbClr val="FFFFFF"/>
          </a:solidFill>
          <a:ln w="15875">
            <a:solidFill>
              <a:srgbClr val="CADCFC"/>
            </a:solidFill>
            <a:prstDash val="solid"/>
          </a:ln>
        </p:spPr>
        <p:txBody>
          <a:bodyPr/>
          <a:lstStyle/>
          <a:p>
            <a:endParaRPr/>
          </a:p>
        </p:txBody>
      </p:sp>
      <p:sp>
        <p:nvSpPr>
          <p:cNvPr id="116" name="TB">
            <a:extLst>
              <a:ext uri="{FF2B5EF4-FFF2-40B4-BE49-F238E27FC236}">
                <a16:creationId xmlns:a16="http://schemas.microsoft.com/office/drawing/2014/main" id="{8E1B151E-757A-6A54-7085-1115859D9C97}"/>
              </a:ext>
            </a:extLst>
          </p:cNvPr>
          <p:cNvSpPr>
            <a:spLocks noGrp="1"/>
          </p:cNvSpPr>
          <p:nvPr/>
        </p:nvSpPr>
        <p:spPr>
          <a:xfrm>
            <a:off x="4889200" y="824080"/>
            <a:ext cx="1700000" cy="329184"/>
          </a:xfrm>
          <a:prstGeom prst="rect">
            <a:avLst/>
          </a:prstGeom>
          <a:noFill/>
          <a:ln/>
        </p:spPr>
        <p:txBody>
          <a:bodyPr wrap="square" lIns="0" tIns="0" rIns="0" bIns="0" rtlCol="0" anchor="ctr"/>
          <a:lstStyle/>
          <a:p>
            <a:pPr marL="0" indent="0" algn="ctr">
              <a:buNone/>
            </a:pPr>
            <a:r>
              <a:rPr lang="en-US" sz="850" b="1" i="0" dirty="0">
                <a:solidFill>
                  <a:srgbClr val="5B6584"/>
                </a:solidFill>
                <a:latin typeface="Calibri" pitchFamily="34" charset="0"/>
              </a:rPr>
              <a:t>CONFIGURE</a:t>
            </a:r>
          </a:p>
        </p:txBody>
      </p:sp>
      <p:sp>
        <p:nvSpPr>
          <p:cNvPr id="118" name="TB">
            <a:extLst>
              <a:ext uri="{FF2B5EF4-FFF2-40B4-BE49-F238E27FC236}">
                <a16:creationId xmlns:a16="http://schemas.microsoft.com/office/drawing/2014/main" id="{58A1D3C1-634C-8670-13FA-036EAE6B7514}"/>
              </a:ext>
            </a:extLst>
          </p:cNvPr>
          <p:cNvSpPr>
            <a:spLocks noGrp="1"/>
          </p:cNvSpPr>
          <p:nvPr/>
        </p:nvSpPr>
        <p:spPr>
          <a:xfrm>
            <a:off x="6599360" y="824080"/>
            <a:ext cx="182880" cy="329184"/>
          </a:xfrm>
          <a:prstGeom prst="rect">
            <a:avLst/>
          </a:prstGeom>
          <a:noFill/>
          <a:ln/>
        </p:spPr>
        <p:txBody>
          <a:bodyPr wrap="square" lIns="0" tIns="0" rIns="0" bIns="0" rtlCol="0" anchor="ctr"/>
          <a:lstStyle/>
          <a:p>
            <a:pPr marL="0" indent="0" algn="ctr">
              <a:buNone/>
            </a:pPr>
            <a:r>
              <a:rPr lang="en-US" sz="1000" b="0" i="0" dirty="0">
                <a:solidFill>
                  <a:srgbClr val="CADCFC"/>
                </a:solidFill>
                <a:latin typeface="Calibri" pitchFamily="34" charset="0"/>
              </a:rPr>
              <a:t>→</a:t>
            </a:r>
          </a:p>
        </p:txBody>
      </p:sp>
      <p:sp>
        <p:nvSpPr>
          <p:cNvPr id="120" name="Shape">
            <a:extLst>
              <a:ext uri="{FF2B5EF4-FFF2-40B4-BE49-F238E27FC236}">
                <a16:creationId xmlns:a16="http://schemas.microsoft.com/office/drawing/2014/main" id="{A5CCA27E-E3B9-A1CB-802E-76458D7B00F4}"/>
              </a:ext>
            </a:extLst>
          </p:cNvPr>
          <p:cNvSpPr/>
          <p:nvPr/>
        </p:nvSpPr>
        <p:spPr>
          <a:xfrm>
            <a:off x="6745664" y="824080"/>
            <a:ext cx="1700000" cy="329184"/>
          </a:xfrm>
          <a:prstGeom prst="roundRect">
            <a:avLst>
              <a:gd name="adj" fmla="val 16667"/>
            </a:avLst>
          </a:prstGeom>
          <a:solidFill>
            <a:srgbClr val="0F1B35"/>
          </a:solidFill>
          <a:ln w="15875">
            <a:solidFill>
              <a:srgbClr val="0F1B35"/>
            </a:solidFill>
            <a:prstDash val="solid"/>
          </a:ln>
        </p:spPr>
        <p:txBody>
          <a:bodyPr/>
          <a:lstStyle/>
          <a:p>
            <a:endParaRPr/>
          </a:p>
        </p:txBody>
      </p:sp>
      <p:sp>
        <p:nvSpPr>
          <p:cNvPr id="122" name="TB">
            <a:extLst>
              <a:ext uri="{FF2B5EF4-FFF2-40B4-BE49-F238E27FC236}">
                <a16:creationId xmlns:a16="http://schemas.microsoft.com/office/drawing/2014/main" id="{4DCAE412-66AF-1486-7E5D-916DC5393390}"/>
              </a:ext>
            </a:extLst>
          </p:cNvPr>
          <p:cNvSpPr>
            <a:spLocks noGrp="1"/>
          </p:cNvSpPr>
          <p:nvPr/>
        </p:nvSpPr>
        <p:spPr>
          <a:xfrm>
            <a:off x="6694864" y="803760"/>
            <a:ext cx="1700000" cy="329184"/>
          </a:xfrm>
          <a:prstGeom prst="rect">
            <a:avLst/>
          </a:prstGeom>
          <a:noFill/>
          <a:ln/>
        </p:spPr>
        <p:txBody>
          <a:bodyPr wrap="square" lIns="0" tIns="0" rIns="0" bIns="0" rtlCol="0" anchor="ctr"/>
          <a:lstStyle/>
          <a:p>
            <a:pPr marL="0" indent="0" algn="ctr">
              <a:buNone/>
            </a:pPr>
            <a:r>
              <a:rPr lang="en-US" sz="850" b="1" i="0" dirty="0">
                <a:solidFill>
                  <a:schemeClr val="bg1"/>
                </a:solidFill>
                <a:latin typeface="Calibri"/>
                <a:ea typeface="Calibri"/>
                <a:cs typeface="Calibri"/>
              </a:rPr>
              <a:t>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REPORTING</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Approval Summary — Sign-Offs &amp; Readiness</a:t>
            </a:r>
            <a:endParaRPr lang="en-US" sz="2600"/>
          </a:p>
        </p:txBody>
      </p:sp>
      <p:sp>
        <p:nvSpPr>
          <p:cNvPr id="4" name="Shape 2"/>
          <p:cNvSpPr/>
          <p:nvPr/>
        </p:nvSpPr>
        <p:spPr>
          <a:xfrm>
            <a:off x="548640" y="1371600"/>
            <a:ext cx="6583680" cy="3566160"/>
          </a:xfrm>
          <a:prstGeom prst="roundRect">
            <a:avLst>
              <a:gd name="adj" fmla="val 2051"/>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5" name="Text 3"/>
          <p:cNvSpPr/>
          <p:nvPr/>
        </p:nvSpPr>
        <p:spPr>
          <a:xfrm>
            <a:off x="777240" y="1508760"/>
            <a:ext cx="3657600" cy="320040"/>
          </a:xfrm>
          <a:prstGeom prst="rect">
            <a:avLst/>
          </a:prstGeom>
          <a:noFill/>
          <a:ln/>
        </p:spPr>
        <p:txBody>
          <a:bodyPr wrap="square" rtlCol="0" anchor="ctr"/>
          <a:lstStyle/>
          <a:p>
            <a:pPr marL="0" indent="0">
              <a:buNone/>
            </a:pPr>
            <a:r>
              <a:rPr lang="en-US" sz="1300" b="1">
                <a:solidFill>
                  <a:srgbClr val="1E2761"/>
                </a:solidFill>
                <a:latin typeface="Calibri" pitchFamily="34" charset="0"/>
                <a:ea typeface="Calibri" pitchFamily="34" charset="-122"/>
                <a:cs typeface="Calibri" pitchFamily="34" charset="-120"/>
              </a:rPr>
              <a:t>Stakeholder Sign-Offs</a:t>
            </a:r>
            <a:endParaRPr lang="en-US" sz="1300"/>
          </a:p>
        </p:txBody>
      </p:sp>
      <p:sp>
        <p:nvSpPr>
          <p:cNvPr id="6" name="Text 4"/>
          <p:cNvSpPr/>
          <p:nvPr/>
        </p:nvSpPr>
        <p:spPr>
          <a:xfrm>
            <a:off x="804672" y="1901952"/>
            <a:ext cx="182880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STAGE</a:t>
            </a:r>
            <a:endParaRPr lang="en-US" sz="800"/>
          </a:p>
        </p:txBody>
      </p:sp>
      <p:sp>
        <p:nvSpPr>
          <p:cNvPr id="7" name="Text 5"/>
          <p:cNvSpPr/>
          <p:nvPr/>
        </p:nvSpPr>
        <p:spPr>
          <a:xfrm>
            <a:off x="2651760" y="1901952"/>
            <a:ext cx="210312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APPROVER</a:t>
            </a:r>
            <a:endParaRPr lang="en-US" sz="800"/>
          </a:p>
        </p:txBody>
      </p:sp>
      <p:sp>
        <p:nvSpPr>
          <p:cNvPr id="8" name="Text 6"/>
          <p:cNvSpPr/>
          <p:nvPr/>
        </p:nvSpPr>
        <p:spPr>
          <a:xfrm>
            <a:off x="4754880" y="1901952"/>
            <a:ext cx="118872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STATUS</a:t>
            </a:r>
            <a:endParaRPr lang="en-US" sz="800"/>
          </a:p>
        </p:txBody>
      </p:sp>
      <p:sp>
        <p:nvSpPr>
          <p:cNvPr id="9" name="Text 7"/>
          <p:cNvSpPr/>
          <p:nvPr/>
        </p:nvSpPr>
        <p:spPr>
          <a:xfrm>
            <a:off x="5943600" y="1901952"/>
            <a:ext cx="1005840" cy="256032"/>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WHEN</a:t>
            </a:r>
            <a:endParaRPr lang="en-US" sz="800"/>
          </a:p>
        </p:txBody>
      </p:sp>
      <p:sp>
        <p:nvSpPr>
          <p:cNvPr id="10" name="Text 8"/>
          <p:cNvSpPr/>
          <p:nvPr/>
        </p:nvSpPr>
        <p:spPr>
          <a:xfrm>
            <a:off x="804672" y="219456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QA Review</a:t>
            </a:r>
            <a:endParaRPr lang="en-US" sz="1050"/>
          </a:p>
        </p:txBody>
      </p:sp>
      <p:sp>
        <p:nvSpPr>
          <p:cNvPr id="11" name="Text 9"/>
          <p:cNvSpPr/>
          <p:nvPr/>
        </p:nvSpPr>
        <p:spPr>
          <a:xfrm>
            <a:off x="2651760" y="219456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QA Lead</a:t>
            </a:r>
            <a:endParaRPr lang="en-US" sz="1000"/>
          </a:p>
        </p:txBody>
      </p:sp>
      <p:sp>
        <p:nvSpPr>
          <p:cNvPr id="12" name="Shape 10"/>
          <p:cNvSpPr/>
          <p:nvPr/>
        </p:nvSpPr>
        <p:spPr>
          <a:xfrm>
            <a:off x="4754880" y="2322576"/>
            <a:ext cx="1051560" cy="256032"/>
          </a:xfrm>
          <a:prstGeom prst="roundRect">
            <a:avLst>
              <a:gd name="adj" fmla="val 50000"/>
            </a:avLst>
          </a:prstGeom>
          <a:solidFill>
            <a:srgbClr val="2A9187"/>
          </a:solidFill>
          <a:ln/>
        </p:spPr>
        <p:txBody>
          <a:bodyPr/>
          <a:lstStyle/>
          <a:p>
            <a:endParaRPr/>
          </a:p>
        </p:txBody>
      </p:sp>
      <p:sp>
        <p:nvSpPr>
          <p:cNvPr id="13" name="Text 11"/>
          <p:cNvSpPr/>
          <p:nvPr/>
        </p:nvSpPr>
        <p:spPr>
          <a:xfrm>
            <a:off x="4754880" y="2322576"/>
            <a:ext cx="1051560" cy="256032"/>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Approved</a:t>
            </a:r>
            <a:endParaRPr lang="en-US" sz="750"/>
          </a:p>
        </p:txBody>
      </p:sp>
      <p:sp>
        <p:nvSpPr>
          <p:cNvPr id="14" name="Text 12"/>
          <p:cNvSpPr/>
          <p:nvPr/>
        </p:nvSpPr>
        <p:spPr>
          <a:xfrm>
            <a:off x="5943600" y="219456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Day 1 · 09:12</a:t>
            </a:r>
            <a:endParaRPr lang="en-US" sz="900"/>
          </a:p>
        </p:txBody>
      </p:sp>
      <p:sp>
        <p:nvSpPr>
          <p:cNvPr id="15" name="Shape 13"/>
          <p:cNvSpPr/>
          <p:nvPr/>
        </p:nvSpPr>
        <p:spPr>
          <a:xfrm>
            <a:off x="731520" y="2697480"/>
            <a:ext cx="6217920" cy="502920"/>
          </a:xfrm>
          <a:prstGeom prst="rect">
            <a:avLst/>
          </a:prstGeom>
          <a:solidFill>
            <a:srgbClr val="F4F7FC"/>
          </a:solidFill>
          <a:ln/>
        </p:spPr>
        <p:txBody>
          <a:bodyPr/>
          <a:lstStyle/>
          <a:p>
            <a:endParaRPr/>
          </a:p>
        </p:txBody>
      </p:sp>
      <p:sp>
        <p:nvSpPr>
          <p:cNvPr id="16" name="Text 14"/>
          <p:cNvSpPr/>
          <p:nvPr/>
        </p:nvSpPr>
        <p:spPr>
          <a:xfrm>
            <a:off x="804672" y="269748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Environment Owner</a:t>
            </a:r>
            <a:endParaRPr lang="en-US" sz="1050"/>
          </a:p>
        </p:txBody>
      </p:sp>
      <p:sp>
        <p:nvSpPr>
          <p:cNvPr id="17" name="Text 15"/>
          <p:cNvSpPr/>
          <p:nvPr/>
        </p:nvSpPr>
        <p:spPr>
          <a:xfrm>
            <a:off x="2651760" y="269748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UAT Owner</a:t>
            </a:r>
            <a:endParaRPr lang="en-US" sz="1000"/>
          </a:p>
        </p:txBody>
      </p:sp>
      <p:sp>
        <p:nvSpPr>
          <p:cNvPr id="18" name="Shape 16"/>
          <p:cNvSpPr/>
          <p:nvPr/>
        </p:nvSpPr>
        <p:spPr>
          <a:xfrm>
            <a:off x="4754880" y="2825496"/>
            <a:ext cx="1051560" cy="256032"/>
          </a:xfrm>
          <a:prstGeom prst="roundRect">
            <a:avLst>
              <a:gd name="adj" fmla="val 50000"/>
            </a:avLst>
          </a:prstGeom>
          <a:solidFill>
            <a:srgbClr val="2A9187"/>
          </a:solidFill>
          <a:ln/>
        </p:spPr>
        <p:txBody>
          <a:bodyPr/>
          <a:lstStyle/>
          <a:p>
            <a:endParaRPr/>
          </a:p>
        </p:txBody>
      </p:sp>
      <p:sp>
        <p:nvSpPr>
          <p:cNvPr id="19" name="Text 17"/>
          <p:cNvSpPr/>
          <p:nvPr/>
        </p:nvSpPr>
        <p:spPr>
          <a:xfrm>
            <a:off x="4754880" y="2825496"/>
            <a:ext cx="1051560" cy="256032"/>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Approved</a:t>
            </a:r>
            <a:endParaRPr lang="en-US" sz="750"/>
          </a:p>
        </p:txBody>
      </p:sp>
      <p:sp>
        <p:nvSpPr>
          <p:cNvPr id="20" name="Text 18"/>
          <p:cNvSpPr/>
          <p:nvPr/>
        </p:nvSpPr>
        <p:spPr>
          <a:xfrm>
            <a:off x="5943600" y="269748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Day 1 · 10:45</a:t>
            </a:r>
            <a:endParaRPr lang="en-US" sz="900"/>
          </a:p>
        </p:txBody>
      </p:sp>
      <p:sp>
        <p:nvSpPr>
          <p:cNvPr id="21" name="Text 19"/>
          <p:cNvSpPr/>
          <p:nvPr/>
        </p:nvSpPr>
        <p:spPr>
          <a:xfrm>
            <a:off x="804672" y="320040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Architecture Review</a:t>
            </a:r>
            <a:endParaRPr lang="en-US" sz="1050"/>
          </a:p>
        </p:txBody>
      </p:sp>
      <p:sp>
        <p:nvSpPr>
          <p:cNvPr id="22" name="Text 20"/>
          <p:cNvSpPr/>
          <p:nvPr/>
        </p:nvSpPr>
        <p:spPr>
          <a:xfrm>
            <a:off x="2651760" y="320040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Solution Architect</a:t>
            </a:r>
            <a:endParaRPr lang="en-US" sz="1000"/>
          </a:p>
        </p:txBody>
      </p:sp>
      <p:sp>
        <p:nvSpPr>
          <p:cNvPr id="23" name="Shape 21"/>
          <p:cNvSpPr/>
          <p:nvPr/>
        </p:nvSpPr>
        <p:spPr>
          <a:xfrm>
            <a:off x="4754880" y="3328416"/>
            <a:ext cx="1051560" cy="256032"/>
          </a:xfrm>
          <a:prstGeom prst="roundRect">
            <a:avLst>
              <a:gd name="adj" fmla="val 50000"/>
            </a:avLst>
          </a:prstGeom>
          <a:solidFill>
            <a:srgbClr val="2A9187"/>
          </a:solidFill>
          <a:ln/>
        </p:spPr>
        <p:txBody>
          <a:bodyPr/>
          <a:lstStyle/>
          <a:p>
            <a:endParaRPr/>
          </a:p>
        </p:txBody>
      </p:sp>
      <p:sp>
        <p:nvSpPr>
          <p:cNvPr id="24" name="Text 22"/>
          <p:cNvSpPr/>
          <p:nvPr/>
        </p:nvSpPr>
        <p:spPr>
          <a:xfrm>
            <a:off x="4754880" y="3328416"/>
            <a:ext cx="1051560" cy="256032"/>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Approved</a:t>
            </a:r>
            <a:endParaRPr lang="en-US" sz="750"/>
          </a:p>
        </p:txBody>
      </p:sp>
      <p:sp>
        <p:nvSpPr>
          <p:cNvPr id="25" name="Text 23"/>
          <p:cNvSpPr/>
          <p:nvPr/>
        </p:nvSpPr>
        <p:spPr>
          <a:xfrm>
            <a:off x="5943600" y="320040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Day 1 · 11:20</a:t>
            </a:r>
            <a:endParaRPr lang="en-US" sz="900"/>
          </a:p>
        </p:txBody>
      </p:sp>
      <p:sp>
        <p:nvSpPr>
          <p:cNvPr id="26" name="Shape 24"/>
          <p:cNvSpPr/>
          <p:nvPr/>
        </p:nvSpPr>
        <p:spPr>
          <a:xfrm>
            <a:off x="731520" y="3703320"/>
            <a:ext cx="6217920" cy="502920"/>
          </a:xfrm>
          <a:prstGeom prst="rect">
            <a:avLst/>
          </a:prstGeom>
          <a:solidFill>
            <a:srgbClr val="F4F7FC"/>
          </a:solidFill>
          <a:ln/>
        </p:spPr>
        <p:txBody>
          <a:bodyPr/>
          <a:lstStyle/>
          <a:p>
            <a:endParaRPr/>
          </a:p>
        </p:txBody>
      </p:sp>
      <p:sp>
        <p:nvSpPr>
          <p:cNvPr id="27" name="Text 25"/>
          <p:cNvSpPr/>
          <p:nvPr/>
        </p:nvSpPr>
        <p:spPr>
          <a:xfrm>
            <a:off x="804672" y="370332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Release Manager</a:t>
            </a:r>
            <a:endParaRPr lang="en-US" sz="1050"/>
          </a:p>
        </p:txBody>
      </p:sp>
      <p:sp>
        <p:nvSpPr>
          <p:cNvPr id="28" name="Text 26"/>
          <p:cNvSpPr/>
          <p:nvPr/>
        </p:nvSpPr>
        <p:spPr>
          <a:xfrm>
            <a:off x="2651760" y="370332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Release Manager</a:t>
            </a:r>
            <a:endParaRPr lang="en-US" sz="1000"/>
          </a:p>
        </p:txBody>
      </p:sp>
      <p:sp>
        <p:nvSpPr>
          <p:cNvPr id="29" name="Shape 27"/>
          <p:cNvSpPr/>
          <p:nvPr/>
        </p:nvSpPr>
        <p:spPr>
          <a:xfrm>
            <a:off x="4754880" y="3831336"/>
            <a:ext cx="1051560" cy="256032"/>
          </a:xfrm>
          <a:prstGeom prst="roundRect">
            <a:avLst>
              <a:gd name="adj" fmla="val 50000"/>
            </a:avLst>
          </a:prstGeom>
          <a:solidFill>
            <a:srgbClr val="C69749"/>
          </a:solidFill>
          <a:ln/>
        </p:spPr>
        <p:txBody>
          <a:bodyPr/>
          <a:lstStyle/>
          <a:p>
            <a:endParaRPr/>
          </a:p>
        </p:txBody>
      </p:sp>
      <p:sp>
        <p:nvSpPr>
          <p:cNvPr id="30" name="Text 28"/>
          <p:cNvSpPr/>
          <p:nvPr/>
        </p:nvSpPr>
        <p:spPr>
          <a:xfrm>
            <a:off x="4754880" y="3831336"/>
            <a:ext cx="1051560" cy="256032"/>
          </a:xfrm>
          <a:prstGeom prst="rect">
            <a:avLst/>
          </a:prstGeom>
          <a:noFill/>
          <a:ln/>
        </p:spPr>
        <p:txBody>
          <a:bodyPr wrap="square" lIns="0" tIns="0" rIns="0" bIns="0" rtlCol="0" anchor="ctr"/>
          <a:lstStyle/>
          <a:p>
            <a:pPr marL="0" indent="0" algn="ctr">
              <a:buNone/>
            </a:pPr>
            <a:r>
              <a:rPr lang="en-US" sz="750" b="1">
                <a:solidFill>
                  <a:srgbClr val="141B47"/>
                </a:solidFill>
                <a:latin typeface="Calibri" pitchFamily="34" charset="0"/>
                <a:ea typeface="Calibri" pitchFamily="34" charset="-122"/>
                <a:cs typeface="Calibri" pitchFamily="34" charset="-120"/>
              </a:rPr>
              <a:t>Pending</a:t>
            </a:r>
            <a:endParaRPr lang="en-US" sz="750"/>
          </a:p>
        </p:txBody>
      </p:sp>
      <p:sp>
        <p:nvSpPr>
          <p:cNvPr id="31" name="Text 29"/>
          <p:cNvSpPr/>
          <p:nvPr/>
        </p:nvSpPr>
        <p:spPr>
          <a:xfrm>
            <a:off x="5943600" y="370332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SLA 24h</a:t>
            </a:r>
            <a:endParaRPr lang="en-US" sz="900"/>
          </a:p>
        </p:txBody>
      </p:sp>
      <p:sp>
        <p:nvSpPr>
          <p:cNvPr id="32" name="Text 30"/>
          <p:cNvSpPr/>
          <p:nvPr/>
        </p:nvSpPr>
        <p:spPr>
          <a:xfrm>
            <a:off x="804672" y="4206240"/>
            <a:ext cx="1828800" cy="502920"/>
          </a:xfrm>
          <a:prstGeom prst="rect">
            <a:avLst/>
          </a:prstGeom>
          <a:noFill/>
          <a:ln/>
        </p:spPr>
        <p:txBody>
          <a:bodyPr wrap="square" rtlCol="0" anchor="ctr"/>
          <a:lstStyle/>
          <a:p>
            <a:pPr marL="0" indent="0">
              <a:buNone/>
            </a:pPr>
            <a:r>
              <a:rPr lang="en-US" sz="1050" b="1">
                <a:solidFill>
                  <a:srgbClr val="1B1F3B"/>
                </a:solidFill>
                <a:latin typeface="Calibri" pitchFamily="34" charset="0"/>
                <a:ea typeface="Calibri" pitchFamily="34" charset="-122"/>
                <a:cs typeface="Calibri" pitchFamily="34" charset="-120"/>
              </a:rPr>
              <a:t>CAB (PROD only)</a:t>
            </a:r>
            <a:endParaRPr lang="en-US" sz="1050"/>
          </a:p>
        </p:txBody>
      </p:sp>
      <p:sp>
        <p:nvSpPr>
          <p:cNvPr id="33" name="Text 31"/>
          <p:cNvSpPr/>
          <p:nvPr/>
        </p:nvSpPr>
        <p:spPr>
          <a:xfrm>
            <a:off x="2651760" y="4206240"/>
            <a:ext cx="2103120" cy="50292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Change Board</a:t>
            </a:r>
            <a:endParaRPr lang="en-US" sz="1000"/>
          </a:p>
        </p:txBody>
      </p:sp>
      <p:sp>
        <p:nvSpPr>
          <p:cNvPr id="34" name="Shape 32"/>
          <p:cNvSpPr/>
          <p:nvPr/>
        </p:nvSpPr>
        <p:spPr>
          <a:xfrm>
            <a:off x="4754880" y="4334256"/>
            <a:ext cx="1051560" cy="256032"/>
          </a:xfrm>
          <a:prstGeom prst="roundRect">
            <a:avLst>
              <a:gd name="adj" fmla="val 50000"/>
            </a:avLst>
          </a:prstGeom>
          <a:solidFill>
            <a:srgbClr val="C9CEDB"/>
          </a:solidFill>
          <a:ln/>
        </p:spPr>
        <p:txBody>
          <a:bodyPr/>
          <a:lstStyle/>
          <a:p>
            <a:endParaRPr/>
          </a:p>
        </p:txBody>
      </p:sp>
      <p:sp>
        <p:nvSpPr>
          <p:cNvPr id="35" name="Text 33"/>
          <p:cNvSpPr/>
          <p:nvPr/>
        </p:nvSpPr>
        <p:spPr>
          <a:xfrm>
            <a:off x="4754880" y="4334256"/>
            <a:ext cx="1051560" cy="256032"/>
          </a:xfrm>
          <a:prstGeom prst="rect">
            <a:avLst/>
          </a:prstGeom>
          <a:noFill/>
          <a:ln/>
        </p:spPr>
        <p:txBody>
          <a:bodyPr wrap="square" lIns="0" tIns="0" rIns="0" bIns="0" rtlCol="0" anchor="ctr"/>
          <a:lstStyle/>
          <a:p>
            <a:pPr marL="0" indent="0" algn="ctr">
              <a:buNone/>
            </a:pPr>
            <a:r>
              <a:rPr lang="en-US" sz="750" b="1">
                <a:solidFill>
                  <a:srgbClr val="141B47"/>
                </a:solidFill>
                <a:latin typeface="Calibri" pitchFamily="34" charset="0"/>
                <a:ea typeface="Calibri" pitchFamily="34" charset="-122"/>
                <a:cs typeface="Calibri" pitchFamily="34" charset="-120"/>
              </a:rPr>
              <a:t>Not started</a:t>
            </a:r>
            <a:endParaRPr lang="en-US" sz="750"/>
          </a:p>
        </p:txBody>
      </p:sp>
      <p:sp>
        <p:nvSpPr>
          <p:cNvPr id="36" name="Text 34"/>
          <p:cNvSpPr/>
          <p:nvPr/>
        </p:nvSpPr>
        <p:spPr>
          <a:xfrm>
            <a:off x="5943600" y="4206240"/>
            <a:ext cx="1097280" cy="50292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a:t>
            </a:r>
            <a:endParaRPr lang="en-US" sz="900"/>
          </a:p>
        </p:txBody>
      </p:sp>
      <p:sp>
        <p:nvSpPr>
          <p:cNvPr id="37" name="Shape 35"/>
          <p:cNvSpPr/>
          <p:nvPr/>
        </p:nvSpPr>
        <p:spPr>
          <a:xfrm>
            <a:off x="7360920" y="1371600"/>
            <a:ext cx="4069080" cy="3566160"/>
          </a:xfrm>
          <a:prstGeom prst="roundRect">
            <a:avLst>
              <a:gd name="adj" fmla="val 2051"/>
            </a:avLst>
          </a:prstGeom>
          <a:solidFill>
            <a:srgbClr val="1E2761"/>
          </a:solidFill>
          <a:ln/>
        </p:spPr>
        <p:txBody>
          <a:bodyPr/>
          <a:lstStyle/>
          <a:p>
            <a:endParaRPr/>
          </a:p>
        </p:txBody>
      </p:sp>
      <p:sp>
        <p:nvSpPr>
          <p:cNvPr id="38" name="Text 36"/>
          <p:cNvSpPr/>
          <p:nvPr/>
        </p:nvSpPr>
        <p:spPr>
          <a:xfrm>
            <a:off x="7616952" y="1554480"/>
            <a:ext cx="3474720" cy="274320"/>
          </a:xfrm>
          <a:prstGeom prst="rect">
            <a:avLst/>
          </a:prstGeom>
          <a:noFill/>
          <a:ln/>
        </p:spPr>
        <p:txBody>
          <a:bodyPr wrap="square" rtlCol="0" anchor="ctr"/>
          <a:lstStyle/>
          <a:p>
            <a:pPr marL="0" indent="0">
              <a:buNone/>
            </a:pPr>
            <a:r>
              <a:rPr lang="en-US" sz="900" b="1" kern="0" spc="80">
                <a:solidFill>
                  <a:srgbClr val="2A9187"/>
                </a:solidFill>
                <a:latin typeface="Calibri" pitchFamily="34" charset="0"/>
                <a:ea typeface="Calibri" pitchFamily="34" charset="-122"/>
                <a:cs typeface="Calibri" pitchFamily="34" charset="-120"/>
              </a:rPr>
              <a:t>READINESS STATUS</a:t>
            </a:r>
            <a:endParaRPr lang="en-US" sz="900"/>
          </a:p>
        </p:txBody>
      </p:sp>
      <p:sp>
        <p:nvSpPr>
          <p:cNvPr id="39" name="Text 37"/>
          <p:cNvSpPr/>
          <p:nvPr/>
        </p:nvSpPr>
        <p:spPr>
          <a:xfrm>
            <a:off x="7616952" y="1828800"/>
            <a:ext cx="1828800" cy="685800"/>
          </a:xfrm>
          <a:prstGeom prst="rect">
            <a:avLst/>
          </a:prstGeom>
          <a:noFill/>
          <a:ln/>
        </p:spPr>
        <p:txBody>
          <a:bodyPr wrap="square" rtlCol="0" anchor="ctr"/>
          <a:lstStyle/>
          <a:p>
            <a:pPr marL="0" indent="0">
              <a:buNone/>
            </a:pPr>
            <a:r>
              <a:rPr lang="en-US" sz="3400" b="1">
                <a:solidFill>
                  <a:srgbClr val="FFFFFF"/>
                </a:solidFill>
                <a:latin typeface="Cambria" pitchFamily="34" charset="0"/>
                <a:ea typeface="Cambria" pitchFamily="34" charset="-122"/>
                <a:cs typeface="Cambria" pitchFamily="34" charset="-120"/>
              </a:rPr>
              <a:t>92%</a:t>
            </a:r>
            <a:endParaRPr lang="en-US" sz="3400"/>
          </a:p>
        </p:txBody>
      </p:sp>
      <p:sp>
        <p:nvSpPr>
          <p:cNvPr id="40" name="Text 38"/>
          <p:cNvSpPr/>
          <p:nvPr/>
        </p:nvSpPr>
        <p:spPr>
          <a:xfrm>
            <a:off x="9372600" y="1993392"/>
            <a:ext cx="1920240" cy="365760"/>
          </a:xfrm>
          <a:prstGeom prst="rect">
            <a:avLst/>
          </a:prstGeom>
          <a:noFill/>
          <a:ln/>
        </p:spPr>
        <p:txBody>
          <a:bodyPr wrap="square" rtlCol="0" anchor="ctr"/>
          <a:lstStyle/>
          <a:p>
            <a:pPr marL="0" indent="0">
              <a:buNone/>
            </a:pPr>
            <a:r>
              <a:rPr lang="en-US" sz="1100" b="1">
                <a:solidFill>
                  <a:srgbClr val="2A9187"/>
                </a:solidFill>
                <a:latin typeface="Calibri" pitchFamily="34" charset="0"/>
                <a:ea typeface="Calibri" pitchFamily="34" charset="-122"/>
                <a:cs typeface="Calibri" pitchFamily="34" charset="-120"/>
              </a:rPr>
              <a:t>Ready to proceed</a:t>
            </a:r>
            <a:endParaRPr lang="en-US" sz="1100"/>
          </a:p>
        </p:txBody>
      </p:sp>
      <p:sp>
        <p:nvSpPr>
          <p:cNvPr id="41" name="Shape 39"/>
          <p:cNvSpPr/>
          <p:nvPr/>
        </p:nvSpPr>
        <p:spPr>
          <a:xfrm>
            <a:off x="7616952" y="2734056"/>
            <a:ext cx="292608" cy="292608"/>
          </a:xfrm>
          <a:prstGeom prst="ellipse">
            <a:avLst/>
          </a:prstGeom>
          <a:solidFill>
            <a:srgbClr val="2A9187"/>
          </a:solidFill>
          <a:ln/>
        </p:spPr>
        <p:txBody>
          <a:bodyPr/>
          <a:lstStyle/>
          <a:p>
            <a:endParaRPr/>
          </a:p>
        </p:txBody>
      </p:sp>
      <p:sp>
        <p:nvSpPr>
          <p:cNvPr id="42" name="Text 40"/>
          <p:cNvSpPr/>
          <p:nvPr/>
        </p:nvSpPr>
        <p:spPr>
          <a:xfrm>
            <a:off x="7616952" y="273405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a:t>
            </a:r>
            <a:endParaRPr lang="en-US" sz="1200"/>
          </a:p>
        </p:txBody>
      </p:sp>
      <p:sp>
        <p:nvSpPr>
          <p:cNvPr id="43" name="Text 41"/>
          <p:cNvSpPr/>
          <p:nvPr/>
        </p:nvSpPr>
        <p:spPr>
          <a:xfrm>
            <a:off x="8019288" y="2697480"/>
            <a:ext cx="3200400" cy="365760"/>
          </a:xfrm>
          <a:prstGeom prst="rect">
            <a:avLst/>
          </a:prstGeom>
          <a:noFill/>
          <a:ln/>
        </p:spPr>
        <p:txBody>
          <a:bodyPr wrap="square" rtlCol="0" anchor="ctr"/>
          <a:lstStyle/>
          <a:p>
            <a:pPr marL="0" indent="0">
              <a:buNone/>
            </a:pPr>
            <a:r>
              <a:rPr lang="en-US" sz="1050">
                <a:solidFill>
                  <a:srgbClr val="CADCFC"/>
                </a:solidFill>
                <a:latin typeface="Calibri" pitchFamily="34" charset="0"/>
                <a:ea typeface="Calibri" pitchFamily="34" charset="-122"/>
                <a:cs typeface="Calibri" pitchFamily="34" charset="-120"/>
              </a:rPr>
              <a:t>Rollback snapshot ready</a:t>
            </a:r>
            <a:endParaRPr lang="en-US" sz="1050"/>
          </a:p>
        </p:txBody>
      </p:sp>
      <p:sp>
        <p:nvSpPr>
          <p:cNvPr id="44" name="Shape 42"/>
          <p:cNvSpPr/>
          <p:nvPr/>
        </p:nvSpPr>
        <p:spPr>
          <a:xfrm>
            <a:off x="7616952" y="3163824"/>
            <a:ext cx="292608" cy="292608"/>
          </a:xfrm>
          <a:prstGeom prst="ellipse">
            <a:avLst/>
          </a:prstGeom>
          <a:solidFill>
            <a:srgbClr val="2A9187"/>
          </a:solidFill>
          <a:ln/>
        </p:spPr>
        <p:txBody>
          <a:bodyPr/>
          <a:lstStyle/>
          <a:p>
            <a:endParaRPr/>
          </a:p>
        </p:txBody>
      </p:sp>
      <p:sp>
        <p:nvSpPr>
          <p:cNvPr id="45" name="Text 43"/>
          <p:cNvSpPr/>
          <p:nvPr/>
        </p:nvSpPr>
        <p:spPr>
          <a:xfrm>
            <a:off x="7616952" y="3163824"/>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a:t>
            </a:r>
            <a:endParaRPr lang="en-US" sz="1200"/>
          </a:p>
        </p:txBody>
      </p:sp>
      <p:sp>
        <p:nvSpPr>
          <p:cNvPr id="46" name="Text 44"/>
          <p:cNvSpPr/>
          <p:nvPr/>
        </p:nvSpPr>
        <p:spPr>
          <a:xfrm>
            <a:off x="8019288" y="3127248"/>
            <a:ext cx="3200400" cy="365760"/>
          </a:xfrm>
          <a:prstGeom prst="rect">
            <a:avLst/>
          </a:prstGeom>
          <a:noFill/>
          <a:ln/>
        </p:spPr>
        <p:txBody>
          <a:bodyPr wrap="square" rtlCol="0" anchor="ctr"/>
          <a:lstStyle/>
          <a:p>
            <a:pPr marL="0" indent="0">
              <a:buNone/>
            </a:pPr>
            <a:r>
              <a:rPr lang="en-US" sz="1050">
                <a:solidFill>
                  <a:srgbClr val="CADCFC"/>
                </a:solidFill>
                <a:latin typeface="Calibri" pitchFamily="34" charset="0"/>
                <a:ea typeface="Calibri" pitchFamily="34" charset="-122"/>
                <a:cs typeface="Calibri" pitchFamily="34" charset="-120"/>
              </a:rPr>
              <a:t>Backup available</a:t>
            </a:r>
            <a:endParaRPr lang="en-US" sz="1050"/>
          </a:p>
        </p:txBody>
      </p:sp>
      <p:sp>
        <p:nvSpPr>
          <p:cNvPr id="47" name="Shape 45"/>
          <p:cNvSpPr/>
          <p:nvPr/>
        </p:nvSpPr>
        <p:spPr>
          <a:xfrm>
            <a:off x="7616952" y="3593592"/>
            <a:ext cx="292608" cy="292608"/>
          </a:xfrm>
          <a:prstGeom prst="ellipse">
            <a:avLst/>
          </a:prstGeom>
          <a:solidFill>
            <a:srgbClr val="2A9187"/>
          </a:solidFill>
          <a:ln/>
        </p:spPr>
        <p:txBody>
          <a:bodyPr/>
          <a:lstStyle/>
          <a:p>
            <a:endParaRPr/>
          </a:p>
        </p:txBody>
      </p:sp>
      <p:sp>
        <p:nvSpPr>
          <p:cNvPr id="48" name="Text 46"/>
          <p:cNvSpPr/>
          <p:nvPr/>
        </p:nvSpPr>
        <p:spPr>
          <a:xfrm>
            <a:off x="7616952" y="3593592"/>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a:t>
            </a:r>
            <a:endParaRPr lang="en-US" sz="1200"/>
          </a:p>
        </p:txBody>
      </p:sp>
      <p:sp>
        <p:nvSpPr>
          <p:cNvPr id="49" name="Text 47"/>
          <p:cNvSpPr/>
          <p:nvPr/>
        </p:nvSpPr>
        <p:spPr>
          <a:xfrm>
            <a:off x="8019288" y="3557016"/>
            <a:ext cx="3200400" cy="365760"/>
          </a:xfrm>
          <a:prstGeom prst="rect">
            <a:avLst/>
          </a:prstGeom>
          <a:noFill/>
          <a:ln/>
        </p:spPr>
        <p:txBody>
          <a:bodyPr wrap="square" rtlCol="0" anchor="ctr"/>
          <a:lstStyle/>
          <a:p>
            <a:pPr marL="0" indent="0">
              <a:buNone/>
            </a:pPr>
            <a:r>
              <a:rPr lang="en-US" sz="1050">
                <a:solidFill>
                  <a:srgbClr val="CADCFC"/>
                </a:solidFill>
                <a:latin typeface="Calibri" pitchFamily="34" charset="0"/>
                <a:ea typeface="Calibri" pitchFamily="34" charset="-122"/>
                <a:cs typeface="Calibri" pitchFamily="34" charset="-120"/>
              </a:rPr>
              <a:t>Validation plan ready</a:t>
            </a:r>
            <a:endParaRPr lang="en-US" sz="1050"/>
          </a:p>
        </p:txBody>
      </p:sp>
      <p:sp>
        <p:nvSpPr>
          <p:cNvPr id="50" name="Shape 48"/>
          <p:cNvSpPr/>
          <p:nvPr/>
        </p:nvSpPr>
        <p:spPr>
          <a:xfrm>
            <a:off x="7616952" y="4023360"/>
            <a:ext cx="292608" cy="292608"/>
          </a:xfrm>
          <a:prstGeom prst="ellipse">
            <a:avLst/>
          </a:prstGeom>
          <a:solidFill>
            <a:srgbClr val="C69749"/>
          </a:solidFill>
          <a:ln/>
        </p:spPr>
        <p:txBody>
          <a:bodyPr/>
          <a:lstStyle/>
          <a:p>
            <a:endParaRPr/>
          </a:p>
        </p:txBody>
      </p:sp>
      <p:sp>
        <p:nvSpPr>
          <p:cNvPr id="51" name="Text 49"/>
          <p:cNvSpPr/>
          <p:nvPr/>
        </p:nvSpPr>
        <p:spPr>
          <a:xfrm>
            <a:off x="7616952" y="4023360"/>
            <a:ext cx="292608" cy="292608"/>
          </a:xfrm>
          <a:prstGeom prst="rect">
            <a:avLst/>
          </a:prstGeom>
          <a:noFill/>
          <a:ln/>
        </p:spPr>
        <p:txBody>
          <a:bodyPr wrap="square" lIns="0" tIns="0" rIns="0" bIns="0" rtlCol="0" anchor="ctr"/>
          <a:lstStyle/>
          <a:p>
            <a:pPr marL="0" indent="0" algn="ctr">
              <a:buNone/>
            </a:pPr>
            <a:r>
              <a:rPr lang="en-US" sz="1200" b="1">
                <a:solidFill>
                  <a:srgbClr val="141B47"/>
                </a:solidFill>
                <a:latin typeface="Arial" pitchFamily="34" charset="0"/>
                <a:ea typeface="Arial" pitchFamily="34" charset="-122"/>
                <a:cs typeface="Arial" pitchFamily="34" charset="-120"/>
              </a:rPr>
              <a:t>!</a:t>
            </a:r>
            <a:endParaRPr lang="en-US" sz="1200"/>
          </a:p>
        </p:txBody>
      </p:sp>
      <p:sp>
        <p:nvSpPr>
          <p:cNvPr id="52" name="Text 50"/>
          <p:cNvSpPr/>
          <p:nvPr/>
        </p:nvSpPr>
        <p:spPr>
          <a:xfrm>
            <a:off x="8019288" y="3986784"/>
            <a:ext cx="3200400" cy="365760"/>
          </a:xfrm>
          <a:prstGeom prst="rect">
            <a:avLst/>
          </a:prstGeom>
          <a:noFill/>
          <a:ln/>
        </p:spPr>
        <p:txBody>
          <a:bodyPr wrap="square" rtlCol="0" anchor="ctr"/>
          <a:lstStyle/>
          <a:p>
            <a:pPr marL="0" indent="0">
              <a:buNone/>
            </a:pPr>
            <a:r>
              <a:rPr lang="en-US" sz="1050">
                <a:solidFill>
                  <a:srgbClr val="C69749"/>
                </a:solidFill>
                <a:latin typeface="Calibri" pitchFamily="34" charset="0"/>
                <a:ea typeface="Calibri" pitchFamily="34" charset="-122"/>
                <a:cs typeface="Calibri" pitchFamily="34" charset="-120"/>
              </a:rPr>
              <a:t>All approvals complete</a:t>
            </a:r>
            <a:endParaRPr lang="en-US" sz="1050"/>
          </a:p>
        </p:txBody>
      </p:sp>
      <p:sp>
        <p:nvSpPr>
          <p:cNvPr id="53" name="Shape 51"/>
          <p:cNvSpPr/>
          <p:nvPr/>
        </p:nvSpPr>
        <p:spPr>
          <a:xfrm>
            <a:off x="7616952" y="4498848"/>
            <a:ext cx="3557016" cy="329184"/>
          </a:xfrm>
          <a:prstGeom prst="roundRect">
            <a:avLst>
              <a:gd name="adj" fmla="val 16667"/>
            </a:avLst>
          </a:prstGeom>
          <a:solidFill>
            <a:srgbClr val="141B47"/>
          </a:solidFill>
          <a:ln w="12700">
            <a:solidFill>
              <a:srgbClr val="C69749"/>
            </a:solidFill>
            <a:prstDash val="solid"/>
          </a:ln>
        </p:spPr>
        <p:txBody>
          <a:bodyPr/>
          <a:lstStyle/>
          <a:p>
            <a:endParaRPr/>
          </a:p>
        </p:txBody>
      </p:sp>
      <p:sp>
        <p:nvSpPr>
          <p:cNvPr id="54" name="Text 52"/>
          <p:cNvSpPr/>
          <p:nvPr/>
        </p:nvSpPr>
        <p:spPr>
          <a:xfrm>
            <a:off x="7616952" y="4498848"/>
            <a:ext cx="3557016" cy="329184"/>
          </a:xfrm>
          <a:prstGeom prst="rect">
            <a:avLst/>
          </a:prstGeom>
          <a:noFill/>
          <a:ln/>
        </p:spPr>
        <p:txBody>
          <a:bodyPr wrap="square" lIns="0" tIns="0" rIns="0" bIns="0" rtlCol="0" anchor="ctr"/>
          <a:lstStyle/>
          <a:p>
            <a:pPr marL="0" indent="0" algn="ctr">
              <a:buNone/>
            </a:pPr>
            <a:r>
              <a:rPr lang="en-US" sz="950" b="1">
                <a:solidFill>
                  <a:srgbClr val="C69749"/>
                </a:solidFill>
                <a:latin typeface="Calibri" pitchFamily="34" charset="0"/>
                <a:ea typeface="Calibri" pitchFamily="34" charset="-122"/>
                <a:cs typeface="Calibri" pitchFamily="34" charset="-120"/>
              </a:rPr>
              <a:t>Blocked on: Release Manager sign-off</a:t>
            </a:r>
            <a:endParaRPr lang="en-US" sz="950"/>
          </a:p>
        </p:txBody>
      </p:sp>
      <p:sp>
        <p:nvSpPr>
          <p:cNvPr id="55" name="Text 53"/>
          <p:cNvSpPr/>
          <p:nvPr/>
        </p:nvSpPr>
        <p:spPr>
          <a:xfrm>
            <a:off x="548640" y="5120640"/>
            <a:ext cx="10881360" cy="32004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Every sign-off is captured with identity, timestamp, and the exact package reviewed — forming the audit trail.</a:t>
            </a:r>
            <a:endParaRPr lang="en-US" sz="1000">
              <a:latin typeface="Calibri"/>
              <a:ea typeface="Calibri"/>
              <a:cs typeface="Calibri"/>
            </a:endParaRPr>
          </a:p>
        </p:txBody>
      </p:sp>
      <p:sp>
        <p:nvSpPr>
          <p:cNvPr id="56" name="Text 54"/>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57" name="Text 55"/>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7</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REPORTING</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Release Summary — What's Actually Being Deployed</a:t>
            </a:r>
            <a:endParaRPr lang="en-US" sz="2600"/>
          </a:p>
        </p:txBody>
      </p:sp>
      <p:sp>
        <p:nvSpPr>
          <p:cNvPr id="4" name="Text 2"/>
          <p:cNvSpPr/>
          <p:nvPr/>
        </p:nvSpPr>
        <p:spPr>
          <a:xfrm>
            <a:off x="548640" y="1298448"/>
            <a:ext cx="1828800" cy="219456"/>
          </a:xfrm>
          <a:prstGeom prst="rect">
            <a:avLst/>
          </a:prstGeom>
          <a:noFill/>
          <a:ln/>
        </p:spPr>
        <p:txBody>
          <a:bodyPr wrap="square" rtlCol="0" anchor="ctr"/>
          <a:lstStyle/>
          <a:p>
            <a:pPr marL="0" indent="0">
              <a:buNone/>
            </a:pPr>
            <a:r>
              <a:rPr lang="en-US" sz="850" b="1" kern="0" spc="50">
                <a:solidFill>
                  <a:srgbClr val="5B6584"/>
                </a:solidFill>
                <a:latin typeface="Calibri" pitchFamily="34" charset="0"/>
                <a:ea typeface="Calibri" pitchFamily="34" charset="-122"/>
                <a:cs typeface="Calibri" pitchFamily="34" charset="-120"/>
              </a:rPr>
              <a:t>Application</a:t>
            </a:r>
            <a:endParaRPr lang="en-US" sz="850"/>
          </a:p>
        </p:txBody>
      </p:sp>
      <p:sp>
        <p:nvSpPr>
          <p:cNvPr id="5" name="Shape 3"/>
          <p:cNvSpPr/>
          <p:nvPr/>
        </p:nvSpPr>
        <p:spPr>
          <a:xfrm>
            <a:off x="548640" y="1536192"/>
            <a:ext cx="3108960" cy="438912"/>
          </a:xfrm>
          <a:prstGeom prst="roundRect">
            <a:avLst>
              <a:gd name="adj" fmla="val 10417"/>
            </a:avLst>
          </a:prstGeom>
          <a:solidFill>
            <a:srgbClr val="FFFFFF"/>
          </a:solidFill>
          <a:ln w="15875">
            <a:solidFill>
              <a:srgbClr val="CADCFC"/>
            </a:solidFill>
            <a:prstDash val="solid"/>
          </a:ln>
        </p:spPr>
        <p:txBody>
          <a:bodyPr/>
          <a:lstStyle/>
          <a:p>
            <a:endParaRPr/>
          </a:p>
        </p:txBody>
      </p:sp>
      <p:sp>
        <p:nvSpPr>
          <p:cNvPr id="6" name="Text 4"/>
          <p:cNvSpPr/>
          <p:nvPr/>
        </p:nvSpPr>
        <p:spPr>
          <a:xfrm>
            <a:off x="685800" y="1536192"/>
            <a:ext cx="2834640" cy="438912"/>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Customer Portal ▾</a:t>
            </a:r>
            <a:endParaRPr lang="en-US" sz="1100"/>
          </a:p>
        </p:txBody>
      </p:sp>
      <p:sp>
        <p:nvSpPr>
          <p:cNvPr id="7" name="Text 5"/>
          <p:cNvSpPr/>
          <p:nvPr/>
        </p:nvSpPr>
        <p:spPr>
          <a:xfrm>
            <a:off x="3840480" y="1298448"/>
            <a:ext cx="2286000" cy="219456"/>
          </a:xfrm>
          <a:prstGeom prst="rect">
            <a:avLst/>
          </a:prstGeom>
          <a:noFill/>
          <a:ln/>
        </p:spPr>
        <p:txBody>
          <a:bodyPr wrap="square" rtlCol="0" anchor="ctr"/>
          <a:lstStyle/>
          <a:p>
            <a:pPr marL="0" indent="0">
              <a:buNone/>
            </a:pPr>
            <a:r>
              <a:rPr lang="en-US" sz="850" b="1" kern="0" spc="50">
                <a:solidFill>
                  <a:srgbClr val="5B6584"/>
                </a:solidFill>
                <a:latin typeface="Calibri" pitchFamily="34" charset="0"/>
                <a:ea typeface="Calibri" pitchFamily="34" charset="-122"/>
                <a:cs typeface="Calibri" pitchFamily="34" charset="-120"/>
              </a:rPr>
              <a:t>Release Version</a:t>
            </a:r>
            <a:endParaRPr lang="en-US" sz="850"/>
          </a:p>
        </p:txBody>
      </p:sp>
      <p:sp>
        <p:nvSpPr>
          <p:cNvPr id="8" name="Shape 6"/>
          <p:cNvSpPr/>
          <p:nvPr/>
        </p:nvSpPr>
        <p:spPr>
          <a:xfrm>
            <a:off x="3840480" y="1536192"/>
            <a:ext cx="2377440" cy="438912"/>
          </a:xfrm>
          <a:prstGeom prst="roundRect">
            <a:avLst>
              <a:gd name="adj" fmla="val 10417"/>
            </a:avLst>
          </a:prstGeom>
          <a:solidFill>
            <a:srgbClr val="FFFFFF"/>
          </a:solidFill>
          <a:ln w="15875">
            <a:solidFill>
              <a:srgbClr val="CADCFC"/>
            </a:solidFill>
            <a:prstDash val="solid"/>
          </a:ln>
        </p:spPr>
        <p:txBody>
          <a:bodyPr/>
          <a:lstStyle/>
          <a:p>
            <a:endParaRPr/>
          </a:p>
        </p:txBody>
      </p:sp>
      <p:sp>
        <p:nvSpPr>
          <p:cNvPr id="9" name="Text 7"/>
          <p:cNvSpPr/>
          <p:nvPr/>
        </p:nvSpPr>
        <p:spPr>
          <a:xfrm>
            <a:off x="3977640" y="1536192"/>
            <a:ext cx="2103120" cy="438912"/>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2.4.1 ▾</a:t>
            </a:r>
            <a:endParaRPr lang="en-US" sz="1100"/>
          </a:p>
        </p:txBody>
      </p:sp>
      <p:sp>
        <p:nvSpPr>
          <p:cNvPr id="10" name="Text 8"/>
          <p:cNvSpPr/>
          <p:nvPr/>
        </p:nvSpPr>
        <p:spPr>
          <a:xfrm>
            <a:off x="6400800" y="1536192"/>
            <a:ext cx="4572000" cy="438912"/>
          </a:xfrm>
          <a:prstGeom prst="rect">
            <a:avLst/>
          </a:prstGeom>
          <a:noFill/>
          <a:ln/>
        </p:spPr>
        <p:txBody>
          <a:bodyPr wrap="square" rtlCol="0" anchor="ctr"/>
          <a:lstStyle/>
          <a:p>
            <a:pPr marL="0" indent="0">
              <a:buNone/>
            </a:pPr>
            <a:r>
              <a:rPr lang="en-US" sz="950" i="1">
                <a:solidFill>
                  <a:srgbClr val="5B6584"/>
                </a:solidFill>
                <a:latin typeface="Calibri" pitchFamily="34" charset="0"/>
                <a:ea typeface="Calibri" pitchFamily="34" charset="-122"/>
                <a:cs typeface="Calibri" pitchFamily="34" charset="-120"/>
              </a:rPr>
              <a:t>(latest · 3 prior versions available)</a:t>
            </a:r>
            <a:endParaRPr lang="en-US" sz="950"/>
          </a:p>
        </p:txBody>
      </p:sp>
      <p:sp>
        <p:nvSpPr>
          <p:cNvPr id="11" name="Shape 9"/>
          <p:cNvSpPr/>
          <p:nvPr/>
        </p:nvSpPr>
        <p:spPr>
          <a:xfrm>
            <a:off x="548640" y="2148840"/>
            <a:ext cx="10881360" cy="658368"/>
          </a:xfrm>
          <a:prstGeom prst="roundRect">
            <a:avLst>
              <a:gd name="adj" fmla="val 11111"/>
            </a:avLst>
          </a:prstGeom>
          <a:solidFill>
            <a:srgbClr val="1E2761"/>
          </a:solidFill>
          <a:ln/>
        </p:spPr>
        <p:txBody>
          <a:bodyPr/>
          <a:lstStyle/>
          <a:p>
            <a:endParaRPr/>
          </a:p>
        </p:txBody>
      </p:sp>
      <p:sp>
        <p:nvSpPr>
          <p:cNvPr id="12" name="Text 10"/>
          <p:cNvSpPr/>
          <p:nvPr/>
        </p:nvSpPr>
        <p:spPr>
          <a:xfrm>
            <a:off x="822960" y="2148840"/>
            <a:ext cx="5120640" cy="658368"/>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Release 2.4.1  ·  Customer Portal  ·  Contoso Retail</a:t>
            </a:r>
            <a:endParaRPr lang="en-US" sz="1300"/>
          </a:p>
        </p:txBody>
      </p:sp>
      <p:sp>
        <p:nvSpPr>
          <p:cNvPr id="13" name="Text 11"/>
          <p:cNvSpPr/>
          <p:nvPr/>
        </p:nvSpPr>
        <p:spPr>
          <a:xfrm>
            <a:off x="61264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12</a:t>
            </a:r>
            <a:endParaRPr lang="en-US" sz="1500"/>
          </a:p>
        </p:txBody>
      </p:sp>
      <p:sp>
        <p:nvSpPr>
          <p:cNvPr id="14" name="Text 12"/>
          <p:cNvSpPr/>
          <p:nvPr/>
        </p:nvSpPr>
        <p:spPr>
          <a:xfrm>
            <a:off x="61264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Changes</a:t>
            </a:r>
            <a:endParaRPr lang="en-US" sz="850"/>
          </a:p>
        </p:txBody>
      </p:sp>
      <p:sp>
        <p:nvSpPr>
          <p:cNvPr id="15" name="Text 13"/>
          <p:cNvSpPr/>
          <p:nvPr/>
        </p:nvSpPr>
        <p:spPr>
          <a:xfrm>
            <a:off x="73837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4</a:t>
            </a:r>
            <a:endParaRPr lang="en-US" sz="1500"/>
          </a:p>
        </p:txBody>
      </p:sp>
      <p:sp>
        <p:nvSpPr>
          <p:cNvPr id="16" name="Text 14"/>
          <p:cNvSpPr/>
          <p:nvPr/>
        </p:nvSpPr>
        <p:spPr>
          <a:xfrm>
            <a:off x="73837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Features</a:t>
            </a:r>
            <a:endParaRPr lang="en-US" sz="850"/>
          </a:p>
        </p:txBody>
      </p:sp>
      <p:sp>
        <p:nvSpPr>
          <p:cNvPr id="17" name="Text 15"/>
          <p:cNvSpPr/>
          <p:nvPr/>
        </p:nvSpPr>
        <p:spPr>
          <a:xfrm>
            <a:off x="86410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6</a:t>
            </a:r>
            <a:endParaRPr lang="en-US" sz="1500"/>
          </a:p>
        </p:txBody>
      </p:sp>
      <p:sp>
        <p:nvSpPr>
          <p:cNvPr id="18" name="Text 16"/>
          <p:cNvSpPr/>
          <p:nvPr/>
        </p:nvSpPr>
        <p:spPr>
          <a:xfrm>
            <a:off x="86410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Services</a:t>
            </a:r>
            <a:endParaRPr lang="en-US" sz="850"/>
          </a:p>
        </p:txBody>
      </p:sp>
      <p:sp>
        <p:nvSpPr>
          <p:cNvPr id="19" name="Text 17"/>
          <p:cNvSpPr/>
          <p:nvPr/>
        </p:nvSpPr>
        <p:spPr>
          <a:xfrm>
            <a:off x="9898380" y="2203704"/>
            <a:ext cx="1257300" cy="329184"/>
          </a:xfrm>
          <a:prstGeom prst="rect">
            <a:avLst/>
          </a:prstGeom>
          <a:noFill/>
          <a:ln/>
        </p:spPr>
        <p:txBody>
          <a:bodyPr wrap="square" rtlCol="0" anchor="ctr"/>
          <a:lstStyle/>
          <a:p>
            <a:pPr marL="0" indent="0" algn="ctr">
              <a:buNone/>
            </a:pPr>
            <a:r>
              <a:rPr lang="en-US" sz="1500" b="1">
                <a:solidFill>
                  <a:srgbClr val="2A9187"/>
                </a:solidFill>
                <a:latin typeface="Cambria" pitchFamily="34" charset="0"/>
                <a:ea typeface="Cambria" pitchFamily="34" charset="-122"/>
                <a:cs typeface="Cambria" pitchFamily="34" charset="-120"/>
              </a:rPr>
              <a:t>92%</a:t>
            </a:r>
            <a:endParaRPr lang="en-US" sz="1500"/>
          </a:p>
        </p:txBody>
      </p:sp>
      <p:sp>
        <p:nvSpPr>
          <p:cNvPr id="20" name="Text 18"/>
          <p:cNvSpPr/>
          <p:nvPr/>
        </p:nvSpPr>
        <p:spPr>
          <a:xfrm>
            <a:off x="9898380" y="2514600"/>
            <a:ext cx="1257300" cy="237744"/>
          </a:xfrm>
          <a:prstGeom prst="rect">
            <a:avLst/>
          </a:prstGeom>
          <a:noFill/>
          <a:ln/>
        </p:spPr>
        <p:txBody>
          <a:bodyPr wrap="square" rtlCol="0" anchor="ctr"/>
          <a:lstStyle/>
          <a:p>
            <a:pPr marL="0" indent="0" algn="ctr">
              <a:buNone/>
            </a:pPr>
            <a:r>
              <a:rPr lang="en-US" sz="850">
                <a:solidFill>
                  <a:srgbClr val="CADCFC"/>
                </a:solidFill>
                <a:latin typeface="Calibri" pitchFamily="34" charset="0"/>
                <a:ea typeface="Calibri" pitchFamily="34" charset="-122"/>
                <a:cs typeface="Calibri" pitchFamily="34" charset="-120"/>
              </a:rPr>
              <a:t>Readiness</a:t>
            </a:r>
            <a:endParaRPr lang="en-US" sz="850"/>
          </a:p>
        </p:txBody>
      </p:sp>
      <p:sp>
        <p:nvSpPr>
          <p:cNvPr id="21" name="Shape 19"/>
          <p:cNvSpPr/>
          <p:nvPr/>
        </p:nvSpPr>
        <p:spPr>
          <a:xfrm>
            <a:off x="548640" y="2971800"/>
            <a:ext cx="6583680" cy="2423160"/>
          </a:xfrm>
          <a:prstGeom prst="roundRect">
            <a:avLst>
              <a:gd name="adj" fmla="val 30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22" name="Text 20"/>
          <p:cNvSpPr/>
          <p:nvPr/>
        </p:nvSpPr>
        <p:spPr>
          <a:xfrm>
            <a:off x="777240" y="3108960"/>
            <a:ext cx="2743200" cy="320040"/>
          </a:xfrm>
          <a:prstGeom prst="rect">
            <a:avLst/>
          </a:prstGeom>
          <a:noFill/>
          <a:ln/>
        </p:spPr>
        <p:txBody>
          <a:bodyPr wrap="square" rtlCol="0" anchor="ctr"/>
          <a:lstStyle/>
          <a:p>
            <a:pPr marL="0" indent="0">
              <a:buNone/>
            </a:pPr>
            <a:r>
              <a:rPr lang="en-US" sz="1300" b="1">
                <a:solidFill>
                  <a:srgbClr val="1E2761"/>
                </a:solidFill>
                <a:latin typeface="Calibri" pitchFamily="34" charset="0"/>
                <a:ea typeface="Calibri" pitchFamily="34" charset="-122"/>
                <a:cs typeface="Calibri" pitchFamily="34" charset="-120"/>
              </a:rPr>
              <a:t>Release Notes</a:t>
            </a:r>
            <a:endParaRPr lang="en-US" sz="1300"/>
          </a:p>
        </p:txBody>
      </p:sp>
      <p:sp>
        <p:nvSpPr>
          <p:cNvPr id="23" name="Shape 21"/>
          <p:cNvSpPr/>
          <p:nvPr/>
        </p:nvSpPr>
        <p:spPr>
          <a:xfrm>
            <a:off x="5623560" y="3136392"/>
            <a:ext cx="1280160" cy="274320"/>
          </a:xfrm>
          <a:prstGeom prst="roundRect">
            <a:avLst>
              <a:gd name="adj" fmla="val 50000"/>
            </a:avLst>
          </a:prstGeom>
          <a:solidFill>
            <a:srgbClr val="F4F7FC"/>
          </a:solidFill>
          <a:ln w="12700">
            <a:solidFill>
              <a:srgbClr val="CADCFC"/>
            </a:solidFill>
            <a:prstDash val="solid"/>
          </a:ln>
        </p:spPr>
        <p:txBody>
          <a:bodyPr/>
          <a:lstStyle/>
          <a:p>
            <a:endParaRPr/>
          </a:p>
        </p:txBody>
      </p:sp>
      <p:sp>
        <p:nvSpPr>
          <p:cNvPr id="24" name="Text 22"/>
          <p:cNvSpPr/>
          <p:nvPr/>
        </p:nvSpPr>
        <p:spPr>
          <a:xfrm>
            <a:off x="5623560" y="3136392"/>
            <a:ext cx="1280160" cy="274320"/>
          </a:xfrm>
          <a:prstGeom prst="rect">
            <a:avLst/>
          </a:prstGeom>
          <a:noFill/>
          <a:ln/>
        </p:spPr>
        <p:txBody>
          <a:bodyPr wrap="square" lIns="0" tIns="0" rIns="0" bIns="0" rtlCol="0" anchor="ctr"/>
          <a:lstStyle/>
          <a:p>
            <a:pPr marL="0" indent="0" algn="ctr">
              <a:buNone/>
            </a:pPr>
            <a:r>
              <a:rPr lang="en-US" sz="800" b="1">
                <a:solidFill>
                  <a:srgbClr val="5B6584"/>
                </a:solidFill>
                <a:latin typeface="Calibri" pitchFamily="34" charset="0"/>
                <a:ea typeface="Calibri" pitchFamily="34" charset="-122"/>
                <a:cs typeface="Calibri" pitchFamily="34" charset="-120"/>
              </a:rPr>
              <a:t>from JIRA</a:t>
            </a:r>
            <a:endParaRPr lang="en-US" sz="800"/>
          </a:p>
        </p:txBody>
      </p:sp>
      <p:sp>
        <p:nvSpPr>
          <p:cNvPr id="25" name="Text 23"/>
          <p:cNvSpPr/>
          <p:nvPr/>
        </p:nvSpPr>
        <p:spPr>
          <a:xfrm>
            <a:off x="804672" y="3502152"/>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PORTAL-1142</a:t>
            </a:r>
            <a:endParaRPr lang="en-US" sz="950"/>
          </a:p>
        </p:txBody>
      </p:sp>
      <p:sp>
        <p:nvSpPr>
          <p:cNvPr id="26" name="Text 24"/>
          <p:cNvSpPr/>
          <p:nvPr/>
        </p:nvSpPr>
        <p:spPr>
          <a:xfrm>
            <a:off x="2240280" y="3502152"/>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Bulk employee import</a:t>
            </a:r>
            <a:endParaRPr lang="en-US" sz="1050"/>
          </a:p>
        </p:txBody>
      </p:sp>
      <p:sp>
        <p:nvSpPr>
          <p:cNvPr id="27" name="Text 25"/>
          <p:cNvSpPr/>
          <p:nvPr/>
        </p:nvSpPr>
        <p:spPr>
          <a:xfrm>
            <a:off x="5577840" y="3502152"/>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Feature</a:t>
            </a:r>
            <a:endParaRPr lang="en-US" sz="950"/>
          </a:p>
        </p:txBody>
      </p:sp>
      <p:sp>
        <p:nvSpPr>
          <p:cNvPr id="28" name="Shape 26"/>
          <p:cNvSpPr/>
          <p:nvPr/>
        </p:nvSpPr>
        <p:spPr>
          <a:xfrm>
            <a:off x="731520" y="3886200"/>
            <a:ext cx="6217920" cy="384048"/>
          </a:xfrm>
          <a:prstGeom prst="rect">
            <a:avLst/>
          </a:prstGeom>
          <a:solidFill>
            <a:srgbClr val="F4F7FC"/>
          </a:solidFill>
          <a:ln/>
        </p:spPr>
        <p:txBody>
          <a:bodyPr/>
          <a:lstStyle/>
          <a:p>
            <a:endParaRPr/>
          </a:p>
        </p:txBody>
      </p:sp>
      <p:sp>
        <p:nvSpPr>
          <p:cNvPr id="29" name="Text 27"/>
          <p:cNvSpPr/>
          <p:nvPr/>
        </p:nvSpPr>
        <p:spPr>
          <a:xfrm>
            <a:off x="804672" y="3886200"/>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PORTAL-1156</a:t>
            </a:r>
            <a:endParaRPr lang="en-US" sz="950"/>
          </a:p>
        </p:txBody>
      </p:sp>
      <p:sp>
        <p:nvSpPr>
          <p:cNvPr id="30" name="Text 28"/>
          <p:cNvSpPr/>
          <p:nvPr/>
        </p:nvSpPr>
        <p:spPr>
          <a:xfrm>
            <a:off x="2240280" y="3886200"/>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SSO login for contractors</a:t>
            </a:r>
            <a:endParaRPr lang="en-US" sz="1050"/>
          </a:p>
        </p:txBody>
      </p:sp>
      <p:sp>
        <p:nvSpPr>
          <p:cNvPr id="31" name="Text 29"/>
          <p:cNvSpPr/>
          <p:nvPr/>
        </p:nvSpPr>
        <p:spPr>
          <a:xfrm>
            <a:off x="5577840" y="3886200"/>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Feature</a:t>
            </a:r>
            <a:endParaRPr lang="en-US" sz="950"/>
          </a:p>
        </p:txBody>
      </p:sp>
      <p:sp>
        <p:nvSpPr>
          <p:cNvPr id="32" name="Text 30"/>
          <p:cNvSpPr/>
          <p:nvPr/>
        </p:nvSpPr>
        <p:spPr>
          <a:xfrm>
            <a:off x="804672" y="4270248"/>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PORTAL-1163</a:t>
            </a:r>
            <a:endParaRPr lang="en-US" sz="950"/>
          </a:p>
        </p:txBody>
      </p:sp>
      <p:sp>
        <p:nvSpPr>
          <p:cNvPr id="33" name="Text 31"/>
          <p:cNvSpPr/>
          <p:nvPr/>
        </p:nvSpPr>
        <p:spPr>
          <a:xfrm>
            <a:off x="2240280" y="4270248"/>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Increase API timeout to 60s</a:t>
            </a:r>
            <a:endParaRPr lang="en-US" sz="1050"/>
          </a:p>
        </p:txBody>
      </p:sp>
      <p:sp>
        <p:nvSpPr>
          <p:cNvPr id="34" name="Text 32"/>
          <p:cNvSpPr/>
          <p:nvPr/>
        </p:nvSpPr>
        <p:spPr>
          <a:xfrm>
            <a:off x="5577840" y="4270248"/>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Change</a:t>
            </a:r>
            <a:endParaRPr lang="en-US" sz="950"/>
          </a:p>
        </p:txBody>
      </p:sp>
      <p:sp>
        <p:nvSpPr>
          <p:cNvPr id="35" name="Shape 33"/>
          <p:cNvSpPr/>
          <p:nvPr/>
        </p:nvSpPr>
        <p:spPr>
          <a:xfrm>
            <a:off x="731520" y="4654296"/>
            <a:ext cx="6217920" cy="384048"/>
          </a:xfrm>
          <a:prstGeom prst="rect">
            <a:avLst/>
          </a:prstGeom>
          <a:solidFill>
            <a:srgbClr val="F4F7FC"/>
          </a:solidFill>
          <a:ln/>
        </p:spPr>
        <p:txBody>
          <a:bodyPr/>
          <a:lstStyle/>
          <a:p>
            <a:endParaRPr/>
          </a:p>
        </p:txBody>
      </p:sp>
      <p:sp>
        <p:nvSpPr>
          <p:cNvPr id="36" name="Text 34"/>
          <p:cNvSpPr/>
          <p:nvPr/>
        </p:nvSpPr>
        <p:spPr>
          <a:xfrm>
            <a:off x="804672" y="4654296"/>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PORTAL-1170</a:t>
            </a:r>
            <a:endParaRPr lang="en-US" sz="950"/>
          </a:p>
        </p:txBody>
      </p:sp>
      <p:sp>
        <p:nvSpPr>
          <p:cNvPr id="37" name="Text 35"/>
          <p:cNvSpPr/>
          <p:nvPr/>
        </p:nvSpPr>
        <p:spPr>
          <a:xfrm>
            <a:off x="2240280" y="4654296"/>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Fix session expiry on mobile</a:t>
            </a:r>
            <a:endParaRPr lang="en-US" sz="1050"/>
          </a:p>
        </p:txBody>
      </p:sp>
      <p:sp>
        <p:nvSpPr>
          <p:cNvPr id="38" name="Text 36"/>
          <p:cNvSpPr/>
          <p:nvPr/>
        </p:nvSpPr>
        <p:spPr>
          <a:xfrm>
            <a:off x="5577840" y="4654296"/>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Bug</a:t>
            </a:r>
            <a:endParaRPr lang="en-US" sz="950"/>
          </a:p>
        </p:txBody>
      </p:sp>
      <p:sp>
        <p:nvSpPr>
          <p:cNvPr id="39" name="Text 37"/>
          <p:cNvSpPr/>
          <p:nvPr/>
        </p:nvSpPr>
        <p:spPr>
          <a:xfrm>
            <a:off x="804672" y="5038344"/>
            <a:ext cx="1371600" cy="384048"/>
          </a:xfrm>
          <a:prstGeom prst="rect">
            <a:avLst/>
          </a:prstGeom>
          <a:noFill/>
          <a:ln/>
        </p:spPr>
        <p:txBody>
          <a:bodyPr wrap="square" rtlCol="0" anchor="ctr"/>
          <a:lstStyle/>
          <a:p>
            <a:pPr marL="0" indent="0">
              <a:buNone/>
            </a:pPr>
            <a:r>
              <a:rPr lang="en-US" sz="950" b="1">
                <a:solidFill>
                  <a:srgbClr val="1F6E66"/>
                </a:solidFill>
                <a:latin typeface="Calibri" pitchFamily="34" charset="0"/>
                <a:ea typeface="Calibri" pitchFamily="34" charset="-122"/>
                <a:cs typeface="Calibri" pitchFamily="34" charset="-120"/>
              </a:rPr>
              <a:t>PORTAL-1174</a:t>
            </a:r>
            <a:endParaRPr lang="en-US" sz="950"/>
          </a:p>
        </p:txBody>
      </p:sp>
      <p:sp>
        <p:nvSpPr>
          <p:cNvPr id="40" name="Text 38"/>
          <p:cNvSpPr/>
          <p:nvPr/>
        </p:nvSpPr>
        <p:spPr>
          <a:xfrm>
            <a:off x="2240280" y="5038344"/>
            <a:ext cx="329184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Add </a:t>
            </a:r>
            <a:r>
              <a:rPr lang="en-US" sz="1050" err="1">
                <a:solidFill>
                  <a:srgbClr val="1B1F3B"/>
                </a:solidFill>
                <a:latin typeface="Calibri" pitchFamily="34" charset="0"/>
                <a:ea typeface="Calibri" pitchFamily="34" charset="-122"/>
                <a:cs typeface="Calibri" pitchFamily="34" charset="-120"/>
              </a:rPr>
              <a:t>audit_log</a:t>
            </a:r>
            <a:r>
              <a:rPr lang="en-US" sz="1050">
                <a:solidFill>
                  <a:srgbClr val="1B1F3B"/>
                </a:solidFill>
                <a:latin typeface="Calibri" pitchFamily="34" charset="0"/>
                <a:ea typeface="Calibri" pitchFamily="34" charset="-122"/>
                <a:cs typeface="Calibri" pitchFamily="34" charset="-120"/>
              </a:rPr>
              <a:t> table</a:t>
            </a:r>
            <a:endParaRPr lang="en-US" sz="1050"/>
          </a:p>
        </p:txBody>
      </p:sp>
      <p:sp>
        <p:nvSpPr>
          <p:cNvPr id="41" name="Text 39"/>
          <p:cNvSpPr/>
          <p:nvPr/>
        </p:nvSpPr>
        <p:spPr>
          <a:xfrm>
            <a:off x="5577840" y="5038344"/>
            <a:ext cx="1280160" cy="384048"/>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Migration</a:t>
            </a:r>
            <a:endParaRPr lang="en-US" sz="950"/>
          </a:p>
        </p:txBody>
      </p:sp>
      <p:sp>
        <p:nvSpPr>
          <p:cNvPr id="42" name="Text 40"/>
          <p:cNvSpPr/>
          <p:nvPr/>
        </p:nvSpPr>
        <p:spPr>
          <a:xfrm>
            <a:off x="804672" y="5495544"/>
            <a:ext cx="6126480" cy="411480"/>
          </a:xfrm>
          <a:prstGeom prst="rect">
            <a:avLst/>
          </a:prstGeom>
          <a:noFill/>
          <a:ln/>
        </p:spPr>
        <p:txBody>
          <a:bodyPr wrap="square" rtlCol="0" anchor="ctr"/>
          <a:lstStyle/>
          <a:p>
            <a:pPr marL="0" indent="0">
              <a:lnSpc>
                <a:spcPct val="115000"/>
              </a:lnSpc>
              <a:buNone/>
            </a:pPr>
            <a:r>
              <a:rPr lang="en-US" sz="900" i="1">
                <a:solidFill>
                  <a:srgbClr val="5B6584"/>
                </a:solidFill>
                <a:latin typeface="Calibri" pitchFamily="34" charset="0"/>
                <a:ea typeface="Calibri" pitchFamily="34" charset="-122"/>
                <a:cs typeface="Calibri" pitchFamily="34" charset="-120"/>
              </a:rPr>
              <a:t>Deployment notes: scale-out to 4 AKS nodes before release · DB migration runs pre-deploy</a:t>
            </a:r>
            <a:endParaRPr lang="en-US" sz="900"/>
          </a:p>
        </p:txBody>
      </p:sp>
      <p:sp>
        <p:nvSpPr>
          <p:cNvPr id="43" name="Shape 41"/>
          <p:cNvSpPr/>
          <p:nvPr/>
        </p:nvSpPr>
        <p:spPr>
          <a:xfrm>
            <a:off x="7360920" y="2971800"/>
            <a:ext cx="4069080" cy="2423160"/>
          </a:xfrm>
          <a:prstGeom prst="roundRect">
            <a:avLst>
              <a:gd name="adj" fmla="val 30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44" name="Text 42"/>
          <p:cNvSpPr/>
          <p:nvPr/>
        </p:nvSpPr>
        <p:spPr>
          <a:xfrm>
            <a:off x="7589520" y="3108960"/>
            <a:ext cx="3200400" cy="320040"/>
          </a:xfrm>
          <a:prstGeom prst="rect">
            <a:avLst/>
          </a:prstGeom>
          <a:noFill/>
          <a:ln/>
        </p:spPr>
        <p:txBody>
          <a:bodyPr wrap="square" rtlCol="0" anchor="ctr"/>
          <a:lstStyle/>
          <a:p>
            <a:pPr marL="0" indent="0">
              <a:buNone/>
            </a:pPr>
            <a:r>
              <a:rPr lang="en-US" sz="1300" b="1">
                <a:solidFill>
                  <a:srgbClr val="1E2761"/>
                </a:solidFill>
                <a:latin typeface="Calibri" pitchFamily="34" charset="0"/>
                <a:ea typeface="Calibri" pitchFamily="34" charset="-122"/>
                <a:cs typeface="Calibri" pitchFamily="34" charset="-120"/>
              </a:rPr>
              <a:t>Changes Introduced</a:t>
            </a:r>
            <a:endParaRPr lang="en-US" sz="1300"/>
          </a:p>
        </p:txBody>
      </p:sp>
      <p:sp>
        <p:nvSpPr>
          <p:cNvPr id="45" name="Text 43"/>
          <p:cNvSpPr/>
          <p:nvPr/>
        </p:nvSpPr>
        <p:spPr>
          <a:xfrm>
            <a:off x="7616952" y="3502152"/>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App Configuration</a:t>
            </a:r>
            <a:endParaRPr lang="en-US" sz="1050"/>
          </a:p>
        </p:txBody>
      </p:sp>
      <p:sp>
        <p:nvSpPr>
          <p:cNvPr id="46" name="Shape 44"/>
          <p:cNvSpPr/>
          <p:nvPr/>
        </p:nvSpPr>
        <p:spPr>
          <a:xfrm>
            <a:off x="9738360" y="3593592"/>
            <a:ext cx="1463040" cy="274320"/>
          </a:xfrm>
          <a:prstGeom prst="roundRect">
            <a:avLst>
              <a:gd name="adj" fmla="val 50000"/>
            </a:avLst>
          </a:prstGeom>
          <a:solidFill>
            <a:srgbClr val="2A9187"/>
          </a:solidFill>
          <a:ln/>
        </p:spPr>
        <p:txBody>
          <a:bodyPr/>
          <a:lstStyle/>
          <a:p>
            <a:endParaRPr/>
          </a:p>
        </p:txBody>
      </p:sp>
      <p:sp>
        <p:nvSpPr>
          <p:cNvPr id="47" name="Text 45"/>
          <p:cNvSpPr/>
          <p:nvPr/>
        </p:nvSpPr>
        <p:spPr>
          <a:xfrm>
            <a:off x="9738360" y="3593592"/>
            <a:ext cx="146304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5 keys</a:t>
            </a:r>
            <a:endParaRPr lang="en-US" sz="800"/>
          </a:p>
        </p:txBody>
      </p:sp>
      <p:sp>
        <p:nvSpPr>
          <p:cNvPr id="48" name="Text 46"/>
          <p:cNvSpPr/>
          <p:nvPr/>
        </p:nvSpPr>
        <p:spPr>
          <a:xfrm>
            <a:off x="7616952" y="3886200"/>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Key Vault Secrets</a:t>
            </a:r>
            <a:endParaRPr lang="en-US" sz="1050"/>
          </a:p>
        </p:txBody>
      </p:sp>
      <p:sp>
        <p:nvSpPr>
          <p:cNvPr id="49" name="Shape 47"/>
          <p:cNvSpPr/>
          <p:nvPr/>
        </p:nvSpPr>
        <p:spPr>
          <a:xfrm>
            <a:off x="9738360" y="3977640"/>
            <a:ext cx="1463040" cy="274320"/>
          </a:xfrm>
          <a:prstGeom prst="roundRect">
            <a:avLst>
              <a:gd name="adj" fmla="val 50000"/>
            </a:avLst>
          </a:prstGeom>
          <a:solidFill>
            <a:srgbClr val="C69749"/>
          </a:solidFill>
          <a:ln/>
        </p:spPr>
        <p:txBody>
          <a:bodyPr/>
          <a:lstStyle/>
          <a:p>
            <a:endParaRPr/>
          </a:p>
        </p:txBody>
      </p:sp>
      <p:sp>
        <p:nvSpPr>
          <p:cNvPr id="50" name="Text 48"/>
          <p:cNvSpPr/>
          <p:nvPr/>
        </p:nvSpPr>
        <p:spPr>
          <a:xfrm>
            <a:off x="9738360" y="3977640"/>
            <a:ext cx="1463040" cy="274320"/>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2 new · 1 rotate</a:t>
            </a:r>
            <a:endParaRPr lang="en-US" sz="800"/>
          </a:p>
        </p:txBody>
      </p:sp>
      <p:sp>
        <p:nvSpPr>
          <p:cNvPr id="51" name="Text 49"/>
          <p:cNvSpPr/>
          <p:nvPr/>
        </p:nvSpPr>
        <p:spPr>
          <a:xfrm>
            <a:off x="7616952" y="4270248"/>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Terraform / Infra</a:t>
            </a:r>
            <a:endParaRPr lang="en-US" sz="1050"/>
          </a:p>
        </p:txBody>
      </p:sp>
      <p:sp>
        <p:nvSpPr>
          <p:cNvPr id="52" name="Shape 50"/>
          <p:cNvSpPr/>
          <p:nvPr/>
        </p:nvSpPr>
        <p:spPr>
          <a:xfrm>
            <a:off x="9738360" y="4361688"/>
            <a:ext cx="1463040" cy="274320"/>
          </a:xfrm>
          <a:prstGeom prst="roundRect">
            <a:avLst>
              <a:gd name="adj" fmla="val 50000"/>
            </a:avLst>
          </a:prstGeom>
          <a:solidFill>
            <a:srgbClr val="C69749"/>
          </a:solidFill>
          <a:ln/>
        </p:spPr>
        <p:txBody>
          <a:bodyPr/>
          <a:lstStyle/>
          <a:p>
            <a:endParaRPr/>
          </a:p>
        </p:txBody>
      </p:sp>
      <p:sp>
        <p:nvSpPr>
          <p:cNvPr id="53" name="Text 51"/>
          <p:cNvSpPr/>
          <p:nvPr/>
        </p:nvSpPr>
        <p:spPr>
          <a:xfrm>
            <a:off x="9738360" y="4361688"/>
            <a:ext cx="1463040" cy="274320"/>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1 change</a:t>
            </a:r>
            <a:endParaRPr lang="en-US" sz="800"/>
          </a:p>
        </p:txBody>
      </p:sp>
      <p:sp>
        <p:nvSpPr>
          <p:cNvPr id="54" name="Text 52"/>
          <p:cNvSpPr/>
          <p:nvPr/>
        </p:nvSpPr>
        <p:spPr>
          <a:xfrm>
            <a:off x="7616952" y="4654296"/>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Container Image</a:t>
            </a:r>
            <a:endParaRPr lang="en-US" sz="1050"/>
          </a:p>
        </p:txBody>
      </p:sp>
      <p:sp>
        <p:nvSpPr>
          <p:cNvPr id="55" name="Shape 53"/>
          <p:cNvSpPr/>
          <p:nvPr/>
        </p:nvSpPr>
        <p:spPr>
          <a:xfrm>
            <a:off x="9738360" y="4745736"/>
            <a:ext cx="1463040" cy="274320"/>
          </a:xfrm>
          <a:prstGeom prst="roundRect">
            <a:avLst>
              <a:gd name="adj" fmla="val 50000"/>
            </a:avLst>
          </a:prstGeom>
          <a:solidFill>
            <a:srgbClr val="2A9187"/>
          </a:solidFill>
          <a:ln/>
        </p:spPr>
        <p:txBody>
          <a:bodyPr/>
          <a:lstStyle/>
          <a:p>
            <a:endParaRPr/>
          </a:p>
        </p:txBody>
      </p:sp>
      <p:sp>
        <p:nvSpPr>
          <p:cNvPr id="56" name="Text 54"/>
          <p:cNvSpPr/>
          <p:nvPr/>
        </p:nvSpPr>
        <p:spPr>
          <a:xfrm>
            <a:off x="9738360" y="4745736"/>
            <a:ext cx="146304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v2.4.1</a:t>
            </a:r>
            <a:endParaRPr lang="en-US" sz="800"/>
          </a:p>
        </p:txBody>
      </p:sp>
      <p:sp>
        <p:nvSpPr>
          <p:cNvPr id="57" name="Text 55"/>
          <p:cNvSpPr/>
          <p:nvPr/>
        </p:nvSpPr>
        <p:spPr>
          <a:xfrm>
            <a:off x="7616952" y="5038344"/>
            <a:ext cx="2103120" cy="38404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Database</a:t>
            </a:r>
            <a:endParaRPr lang="en-US" sz="1050"/>
          </a:p>
        </p:txBody>
      </p:sp>
      <p:sp>
        <p:nvSpPr>
          <p:cNvPr id="58" name="Shape 56"/>
          <p:cNvSpPr/>
          <p:nvPr/>
        </p:nvSpPr>
        <p:spPr>
          <a:xfrm>
            <a:off x="9738360" y="5129784"/>
            <a:ext cx="1463040" cy="274320"/>
          </a:xfrm>
          <a:prstGeom prst="roundRect">
            <a:avLst>
              <a:gd name="adj" fmla="val 50000"/>
            </a:avLst>
          </a:prstGeom>
          <a:solidFill>
            <a:srgbClr val="A85462"/>
          </a:solidFill>
          <a:ln/>
        </p:spPr>
        <p:txBody>
          <a:bodyPr/>
          <a:lstStyle/>
          <a:p>
            <a:endParaRPr/>
          </a:p>
        </p:txBody>
      </p:sp>
      <p:sp>
        <p:nvSpPr>
          <p:cNvPr id="59" name="Text 57"/>
          <p:cNvSpPr/>
          <p:nvPr/>
        </p:nvSpPr>
        <p:spPr>
          <a:xfrm>
            <a:off x="9738360" y="5129784"/>
            <a:ext cx="1463040" cy="27432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1 migration</a:t>
            </a:r>
            <a:endParaRPr lang="en-US" sz="800"/>
          </a:p>
        </p:txBody>
      </p:sp>
      <p:sp>
        <p:nvSpPr>
          <p:cNvPr id="60" name="Shape 58"/>
          <p:cNvSpPr/>
          <p:nvPr/>
        </p:nvSpPr>
        <p:spPr>
          <a:xfrm>
            <a:off x="548640" y="5486400"/>
            <a:ext cx="10881360" cy="502920"/>
          </a:xfrm>
          <a:prstGeom prst="roundRect">
            <a:avLst>
              <a:gd name="adj" fmla="val 14545"/>
            </a:avLst>
          </a:prstGeom>
          <a:solidFill>
            <a:srgbClr val="2A9187"/>
          </a:solidFill>
          <a:ln/>
        </p:spPr>
        <p:txBody>
          <a:bodyPr/>
          <a:lstStyle/>
          <a:p>
            <a:endParaRPr/>
          </a:p>
        </p:txBody>
      </p:sp>
      <p:sp>
        <p:nvSpPr>
          <p:cNvPr id="61" name="Text 59"/>
          <p:cNvSpPr/>
          <p:nvPr/>
        </p:nvSpPr>
        <p:spPr>
          <a:xfrm>
            <a:off x="822960" y="5486400"/>
            <a:ext cx="10332720" cy="502920"/>
          </a:xfrm>
          <a:prstGeom prst="rect">
            <a:avLst/>
          </a:prstGeom>
          <a:noFill/>
          <a:ln/>
        </p:spPr>
        <p:txBody>
          <a:bodyPr wrap="square" rtlCol="0" anchor="ctr"/>
          <a:lstStyle/>
          <a:p>
            <a:pPr marL="0" indent="0">
              <a:buNone/>
            </a:pPr>
            <a:r>
              <a:rPr lang="en-US" sz="1150" b="1">
                <a:solidFill>
                  <a:srgbClr val="141B47"/>
                </a:solidFill>
                <a:latin typeface="Calibri" pitchFamily="34" charset="0"/>
                <a:ea typeface="Calibri" pitchFamily="34" charset="-122"/>
                <a:cs typeface="Calibri" pitchFamily="34" charset="-120"/>
              </a:rPr>
              <a:t>Downloadable as PDF or Excel — attachable to the client's own change-management ticket.</a:t>
            </a:r>
            <a:endParaRPr lang="en-US" sz="1150"/>
          </a:p>
        </p:txBody>
      </p:sp>
      <p:sp>
        <p:nvSpPr>
          <p:cNvPr id="62" name="Text 60"/>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63" name="Text 61"/>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8</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PLATFORM VIEW</a:t>
            </a:r>
            <a:endParaRPr lang="en-US" sz="1200"/>
          </a:p>
        </p:txBody>
      </p:sp>
      <p:sp>
        <p:nvSpPr>
          <p:cNvPr id="3" name="Text 1"/>
          <p:cNvSpPr/>
          <p:nvPr/>
        </p:nvSpPr>
        <p:spPr>
          <a:xfrm>
            <a:off x="548640" y="603504"/>
            <a:ext cx="10881360" cy="640080"/>
          </a:xfrm>
          <a:prstGeom prst="rect">
            <a:avLst/>
          </a:prstGeom>
          <a:noFill/>
          <a:ln/>
        </p:spPr>
        <p:txBody>
          <a:bodyPr wrap="square" lIns="91440" tIns="45720" rIns="91440" bIns="45720" rtlCol="0" anchor="ctr"/>
          <a:lstStyle/>
          <a:p>
            <a:pPr marL="0" indent="0">
              <a:buNone/>
            </a:pPr>
            <a:r>
              <a:rPr lang="en-US" sz="2600" b="1">
                <a:solidFill>
                  <a:srgbClr val="1E2761"/>
                </a:solidFill>
                <a:latin typeface="Cambria"/>
                <a:ea typeface="Cambria"/>
                <a:cs typeface="Cambria" pitchFamily="34" charset="-120"/>
              </a:rPr>
              <a:t>All Environments — One Screen</a:t>
            </a:r>
            <a:endParaRPr lang="en-US" sz="2600">
              <a:latin typeface="Cambria"/>
              <a:ea typeface="Cambria"/>
            </a:endParaRPr>
          </a:p>
        </p:txBody>
      </p:sp>
      <p:sp>
        <p:nvSpPr>
          <p:cNvPr id="4" name="Text 2"/>
          <p:cNvSpPr/>
          <p:nvPr/>
        </p:nvSpPr>
        <p:spPr>
          <a:xfrm>
            <a:off x="548640" y="1298448"/>
            <a:ext cx="10881360" cy="320040"/>
          </a:xfrm>
          <a:prstGeom prst="rect">
            <a:avLst/>
          </a:prstGeom>
          <a:noFill/>
          <a:ln/>
        </p:spPr>
        <p:txBody>
          <a:bodyPr wrap="square" lIns="91440" tIns="45720" rIns="91440" bIns="45720" rtlCol="0" anchor="ctr"/>
          <a:lstStyle/>
          <a:p>
            <a:pPr marL="0" indent="0">
              <a:buNone/>
            </a:pPr>
            <a:r>
              <a:rPr lang="en-US" sz="1200">
                <a:solidFill>
                  <a:srgbClr val="5B6584"/>
                </a:solidFill>
                <a:latin typeface="Calibri"/>
                <a:ea typeface="Calibri"/>
                <a:cs typeface="Calibri"/>
              </a:rPr>
              <a:t>Leadership view across every onboarded customer, their applications, and the state of each environment.</a:t>
            </a:r>
            <a:endParaRPr lang="en-US" sz="1200">
              <a:latin typeface="Calibri"/>
              <a:ea typeface="Calibri"/>
              <a:cs typeface="Calibri"/>
            </a:endParaRPr>
          </a:p>
        </p:txBody>
      </p:sp>
      <p:sp>
        <p:nvSpPr>
          <p:cNvPr id="5" name="Shape 3"/>
          <p:cNvSpPr/>
          <p:nvPr/>
        </p:nvSpPr>
        <p:spPr>
          <a:xfrm>
            <a:off x="548640" y="1737360"/>
            <a:ext cx="10881360" cy="457200"/>
          </a:xfrm>
          <a:prstGeom prst="roundRect">
            <a:avLst>
              <a:gd name="adj" fmla="val 12000"/>
            </a:avLst>
          </a:prstGeom>
          <a:solidFill>
            <a:srgbClr val="1E2761"/>
          </a:solidFill>
          <a:ln/>
        </p:spPr>
        <p:txBody>
          <a:bodyPr/>
          <a:lstStyle/>
          <a:p>
            <a:endParaRPr/>
          </a:p>
        </p:txBody>
      </p:sp>
      <p:sp>
        <p:nvSpPr>
          <p:cNvPr id="6" name="Text 4"/>
          <p:cNvSpPr/>
          <p:nvPr/>
        </p:nvSpPr>
        <p:spPr>
          <a:xfrm>
            <a:off x="731520" y="1737360"/>
            <a:ext cx="2286000" cy="457200"/>
          </a:xfrm>
          <a:prstGeom prst="rect">
            <a:avLst/>
          </a:prstGeom>
          <a:noFill/>
          <a:ln/>
        </p:spPr>
        <p:txBody>
          <a:bodyPr wrap="square" rtlCol="0" anchor="ctr"/>
          <a:lstStyle/>
          <a:p>
            <a:pPr marL="0" indent="0">
              <a:buNone/>
            </a:pPr>
            <a:r>
              <a:rPr lang="en-US" sz="900" b="1" kern="0" spc="80">
                <a:solidFill>
                  <a:srgbClr val="CADCFC"/>
                </a:solidFill>
                <a:latin typeface="Calibri" pitchFamily="34" charset="0"/>
                <a:ea typeface="Calibri" pitchFamily="34" charset="-122"/>
                <a:cs typeface="Calibri" pitchFamily="34" charset="-120"/>
              </a:rPr>
              <a:t>CUSTOMER</a:t>
            </a:r>
            <a:endParaRPr lang="en-US" sz="900"/>
          </a:p>
        </p:txBody>
      </p:sp>
      <p:sp>
        <p:nvSpPr>
          <p:cNvPr id="7" name="Text 5"/>
          <p:cNvSpPr/>
          <p:nvPr/>
        </p:nvSpPr>
        <p:spPr>
          <a:xfrm>
            <a:off x="2834640" y="1737360"/>
            <a:ext cx="2377440" cy="457200"/>
          </a:xfrm>
          <a:prstGeom prst="rect">
            <a:avLst/>
          </a:prstGeom>
          <a:noFill/>
          <a:ln/>
        </p:spPr>
        <p:txBody>
          <a:bodyPr wrap="square" rtlCol="0" anchor="ctr"/>
          <a:lstStyle/>
          <a:p>
            <a:pPr marL="0" indent="0">
              <a:buNone/>
            </a:pPr>
            <a:r>
              <a:rPr lang="en-US" sz="900" b="1" kern="0" spc="80">
                <a:solidFill>
                  <a:srgbClr val="CADCFC"/>
                </a:solidFill>
                <a:latin typeface="Calibri" pitchFamily="34" charset="0"/>
                <a:ea typeface="Calibri" pitchFamily="34" charset="-122"/>
                <a:cs typeface="Calibri" pitchFamily="34" charset="-120"/>
              </a:rPr>
              <a:t>APPLICATION</a:t>
            </a:r>
            <a:endParaRPr lang="en-US" sz="900"/>
          </a:p>
        </p:txBody>
      </p:sp>
      <p:sp>
        <p:nvSpPr>
          <p:cNvPr id="8" name="Text 6"/>
          <p:cNvSpPr/>
          <p:nvPr/>
        </p:nvSpPr>
        <p:spPr>
          <a:xfrm>
            <a:off x="5212080" y="1737360"/>
            <a:ext cx="914400" cy="457200"/>
          </a:xfrm>
          <a:prstGeom prst="rect">
            <a:avLst/>
          </a:prstGeom>
          <a:noFill/>
          <a:ln/>
        </p:spPr>
        <p:txBody>
          <a:bodyPr wrap="square" rtlCol="0" anchor="ctr"/>
          <a:lstStyle/>
          <a:p>
            <a:pPr marL="0" indent="0">
              <a:buNone/>
            </a:pPr>
            <a:r>
              <a:rPr lang="en-US" sz="900" b="1" kern="0" spc="80">
                <a:solidFill>
                  <a:srgbClr val="CADCFC"/>
                </a:solidFill>
                <a:latin typeface="Calibri" pitchFamily="34" charset="0"/>
                <a:ea typeface="Calibri" pitchFamily="34" charset="-122"/>
                <a:cs typeface="Calibri" pitchFamily="34" charset="-120"/>
              </a:rPr>
              <a:t>REL</a:t>
            </a:r>
            <a:endParaRPr lang="en-US" sz="900"/>
          </a:p>
        </p:txBody>
      </p:sp>
      <p:sp>
        <p:nvSpPr>
          <p:cNvPr id="9" name="Text 7"/>
          <p:cNvSpPr/>
          <p:nvPr/>
        </p:nvSpPr>
        <p:spPr>
          <a:xfrm>
            <a:off x="6126480"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DEV</a:t>
            </a:r>
            <a:endParaRPr lang="en-US" sz="900"/>
          </a:p>
        </p:txBody>
      </p:sp>
      <p:sp>
        <p:nvSpPr>
          <p:cNvPr id="10" name="Text 8"/>
          <p:cNvSpPr/>
          <p:nvPr/>
        </p:nvSpPr>
        <p:spPr>
          <a:xfrm>
            <a:off x="7187184"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QA</a:t>
            </a:r>
            <a:endParaRPr lang="en-US" sz="900"/>
          </a:p>
        </p:txBody>
      </p:sp>
      <p:sp>
        <p:nvSpPr>
          <p:cNvPr id="11" name="Text 9"/>
          <p:cNvSpPr/>
          <p:nvPr/>
        </p:nvSpPr>
        <p:spPr>
          <a:xfrm>
            <a:off x="8247888"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UAT</a:t>
            </a:r>
            <a:endParaRPr lang="en-US" sz="900"/>
          </a:p>
        </p:txBody>
      </p:sp>
      <p:sp>
        <p:nvSpPr>
          <p:cNvPr id="12" name="Text 10"/>
          <p:cNvSpPr/>
          <p:nvPr/>
        </p:nvSpPr>
        <p:spPr>
          <a:xfrm>
            <a:off x="9308592"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PREPROD</a:t>
            </a:r>
            <a:endParaRPr lang="en-US" sz="900"/>
          </a:p>
        </p:txBody>
      </p:sp>
      <p:sp>
        <p:nvSpPr>
          <p:cNvPr id="13" name="Text 11"/>
          <p:cNvSpPr/>
          <p:nvPr/>
        </p:nvSpPr>
        <p:spPr>
          <a:xfrm>
            <a:off x="10369296" y="1737360"/>
            <a:ext cx="1060704" cy="457200"/>
          </a:xfrm>
          <a:prstGeom prst="rect">
            <a:avLst/>
          </a:prstGeom>
          <a:noFill/>
          <a:ln/>
        </p:spPr>
        <p:txBody>
          <a:bodyPr wrap="square" rtlCol="0" anchor="ctr"/>
          <a:lstStyle/>
          <a:p>
            <a:pPr marL="0" indent="0" algn="ctr">
              <a:buNone/>
            </a:pPr>
            <a:r>
              <a:rPr lang="en-US" sz="900" b="1" kern="0" spc="80">
                <a:solidFill>
                  <a:srgbClr val="2A9187"/>
                </a:solidFill>
                <a:latin typeface="Calibri" pitchFamily="34" charset="0"/>
                <a:ea typeface="Calibri" pitchFamily="34" charset="-122"/>
                <a:cs typeface="Calibri" pitchFamily="34" charset="-120"/>
              </a:rPr>
              <a:t>PROD</a:t>
            </a:r>
            <a:endParaRPr lang="en-US" sz="900"/>
          </a:p>
        </p:txBody>
      </p:sp>
      <p:sp>
        <p:nvSpPr>
          <p:cNvPr id="14" name="Shape 12"/>
          <p:cNvSpPr/>
          <p:nvPr/>
        </p:nvSpPr>
        <p:spPr>
          <a:xfrm>
            <a:off x="548640" y="2194560"/>
            <a:ext cx="10881360" cy="658368"/>
          </a:xfrm>
          <a:prstGeom prst="rect">
            <a:avLst/>
          </a:prstGeom>
          <a:solidFill>
            <a:srgbClr val="FFFFFF"/>
          </a:solidFill>
          <a:ln/>
        </p:spPr>
        <p:txBody>
          <a:bodyPr/>
          <a:lstStyle/>
          <a:p>
            <a:endParaRPr/>
          </a:p>
        </p:txBody>
      </p:sp>
      <p:sp>
        <p:nvSpPr>
          <p:cNvPr id="15" name="Text 13"/>
          <p:cNvSpPr/>
          <p:nvPr/>
        </p:nvSpPr>
        <p:spPr>
          <a:xfrm>
            <a:off x="731520" y="2194560"/>
            <a:ext cx="2103120" cy="658368"/>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Contoso Retail</a:t>
            </a:r>
            <a:endParaRPr lang="en-US" sz="1100"/>
          </a:p>
        </p:txBody>
      </p:sp>
      <p:sp>
        <p:nvSpPr>
          <p:cNvPr id="16" name="Text 14"/>
          <p:cNvSpPr/>
          <p:nvPr/>
        </p:nvSpPr>
        <p:spPr>
          <a:xfrm>
            <a:off x="2834640" y="2194560"/>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Customer Portal</a:t>
            </a:r>
            <a:endParaRPr lang="en-US" sz="1050"/>
          </a:p>
        </p:txBody>
      </p:sp>
      <p:sp>
        <p:nvSpPr>
          <p:cNvPr id="17" name="Text 15"/>
          <p:cNvSpPr/>
          <p:nvPr/>
        </p:nvSpPr>
        <p:spPr>
          <a:xfrm>
            <a:off x="5212080" y="2194560"/>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2.4.1</a:t>
            </a:r>
            <a:endParaRPr lang="en-US" sz="1000"/>
          </a:p>
        </p:txBody>
      </p:sp>
      <p:sp>
        <p:nvSpPr>
          <p:cNvPr id="18" name="Shape 16"/>
          <p:cNvSpPr/>
          <p:nvPr/>
        </p:nvSpPr>
        <p:spPr>
          <a:xfrm>
            <a:off x="6236208" y="2368296"/>
            <a:ext cx="841248" cy="310896"/>
          </a:xfrm>
          <a:prstGeom prst="roundRect">
            <a:avLst>
              <a:gd name="adj" fmla="val 50000"/>
            </a:avLst>
          </a:prstGeom>
          <a:solidFill>
            <a:srgbClr val="2A9187"/>
          </a:solidFill>
          <a:ln/>
        </p:spPr>
        <p:txBody>
          <a:bodyPr/>
          <a:lstStyle/>
          <a:p>
            <a:endParaRPr/>
          </a:p>
        </p:txBody>
      </p:sp>
      <p:sp>
        <p:nvSpPr>
          <p:cNvPr id="19" name="Text 17"/>
          <p:cNvSpPr/>
          <p:nvPr/>
        </p:nvSpPr>
        <p:spPr>
          <a:xfrm>
            <a:off x="6236208" y="2368296"/>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20" name="Shape 18"/>
          <p:cNvSpPr/>
          <p:nvPr/>
        </p:nvSpPr>
        <p:spPr>
          <a:xfrm>
            <a:off x="7296912" y="2368296"/>
            <a:ext cx="841248" cy="310896"/>
          </a:xfrm>
          <a:prstGeom prst="roundRect">
            <a:avLst>
              <a:gd name="adj" fmla="val 50000"/>
            </a:avLst>
          </a:prstGeom>
          <a:solidFill>
            <a:srgbClr val="2A9187"/>
          </a:solidFill>
          <a:ln/>
        </p:spPr>
        <p:txBody>
          <a:bodyPr/>
          <a:lstStyle/>
          <a:p>
            <a:endParaRPr/>
          </a:p>
        </p:txBody>
      </p:sp>
      <p:sp>
        <p:nvSpPr>
          <p:cNvPr id="21" name="Text 19"/>
          <p:cNvSpPr/>
          <p:nvPr/>
        </p:nvSpPr>
        <p:spPr>
          <a:xfrm>
            <a:off x="7296912" y="2368296"/>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22" name="Shape 20"/>
          <p:cNvSpPr/>
          <p:nvPr/>
        </p:nvSpPr>
        <p:spPr>
          <a:xfrm>
            <a:off x="8357616" y="2368296"/>
            <a:ext cx="841248" cy="310896"/>
          </a:xfrm>
          <a:prstGeom prst="roundRect">
            <a:avLst>
              <a:gd name="adj" fmla="val 50000"/>
            </a:avLst>
          </a:prstGeom>
          <a:solidFill>
            <a:srgbClr val="C69749"/>
          </a:solidFill>
          <a:ln/>
        </p:spPr>
        <p:txBody>
          <a:bodyPr/>
          <a:lstStyle/>
          <a:p>
            <a:endParaRPr/>
          </a:p>
        </p:txBody>
      </p:sp>
      <p:sp>
        <p:nvSpPr>
          <p:cNvPr id="23" name="Text 21"/>
          <p:cNvSpPr/>
          <p:nvPr/>
        </p:nvSpPr>
        <p:spPr>
          <a:xfrm>
            <a:off x="8357616" y="2368296"/>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24" name="Shape 22"/>
          <p:cNvSpPr/>
          <p:nvPr/>
        </p:nvSpPr>
        <p:spPr>
          <a:xfrm>
            <a:off x="9418320" y="2368296"/>
            <a:ext cx="841248" cy="310896"/>
          </a:xfrm>
          <a:prstGeom prst="roundRect">
            <a:avLst>
              <a:gd name="adj" fmla="val 50000"/>
            </a:avLst>
          </a:prstGeom>
          <a:solidFill>
            <a:srgbClr val="CADCFC"/>
          </a:solidFill>
          <a:ln/>
        </p:spPr>
        <p:txBody>
          <a:bodyPr/>
          <a:lstStyle/>
          <a:p>
            <a:endParaRPr/>
          </a:p>
        </p:txBody>
      </p:sp>
      <p:sp>
        <p:nvSpPr>
          <p:cNvPr id="25" name="Text 23"/>
          <p:cNvSpPr/>
          <p:nvPr/>
        </p:nvSpPr>
        <p:spPr>
          <a:xfrm>
            <a:off x="9418320" y="2368296"/>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26" name="Shape 24"/>
          <p:cNvSpPr/>
          <p:nvPr/>
        </p:nvSpPr>
        <p:spPr>
          <a:xfrm>
            <a:off x="10479024" y="2368296"/>
            <a:ext cx="841248" cy="310896"/>
          </a:xfrm>
          <a:prstGeom prst="roundRect">
            <a:avLst>
              <a:gd name="adj" fmla="val 50000"/>
            </a:avLst>
          </a:prstGeom>
          <a:solidFill>
            <a:srgbClr val="C9CEDB"/>
          </a:solidFill>
          <a:ln/>
        </p:spPr>
        <p:txBody>
          <a:bodyPr/>
          <a:lstStyle/>
          <a:p>
            <a:endParaRPr/>
          </a:p>
        </p:txBody>
      </p:sp>
      <p:sp>
        <p:nvSpPr>
          <p:cNvPr id="27" name="Text 25"/>
          <p:cNvSpPr/>
          <p:nvPr/>
        </p:nvSpPr>
        <p:spPr>
          <a:xfrm>
            <a:off x="10479024" y="2368296"/>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Locked</a:t>
            </a:r>
            <a:endParaRPr lang="en-US" sz="800"/>
          </a:p>
        </p:txBody>
      </p:sp>
      <p:sp>
        <p:nvSpPr>
          <p:cNvPr id="28" name="Shape 26"/>
          <p:cNvSpPr/>
          <p:nvPr/>
        </p:nvSpPr>
        <p:spPr>
          <a:xfrm>
            <a:off x="548640" y="2852928"/>
            <a:ext cx="10881360" cy="658368"/>
          </a:xfrm>
          <a:prstGeom prst="rect">
            <a:avLst/>
          </a:prstGeom>
          <a:solidFill>
            <a:srgbClr val="EDF1F9"/>
          </a:solidFill>
          <a:ln/>
        </p:spPr>
        <p:txBody>
          <a:bodyPr/>
          <a:lstStyle/>
          <a:p>
            <a:endParaRPr/>
          </a:p>
        </p:txBody>
      </p:sp>
      <p:sp>
        <p:nvSpPr>
          <p:cNvPr id="29" name="Text 27"/>
          <p:cNvSpPr/>
          <p:nvPr/>
        </p:nvSpPr>
        <p:spPr>
          <a:xfrm>
            <a:off x="2834640" y="2852928"/>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Orders API</a:t>
            </a:r>
            <a:endParaRPr lang="en-US" sz="1050"/>
          </a:p>
        </p:txBody>
      </p:sp>
      <p:sp>
        <p:nvSpPr>
          <p:cNvPr id="30" name="Text 28"/>
          <p:cNvSpPr/>
          <p:nvPr/>
        </p:nvSpPr>
        <p:spPr>
          <a:xfrm>
            <a:off x="5212080" y="2852928"/>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1.9.0</a:t>
            </a:r>
            <a:endParaRPr lang="en-US" sz="1000"/>
          </a:p>
        </p:txBody>
      </p:sp>
      <p:sp>
        <p:nvSpPr>
          <p:cNvPr id="31" name="Shape 29"/>
          <p:cNvSpPr/>
          <p:nvPr/>
        </p:nvSpPr>
        <p:spPr>
          <a:xfrm>
            <a:off x="6236208" y="3026664"/>
            <a:ext cx="841248" cy="310896"/>
          </a:xfrm>
          <a:prstGeom prst="roundRect">
            <a:avLst>
              <a:gd name="adj" fmla="val 50000"/>
            </a:avLst>
          </a:prstGeom>
          <a:solidFill>
            <a:srgbClr val="2A9187"/>
          </a:solidFill>
          <a:ln/>
        </p:spPr>
        <p:txBody>
          <a:bodyPr/>
          <a:lstStyle/>
          <a:p>
            <a:endParaRPr/>
          </a:p>
        </p:txBody>
      </p:sp>
      <p:sp>
        <p:nvSpPr>
          <p:cNvPr id="32" name="Text 30"/>
          <p:cNvSpPr/>
          <p:nvPr/>
        </p:nvSpPr>
        <p:spPr>
          <a:xfrm>
            <a:off x="6236208"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3" name="Shape 31"/>
          <p:cNvSpPr/>
          <p:nvPr/>
        </p:nvSpPr>
        <p:spPr>
          <a:xfrm>
            <a:off x="7296912" y="3026664"/>
            <a:ext cx="841248" cy="310896"/>
          </a:xfrm>
          <a:prstGeom prst="roundRect">
            <a:avLst>
              <a:gd name="adj" fmla="val 50000"/>
            </a:avLst>
          </a:prstGeom>
          <a:solidFill>
            <a:srgbClr val="2A9187"/>
          </a:solidFill>
          <a:ln/>
        </p:spPr>
        <p:txBody>
          <a:bodyPr/>
          <a:lstStyle/>
          <a:p>
            <a:endParaRPr/>
          </a:p>
        </p:txBody>
      </p:sp>
      <p:sp>
        <p:nvSpPr>
          <p:cNvPr id="34" name="Text 32"/>
          <p:cNvSpPr/>
          <p:nvPr/>
        </p:nvSpPr>
        <p:spPr>
          <a:xfrm>
            <a:off x="7296912"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5" name="Shape 33"/>
          <p:cNvSpPr/>
          <p:nvPr/>
        </p:nvSpPr>
        <p:spPr>
          <a:xfrm>
            <a:off x="8357616" y="3026664"/>
            <a:ext cx="841248" cy="310896"/>
          </a:xfrm>
          <a:prstGeom prst="roundRect">
            <a:avLst>
              <a:gd name="adj" fmla="val 50000"/>
            </a:avLst>
          </a:prstGeom>
          <a:solidFill>
            <a:srgbClr val="2A9187"/>
          </a:solidFill>
          <a:ln/>
        </p:spPr>
        <p:txBody>
          <a:bodyPr/>
          <a:lstStyle/>
          <a:p>
            <a:endParaRPr/>
          </a:p>
        </p:txBody>
      </p:sp>
      <p:sp>
        <p:nvSpPr>
          <p:cNvPr id="36" name="Text 34"/>
          <p:cNvSpPr/>
          <p:nvPr/>
        </p:nvSpPr>
        <p:spPr>
          <a:xfrm>
            <a:off x="8357616"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7" name="Shape 35"/>
          <p:cNvSpPr/>
          <p:nvPr/>
        </p:nvSpPr>
        <p:spPr>
          <a:xfrm>
            <a:off x="9418320" y="3026664"/>
            <a:ext cx="841248" cy="310896"/>
          </a:xfrm>
          <a:prstGeom prst="roundRect">
            <a:avLst>
              <a:gd name="adj" fmla="val 50000"/>
            </a:avLst>
          </a:prstGeom>
          <a:solidFill>
            <a:srgbClr val="2A9187"/>
          </a:solidFill>
          <a:ln/>
        </p:spPr>
        <p:txBody>
          <a:bodyPr/>
          <a:lstStyle/>
          <a:p>
            <a:endParaRPr/>
          </a:p>
        </p:txBody>
      </p:sp>
      <p:sp>
        <p:nvSpPr>
          <p:cNvPr id="38" name="Text 36"/>
          <p:cNvSpPr/>
          <p:nvPr/>
        </p:nvSpPr>
        <p:spPr>
          <a:xfrm>
            <a:off x="9418320" y="3026664"/>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39" name="Shape 37"/>
          <p:cNvSpPr/>
          <p:nvPr/>
        </p:nvSpPr>
        <p:spPr>
          <a:xfrm>
            <a:off x="10479024" y="3026664"/>
            <a:ext cx="841248" cy="310896"/>
          </a:xfrm>
          <a:prstGeom prst="roundRect">
            <a:avLst>
              <a:gd name="adj" fmla="val 50000"/>
            </a:avLst>
          </a:prstGeom>
          <a:solidFill>
            <a:srgbClr val="C69749"/>
          </a:solidFill>
          <a:ln/>
        </p:spPr>
        <p:txBody>
          <a:bodyPr/>
          <a:lstStyle/>
          <a:p>
            <a:endParaRPr/>
          </a:p>
        </p:txBody>
      </p:sp>
      <p:sp>
        <p:nvSpPr>
          <p:cNvPr id="40" name="Text 38"/>
          <p:cNvSpPr/>
          <p:nvPr/>
        </p:nvSpPr>
        <p:spPr>
          <a:xfrm>
            <a:off x="10479024" y="3026664"/>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41" name="Shape 39"/>
          <p:cNvSpPr/>
          <p:nvPr/>
        </p:nvSpPr>
        <p:spPr>
          <a:xfrm>
            <a:off x="548640" y="3511296"/>
            <a:ext cx="10881360" cy="658368"/>
          </a:xfrm>
          <a:prstGeom prst="rect">
            <a:avLst/>
          </a:prstGeom>
          <a:solidFill>
            <a:srgbClr val="FFFFFF"/>
          </a:solidFill>
          <a:ln/>
        </p:spPr>
        <p:txBody>
          <a:bodyPr/>
          <a:lstStyle/>
          <a:p>
            <a:endParaRPr/>
          </a:p>
        </p:txBody>
      </p:sp>
      <p:sp>
        <p:nvSpPr>
          <p:cNvPr id="42" name="Text 40"/>
          <p:cNvSpPr/>
          <p:nvPr/>
        </p:nvSpPr>
        <p:spPr>
          <a:xfrm>
            <a:off x="731520" y="3511296"/>
            <a:ext cx="2103120" cy="658368"/>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Northwind Bank</a:t>
            </a:r>
            <a:endParaRPr lang="en-US" sz="1100"/>
          </a:p>
        </p:txBody>
      </p:sp>
      <p:sp>
        <p:nvSpPr>
          <p:cNvPr id="43" name="Text 41"/>
          <p:cNvSpPr/>
          <p:nvPr/>
        </p:nvSpPr>
        <p:spPr>
          <a:xfrm>
            <a:off x="2834640" y="3511296"/>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Payments Service</a:t>
            </a:r>
            <a:endParaRPr lang="en-US" sz="1050"/>
          </a:p>
        </p:txBody>
      </p:sp>
      <p:sp>
        <p:nvSpPr>
          <p:cNvPr id="44" name="Text 42"/>
          <p:cNvSpPr/>
          <p:nvPr/>
        </p:nvSpPr>
        <p:spPr>
          <a:xfrm>
            <a:off x="5212080" y="3511296"/>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5.2.3</a:t>
            </a:r>
            <a:endParaRPr lang="en-US" sz="1000"/>
          </a:p>
        </p:txBody>
      </p:sp>
      <p:sp>
        <p:nvSpPr>
          <p:cNvPr id="45" name="Shape 43"/>
          <p:cNvSpPr/>
          <p:nvPr/>
        </p:nvSpPr>
        <p:spPr>
          <a:xfrm>
            <a:off x="6236208" y="3685032"/>
            <a:ext cx="841248" cy="310896"/>
          </a:xfrm>
          <a:prstGeom prst="roundRect">
            <a:avLst>
              <a:gd name="adj" fmla="val 50000"/>
            </a:avLst>
          </a:prstGeom>
          <a:solidFill>
            <a:srgbClr val="2A9187"/>
          </a:solidFill>
          <a:ln/>
        </p:spPr>
        <p:txBody>
          <a:bodyPr/>
          <a:lstStyle/>
          <a:p>
            <a:endParaRPr/>
          </a:p>
        </p:txBody>
      </p:sp>
      <p:sp>
        <p:nvSpPr>
          <p:cNvPr id="46" name="Text 44"/>
          <p:cNvSpPr/>
          <p:nvPr/>
        </p:nvSpPr>
        <p:spPr>
          <a:xfrm>
            <a:off x="6236208" y="3685032"/>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47" name="Shape 45"/>
          <p:cNvSpPr/>
          <p:nvPr/>
        </p:nvSpPr>
        <p:spPr>
          <a:xfrm>
            <a:off x="7296912" y="3685032"/>
            <a:ext cx="841248" cy="310896"/>
          </a:xfrm>
          <a:prstGeom prst="roundRect">
            <a:avLst>
              <a:gd name="adj" fmla="val 50000"/>
            </a:avLst>
          </a:prstGeom>
          <a:solidFill>
            <a:srgbClr val="C69749"/>
          </a:solidFill>
          <a:ln/>
        </p:spPr>
        <p:txBody>
          <a:bodyPr/>
          <a:lstStyle/>
          <a:p>
            <a:endParaRPr/>
          </a:p>
        </p:txBody>
      </p:sp>
      <p:sp>
        <p:nvSpPr>
          <p:cNvPr id="48" name="Text 46"/>
          <p:cNvSpPr/>
          <p:nvPr/>
        </p:nvSpPr>
        <p:spPr>
          <a:xfrm>
            <a:off x="7296912" y="3685032"/>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49" name="Shape 47"/>
          <p:cNvSpPr/>
          <p:nvPr/>
        </p:nvSpPr>
        <p:spPr>
          <a:xfrm>
            <a:off x="8357616" y="3685032"/>
            <a:ext cx="841248" cy="310896"/>
          </a:xfrm>
          <a:prstGeom prst="roundRect">
            <a:avLst>
              <a:gd name="adj" fmla="val 50000"/>
            </a:avLst>
          </a:prstGeom>
          <a:solidFill>
            <a:srgbClr val="CADCFC"/>
          </a:solidFill>
          <a:ln/>
        </p:spPr>
        <p:txBody>
          <a:bodyPr/>
          <a:lstStyle/>
          <a:p>
            <a:endParaRPr/>
          </a:p>
        </p:txBody>
      </p:sp>
      <p:sp>
        <p:nvSpPr>
          <p:cNvPr id="50" name="Text 48"/>
          <p:cNvSpPr/>
          <p:nvPr/>
        </p:nvSpPr>
        <p:spPr>
          <a:xfrm>
            <a:off x="8357616" y="3685032"/>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51" name="Shape 49"/>
          <p:cNvSpPr/>
          <p:nvPr/>
        </p:nvSpPr>
        <p:spPr>
          <a:xfrm>
            <a:off x="9418320" y="3685032"/>
            <a:ext cx="841248" cy="310896"/>
          </a:xfrm>
          <a:prstGeom prst="roundRect">
            <a:avLst>
              <a:gd name="adj" fmla="val 50000"/>
            </a:avLst>
          </a:prstGeom>
          <a:solidFill>
            <a:srgbClr val="CADCFC"/>
          </a:solidFill>
          <a:ln/>
        </p:spPr>
        <p:txBody>
          <a:bodyPr/>
          <a:lstStyle/>
          <a:p>
            <a:endParaRPr/>
          </a:p>
        </p:txBody>
      </p:sp>
      <p:sp>
        <p:nvSpPr>
          <p:cNvPr id="52" name="Text 50"/>
          <p:cNvSpPr/>
          <p:nvPr/>
        </p:nvSpPr>
        <p:spPr>
          <a:xfrm>
            <a:off x="9418320" y="3685032"/>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53" name="Shape 51"/>
          <p:cNvSpPr/>
          <p:nvPr/>
        </p:nvSpPr>
        <p:spPr>
          <a:xfrm>
            <a:off x="10479024" y="3685032"/>
            <a:ext cx="841248" cy="310896"/>
          </a:xfrm>
          <a:prstGeom prst="roundRect">
            <a:avLst>
              <a:gd name="adj" fmla="val 50000"/>
            </a:avLst>
          </a:prstGeom>
          <a:solidFill>
            <a:srgbClr val="C9CEDB"/>
          </a:solidFill>
          <a:ln/>
        </p:spPr>
        <p:txBody>
          <a:bodyPr/>
          <a:lstStyle/>
          <a:p>
            <a:endParaRPr/>
          </a:p>
        </p:txBody>
      </p:sp>
      <p:sp>
        <p:nvSpPr>
          <p:cNvPr id="54" name="Text 52"/>
          <p:cNvSpPr/>
          <p:nvPr/>
        </p:nvSpPr>
        <p:spPr>
          <a:xfrm>
            <a:off x="10479024" y="3685032"/>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Locked</a:t>
            </a:r>
            <a:endParaRPr lang="en-US" sz="800"/>
          </a:p>
        </p:txBody>
      </p:sp>
      <p:sp>
        <p:nvSpPr>
          <p:cNvPr id="55" name="Shape 53"/>
          <p:cNvSpPr/>
          <p:nvPr/>
        </p:nvSpPr>
        <p:spPr>
          <a:xfrm>
            <a:off x="548640" y="4169664"/>
            <a:ext cx="10881360" cy="658368"/>
          </a:xfrm>
          <a:prstGeom prst="rect">
            <a:avLst/>
          </a:prstGeom>
          <a:solidFill>
            <a:srgbClr val="EDF1F9"/>
          </a:solidFill>
          <a:ln/>
        </p:spPr>
        <p:txBody>
          <a:bodyPr/>
          <a:lstStyle/>
          <a:p>
            <a:endParaRPr/>
          </a:p>
        </p:txBody>
      </p:sp>
      <p:sp>
        <p:nvSpPr>
          <p:cNvPr id="56" name="Text 54"/>
          <p:cNvSpPr/>
          <p:nvPr/>
        </p:nvSpPr>
        <p:spPr>
          <a:xfrm>
            <a:off x="2834640" y="4169664"/>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Statements App</a:t>
            </a:r>
            <a:endParaRPr lang="en-US" sz="1050"/>
          </a:p>
        </p:txBody>
      </p:sp>
      <p:sp>
        <p:nvSpPr>
          <p:cNvPr id="57" name="Text 55"/>
          <p:cNvSpPr/>
          <p:nvPr/>
        </p:nvSpPr>
        <p:spPr>
          <a:xfrm>
            <a:off x="5212080" y="4169664"/>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3.0.7</a:t>
            </a:r>
            <a:endParaRPr lang="en-US" sz="1000"/>
          </a:p>
        </p:txBody>
      </p:sp>
      <p:sp>
        <p:nvSpPr>
          <p:cNvPr id="58" name="Shape 56"/>
          <p:cNvSpPr/>
          <p:nvPr/>
        </p:nvSpPr>
        <p:spPr>
          <a:xfrm>
            <a:off x="6236208" y="4343400"/>
            <a:ext cx="841248" cy="310896"/>
          </a:xfrm>
          <a:prstGeom prst="roundRect">
            <a:avLst>
              <a:gd name="adj" fmla="val 50000"/>
            </a:avLst>
          </a:prstGeom>
          <a:solidFill>
            <a:srgbClr val="2A9187"/>
          </a:solidFill>
          <a:ln/>
        </p:spPr>
        <p:txBody>
          <a:bodyPr/>
          <a:lstStyle/>
          <a:p>
            <a:endParaRPr/>
          </a:p>
        </p:txBody>
      </p:sp>
      <p:sp>
        <p:nvSpPr>
          <p:cNvPr id="59" name="Text 57"/>
          <p:cNvSpPr/>
          <p:nvPr/>
        </p:nvSpPr>
        <p:spPr>
          <a:xfrm>
            <a:off x="6236208" y="4343400"/>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60" name="Shape 58"/>
          <p:cNvSpPr/>
          <p:nvPr/>
        </p:nvSpPr>
        <p:spPr>
          <a:xfrm>
            <a:off x="7296912" y="4343400"/>
            <a:ext cx="841248" cy="310896"/>
          </a:xfrm>
          <a:prstGeom prst="roundRect">
            <a:avLst>
              <a:gd name="adj" fmla="val 50000"/>
            </a:avLst>
          </a:prstGeom>
          <a:solidFill>
            <a:srgbClr val="2A9187"/>
          </a:solidFill>
          <a:ln/>
        </p:spPr>
        <p:txBody>
          <a:bodyPr/>
          <a:lstStyle/>
          <a:p>
            <a:endParaRPr/>
          </a:p>
        </p:txBody>
      </p:sp>
      <p:sp>
        <p:nvSpPr>
          <p:cNvPr id="61" name="Text 59"/>
          <p:cNvSpPr/>
          <p:nvPr/>
        </p:nvSpPr>
        <p:spPr>
          <a:xfrm>
            <a:off x="7296912" y="4343400"/>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62" name="Shape 60"/>
          <p:cNvSpPr/>
          <p:nvPr/>
        </p:nvSpPr>
        <p:spPr>
          <a:xfrm>
            <a:off x="8357616" y="4343400"/>
            <a:ext cx="841248" cy="310896"/>
          </a:xfrm>
          <a:prstGeom prst="roundRect">
            <a:avLst>
              <a:gd name="adj" fmla="val 50000"/>
            </a:avLst>
          </a:prstGeom>
          <a:solidFill>
            <a:srgbClr val="2A9187"/>
          </a:solidFill>
          <a:ln/>
        </p:spPr>
        <p:txBody>
          <a:bodyPr/>
          <a:lstStyle/>
          <a:p>
            <a:endParaRPr/>
          </a:p>
        </p:txBody>
      </p:sp>
      <p:sp>
        <p:nvSpPr>
          <p:cNvPr id="63" name="Text 61"/>
          <p:cNvSpPr/>
          <p:nvPr/>
        </p:nvSpPr>
        <p:spPr>
          <a:xfrm>
            <a:off x="8357616" y="4343400"/>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64" name="Shape 62"/>
          <p:cNvSpPr/>
          <p:nvPr/>
        </p:nvSpPr>
        <p:spPr>
          <a:xfrm>
            <a:off x="9418320" y="4343400"/>
            <a:ext cx="841248" cy="310896"/>
          </a:xfrm>
          <a:prstGeom prst="roundRect">
            <a:avLst>
              <a:gd name="adj" fmla="val 50000"/>
            </a:avLst>
          </a:prstGeom>
          <a:solidFill>
            <a:srgbClr val="C69749"/>
          </a:solidFill>
          <a:ln/>
        </p:spPr>
        <p:txBody>
          <a:bodyPr/>
          <a:lstStyle/>
          <a:p>
            <a:endParaRPr/>
          </a:p>
        </p:txBody>
      </p:sp>
      <p:sp>
        <p:nvSpPr>
          <p:cNvPr id="65" name="Text 63"/>
          <p:cNvSpPr/>
          <p:nvPr/>
        </p:nvSpPr>
        <p:spPr>
          <a:xfrm>
            <a:off x="9418320" y="4343400"/>
            <a:ext cx="841248" cy="310896"/>
          </a:xfrm>
          <a:prstGeom prst="rect">
            <a:avLst/>
          </a:prstGeom>
          <a:noFill/>
          <a:ln/>
        </p:spPr>
        <p:txBody>
          <a:bodyPr wrap="square" lIns="0" tIns="0" rIns="0" bIns="0" rtlCol="0" anchor="ctr"/>
          <a:lstStyle/>
          <a:p>
            <a:pPr marL="0" indent="0" algn="ctr">
              <a:buNone/>
            </a:pPr>
            <a:r>
              <a:rPr lang="en-US" sz="800" b="1">
                <a:solidFill>
                  <a:srgbClr val="141B47"/>
                </a:solidFill>
                <a:latin typeface="Calibri" pitchFamily="34" charset="0"/>
                <a:ea typeface="Calibri" pitchFamily="34" charset="-122"/>
                <a:cs typeface="Calibri" pitchFamily="34" charset="-120"/>
              </a:rPr>
              <a:t>In Progress</a:t>
            </a:r>
            <a:endParaRPr lang="en-US" sz="800"/>
          </a:p>
        </p:txBody>
      </p:sp>
      <p:sp>
        <p:nvSpPr>
          <p:cNvPr id="66" name="Shape 64"/>
          <p:cNvSpPr/>
          <p:nvPr/>
        </p:nvSpPr>
        <p:spPr>
          <a:xfrm>
            <a:off x="10479024" y="4343400"/>
            <a:ext cx="841248" cy="310896"/>
          </a:xfrm>
          <a:prstGeom prst="roundRect">
            <a:avLst>
              <a:gd name="adj" fmla="val 50000"/>
            </a:avLst>
          </a:prstGeom>
          <a:solidFill>
            <a:srgbClr val="CADCFC"/>
          </a:solidFill>
          <a:ln/>
        </p:spPr>
        <p:txBody>
          <a:bodyPr/>
          <a:lstStyle/>
          <a:p>
            <a:endParaRPr/>
          </a:p>
        </p:txBody>
      </p:sp>
      <p:sp>
        <p:nvSpPr>
          <p:cNvPr id="67" name="Text 65"/>
          <p:cNvSpPr/>
          <p:nvPr/>
        </p:nvSpPr>
        <p:spPr>
          <a:xfrm>
            <a:off x="10479024" y="4343400"/>
            <a:ext cx="841248" cy="310896"/>
          </a:xfrm>
          <a:prstGeom prst="rect">
            <a:avLst/>
          </a:prstGeom>
          <a:noFill/>
          <a:ln/>
        </p:spPr>
        <p:txBody>
          <a:bodyPr wrap="square" lIns="0" tIns="0" rIns="0" bIns="0" rtlCol="0" anchor="ctr"/>
          <a:lstStyle/>
          <a:p>
            <a:pPr marL="0" indent="0" algn="ctr">
              <a:buNone/>
            </a:pPr>
            <a:r>
              <a:rPr lang="en-US" sz="800" b="1">
                <a:solidFill>
                  <a:srgbClr val="1E2761"/>
                </a:solidFill>
                <a:latin typeface="Calibri" pitchFamily="34" charset="0"/>
                <a:ea typeface="Calibri" pitchFamily="34" charset="-122"/>
                <a:cs typeface="Calibri" pitchFamily="34" charset="-120"/>
              </a:rPr>
              <a:t>Waiting</a:t>
            </a:r>
            <a:endParaRPr lang="en-US" sz="800"/>
          </a:p>
        </p:txBody>
      </p:sp>
      <p:sp>
        <p:nvSpPr>
          <p:cNvPr id="68" name="Shape 66"/>
          <p:cNvSpPr/>
          <p:nvPr/>
        </p:nvSpPr>
        <p:spPr>
          <a:xfrm>
            <a:off x="548640" y="4828032"/>
            <a:ext cx="10881360" cy="658368"/>
          </a:xfrm>
          <a:prstGeom prst="rect">
            <a:avLst/>
          </a:prstGeom>
          <a:solidFill>
            <a:srgbClr val="FFFFFF"/>
          </a:solidFill>
          <a:ln/>
        </p:spPr>
        <p:txBody>
          <a:bodyPr/>
          <a:lstStyle/>
          <a:p>
            <a:endParaRPr/>
          </a:p>
        </p:txBody>
      </p:sp>
      <p:sp>
        <p:nvSpPr>
          <p:cNvPr id="69" name="Text 67"/>
          <p:cNvSpPr/>
          <p:nvPr/>
        </p:nvSpPr>
        <p:spPr>
          <a:xfrm>
            <a:off x="731520" y="4828032"/>
            <a:ext cx="2103120" cy="658368"/>
          </a:xfrm>
          <a:prstGeom prst="rect">
            <a:avLst/>
          </a:prstGeom>
          <a:noFill/>
          <a:ln/>
        </p:spPr>
        <p:txBody>
          <a:bodyPr wrap="square" rtlCol="0" anchor="ctr"/>
          <a:lstStyle/>
          <a:p>
            <a:pPr marL="0" indent="0">
              <a:buNone/>
            </a:pPr>
            <a:r>
              <a:rPr lang="en-US" sz="1100" b="1">
                <a:solidFill>
                  <a:srgbClr val="1E2761"/>
                </a:solidFill>
                <a:latin typeface="Calibri" pitchFamily="34" charset="0"/>
                <a:ea typeface="Calibri" pitchFamily="34" charset="-122"/>
                <a:cs typeface="Calibri" pitchFamily="34" charset="-120"/>
              </a:rPr>
              <a:t>Fabrikam Health</a:t>
            </a:r>
            <a:endParaRPr lang="en-US" sz="1100"/>
          </a:p>
        </p:txBody>
      </p:sp>
      <p:sp>
        <p:nvSpPr>
          <p:cNvPr id="70" name="Text 68"/>
          <p:cNvSpPr/>
          <p:nvPr/>
        </p:nvSpPr>
        <p:spPr>
          <a:xfrm>
            <a:off x="2834640" y="4828032"/>
            <a:ext cx="2240280" cy="658368"/>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Patient Portal</a:t>
            </a:r>
            <a:endParaRPr lang="en-US" sz="1050"/>
          </a:p>
        </p:txBody>
      </p:sp>
      <p:sp>
        <p:nvSpPr>
          <p:cNvPr id="71" name="Text 69"/>
          <p:cNvSpPr/>
          <p:nvPr/>
        </p:nvSpPr>
        <p:spPr>
          <a:xfrm>
            <a:off x="5212080" y="4828032"/>
            <a:ext cx="914400" cy="658368"/>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4.1.2</a:t>
            </a:r>
            <a:endParaRPr lang="en-US" sz="1000"/>
          </a:p>
        </p:txBody>
      </p:sp>
      <p:sp>
        <p:nvSpPr>
          <p:cNvPr id="72" name="Shape 70"/>
          <p:cNvSpPr/>
          <p:nvPr/>
        </p:nvSpPr>
        <p:spPr>
          <a:xfrm>
            <a:off x="6236208" y="5001768"/>
            <a:ext cx="841248" cy="310896"/>
          </a:xfrm>
          <a:prstGeom prst="roundRect">
            <a:avLst>
              <a:gd name="adj" fmla="val 50000"/>
            </a:avLst>
          </a:prstGeom>
          <a:solidFill>
            <a:srgbClr val="2A9187"/>
          </a:solidFill>
          <a:ln/>
        </p:spPr>
        <p:txBody>
          <a:bodyPr/>
          <a:lstStyle/>
          <a:p>
            <a:endParaRPr/>
          </a:p>
        </p:txBody>
      </p:sp>
      <p:sp>
        <p:nvSpPr>
          <p:cNvPr id="73" name="Text 71"/>
          <p:cNvSpPr/>
          <p:nvPr/>
        </p:nvSpPr>
        <p:spPr>
          <a:xfrm>
            <a:off x="6236208"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74" name="Shape 72"/>
          <p:cNvSpPr/>
          <p:nvPr/>
        </p:nvSpPr>
        <p:spPr>
          <a:xfrm>
            <a:off x="7296912" y="5001768"/>
            <a:ext cx="841248" cy="310896"/>
          </a:xfrm>
          <a:prstGeom prst="roundRect">
            <a:avLst>
              <a:gd name="adj" fmla="val 50000"/>
            </a:avLst>
          </a:prstGeom>
          <a:solidFill>
            <a:srgbClr val="2A9187"/>
          </a:solidFill>
          <a:ln/>
        </p:spPr>
        <p:txBody>
          <a:bodyPr/>
          <a:lstStyle/>
          <a:p>
            <a:endParaRPr/>
          </a:p>
        </p:txBody>
      </p:sp>
      <p:sp>
        <p:nvSpPr>
          <p:cNvPr id="75" name="Text 73"/>
          <p:cNvSpPr/>
          <p:nvPr/>
        </p:nvSpPr>
        <p:spPr>
          <a:xfrm>
            <a:off x="7296912"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76" name="Shape 74"/>
          <p:cNvSpPr/>
          <p:nvPr/>
        </p:nvSpPr>
        <p:spPr>
          <a:xfrm>
            <a:off x="8357616" y="5001768"/>
            <a:ext cx="841248" cy="310896"/>
          </a:xfrm>
          <a:prstGeom prst="roundRect">
            <a:avLst>
              <a:gd name="adj" fmla="val 50000"/>
            </a:avLst>
          </a:prstGeom>
          <a:solidFill>
            <a:srgbClr val="2A9187"/>
          </a:solidFill>
          <a:ln/>
        </p:spPr>
        <p:txBody>
          <a:bodyPr/>
          <a:lstStyle/>
          <a:p>
            <a:endParaRPr/>
          </a:p>
        </p:txBody>
      </p:sp>
      <p:sp>
        <p:nvSpPr>
          <p:cNvPr id="77" name="Text 75"/>
          <p:cNvSpPr/>
          <p:nvPr/>
        </p:nvSpPr>
        <p:spPr>
          <a:xfrm>
            <a:off x="8357616"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78" name="Shape 76"/>
          <p:cNvSpPr/>
          <p:nvPr/>
        </p:nvSpPr>
        <p:spPr>
          <a:xfrm>
            <a:off x="9418320" y="5001768"/>
            <a:ext cx="841248" cy="310896"/>
          </a:xfrm>
          <a:prstGeom prst="roundRect">
            <a:avLst>
              <a:gd name="adj" fmla="val 50000"/>
            </a:avLst>
          </a:prstGeom>
          <a:solidFill>
            <a:srgbClr val="2A9187"/>
          </a:solidFill>
          <a:ln/>
        </p:spPr>
        <p:txBody>
          <a:bodyPr/>
          <a:lstStyle/>
          <a:p>
            <a:endParaRPr/>
          </a:p>
        </p:txBody>
      </p:sp>
      <p:sp>
        <p:nvSpPr>
          <p:cNvPr id="79" name="Text 77"/>
          <p:cNvSpPr/>
          <p:nvPr/>
        </p:nvSpPr>
        <p:spPr>
          <a:xfrm>
            <a:off x="9418320"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80" name="Shape 78"/>
          <p:cNvSpPr/>
          <p:nvPr/>
        </p:nvSpPr>
        <p:spPr>
          <a:xfrm>
            <a:off x="10479024" y="5001768"/>
            <a:ext cx="841248" cy="310896"/>
          </a:xfrm>
          <a:prstGeom prst="roundRect">
            <a:avLst>
              <a:gd name="adj" fmla="val 50000"/>
            </a:avLst>
          </a:prstGeom>
          <a:solidFill>
            <a:srgbClr val="2A9187"/>
          </a:solidFill>
          <a:ln/>
        </p:spPr>
        <p:txBody>
          <a:bodyPr/>
          <a:lstStyle/>
          <a:p>
            <a:endParaRPr/>
          </a:p>
        </p:txBody>
      </p:sp>
      <p:sp>
        <p:nvSpPr>
          <p:cNvPr id="81" name="Text 79"/>
          <p:cNvSpPr/>
          <p:nvPr/>
        </p:nvSpPr>
        <p:spPr>
          <a:xfrm>
            <a:off x="10479024" y="5001768"/>
            <a:ext cx="841248"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Deployed</a:t>
            </a:r>
            <a:endParaRPr lang="en-US" sz="800"/>
          </a:p>
        </p:txBody>
      </p:sp>
      <p:sp>
        <p:nvSpPr>
          <p:cNvPr id="82" name="Shape 80"/>
          <p:cNvSpPr/>
          <p:nvPr/>
        </p:nvSpPr>
        <p:spPr>
          <a:xfrm>
            <a:off x="548640" y="1737360"/>
            <a:ext cx="10881360" cy="3749040"/>
          </a:xfrm>
          <a:prstGeom prst="roundRect">
            <a:avLst>
              <a:gd name="adj" fmla="val 1463"/>
            </a:avLst>
          </a:prstGeom>
          <a:ln w="15875">
            <a:solidFill>
              <a:srgbClr val="CADCFC"/>
            </a:solidFill>
            <a:prstDash val="solid"/>
          </a:ln>
        </p:spPr>
        <p:txBody>
          <a:bodyPr/>
          <a:lstStyle/>
          <a:p>
            <a:endParaRPr/>
          </a:p>
        </p:txBody>
      </p:sp>
      <p:sp>
        <p:nvSpPr>
          <p:cNvPr id="83" name="Text 81"/>
          <p:cNvSpPr/>
          <p:nvPr/>
        </p:nvSpPr>
        <p:spPr>
          <a:xfrm>
            <a:off x="548640" y="5669280"/>
            <a:ext cx="1088136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Filter by customer, application, environment, or release — the same view drives both client-facing and internal oversight.</a:t>
            </a:r>
            <a:endParaRPr lang="en-US" sz="1000">
              <a:latin typeface="Calibri"/>
              <a:ea typeface="Calibri"/>
              <a:cs typeface="Calibri"/>
            </a:endParaRPr>
          </a:p>
        </p:txBody>
      </p:sp>
      <p:sp>
        <p:nvSpPr>
          <p:cNvPr id="84" name="Text 82"/>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85" name="Text 83"/>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9</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solidFill>
            <a:srgbClr val="1E2761">
              <a:alpha val="60000"/>
            </a:srgbClr>
          </a:solidFill>
          <a:ln/>
        </p:spPr>
        <p:txBody>
          <a:bodyPr/>
          <a:lstStyle/>
          <a:p>
            <a:endParaRPr/>
          </a:p>
        </p:txBody>
      </p:sp>
      <p:sp>
        <p:nvSpPr>
          <p:cNvPr id="3" name="Text 1"/>
          <p:cNvSpPr/>
          <p:nvPr/>
        </p:nvSpPr>
        <p:spPr>
          <a:xfrm>
            <a:off x="548640" y="411480"/>
            <a:ext cx="8229600" cy="274320"/>
          </a:xfrm>
          <a:prstGeom prst="rect">
            <a:avLst/>
          </a:prstGeom>
          <a:noFill/>
          <a:ln/>
        </p:spPr>
        <p:txBody>
          <a:bodyPr wrap="square" rtlCol="0" anchor="ctr"/>
          <a:lstStyle/>
          <a:p>
            <a:pPr marL="0" indent="0">
              <a:buNone/>
            </a:pPr>
            <a:r>
              <a:rPr lang="en-US" sz="1200" b="1" kern="0" spc="200">
                <a:solidFill>
                  <a:srgbClr val="2A9187"/>
                </a:solidFill>
                <a:latin typeface="Calibri" pitchFamily="34" charset="0"/>
                <a:ea typeface="Calibri" pitchFamily="34" charset="-122"/>
                <a:cs typeface="Calibri" pitchFamily="34" charset="-120"/>
              </a:rPr>
              <a:t>REPORTING</a:t>
            </a:r>
            <a:endParaRPr lang="en-US" sz="1200"/>
          </a:p>
        </p:txBody>
      </p:sp>
      <p:sp>
        <p:nvSpPr>
          <p:cNvPr id="4" name="Text 2"/>
          <p:cNvSpPr/>
          <p:nvPr/>
        </p:nvSpPr>
        <p:spPr>
          <a:xfrm>
            <a:off x="548640" y="658368"/>
            <a:ext cx="9601200" cy="640080"/>
          </a:xfrm>
          <a:prstGeom prst="rect">
            <a:avLst/>
          </a:prstGeom>
          <a:noFill/>
          <a:ln/>
        </p:spPr>
        <p:txBody>
          <a:bodyPr wrap="square" rtlCol="0" anchor="ctr"/>
          <a:lstStyle/>
          <a:p>
            <a:pPr marL="0" indent="0">
              <a:buNone/>
            </a:pPr>
            <a:r>
              <a:rPr lang="en-US" sz="2700" b="1">
                <a:solidFill>
                  <a:srgbClr val="FFFFFF"/>
                </a:solidFill>
                <a:latin typeface="Cambria" pitchFamily="34" charset="0"/>
                <a:ea typeface="Cambria" pitchFamily="34" charset="-122"/>
                <a:cs typeface="Cambria" pitchFamily="34" charset="-120"/>
              </a:rPr>
              <a:t>Everything Downloadable</a:t>
            </a:r>
            <a:endParaRPr lang="en-US" sz="2700"/>
          </a:p>
        </p:txBody>
      </p:sp>
      <p:sp>
        <p:nvSpPr>
          <p:cNvPr id="5" name="Text 3"/>
          <p:cNvSpPr/>
          <p:nvPr/>
        </p:nvSpPr>
        <p:spPr>
          <a:xfrm>
            <a:off x="548640" y="1371600"/>
            <a:ext cx="9601200" cy="320040"/>
          </a:xfrm>
          <a:prstGeom prst="rect">
            <a:avLst/>
          </a:prstGeom>
          <a:noFill/>
          <a:ln/>
        </p:spPr>
        <p:txBody>
          <a:bodyPr wrap="square" rtlCol="0" anchor="ctr"/>
          <a:lstStyle/>
          <a:p>
            <a:pPr marL="0" indent="0">
              <a:buNone/>
            </a:pPr>
            <a:r>
              <a:rPr lang="en-US" sz="1200" i="1">
                <a:solidFill>
                  <a:srgbClr val="CADCFC"/>
                </a:solidFill>
                <a:latin typeface="Calibri" pitchFamily="34" charset="0"/>
                <a:ea typeface="Calibri" pitchFamily="34" charset="-122"/>
                <a:cs typeface="Calibri" pitchFamily="34" charset="-120"/>
              </a:rPr>
              <a:t>Every report generated automatically from real execution data — nothing assembled by hand.</a:t>
            </a:r>
            <a:endParaRPr lang="en-US" sz="1200"/>
          </a:p>
        </p:txBody>
      </p:sp>
      <p:sp>
        <p:nvSpPr>
          <p:cNvPr id="6" name="Shape 4"/>
          <p:cNvSpPr/>
          <p:nvPr/>
        </p:nvSpPr>
        <p:spPr>
          <a:xfrm>
            <a:off x="548640" y="1828800"/>
            <a:ext cx="3520440" cy="2011680"/>
          </a:xfrm>
          <a:prstGeom prst="roundRect">
            <a:avLst>
              <a:gd name="adj" fmla="val 3636"/>
            </a:avLst>
          </a:prstGeom>
          <a:solidFill>
            <a:srgbClr val="1E2761"/>
          </a:solidFill>
          <a:ln/>
        </p:spPr>
        <p:txBody>
          <a:bodyPr/>
          <a:lstStyle/>
          <a:p>
            <a:endParaRPr/>
          </a:p>
        </p:txBody>
      </p:sp>
      <p:sp>
        <p:nvSpPr>
          <p:cNvPr id="7" name="Shape 5"/>
          <p:cNvSpPr/>
          <p:nvPr/>
        </p:nvSpPr>
        <p:spPr>
          <a:xfrm>
            <a:off x="777240" y="2029968"/>
            <a:ext cx="402336" cy="402336"/>
          </a:xfrm>
          <a:prstGeom prst="ellipse">
            <a:avLst/>
          </a:prstGeom>
          <a:solidFill>
            <a:srgbClr val="2A9187"/>
          </a:solidFill>
          <a:ln/>
        </p:spPr>
        <p:txBody>
          <a:bodyPr/>
          <a:lstStyle/>
          <a:p>
            <a:endParaRPr/>
          </a:p>
        </p:txBody>
      </p:sp>
      <p:sp>
        <p:nvSpPr>
          <p:cNvPr id="8" name="Text 6"/>
          <p:cNvSpPr/>
          <p:nvPr/>
        </p:nvSpPr>
        <p:spPr>
          <a:xfrm>
            <a:off x="777240" y="202996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9" name="Text 7"/>
          <p:cNvSpPr/>
          <p:nvPr/>
        </p:nvSpPr>
        <p:spPr>
          <a:xfrm>
            <a:off x="1298448" y="201168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Release Summary</a:t>
            </a:r>
            <a:endParaRPr lang="en-US" sz="1250"/>
          </a:p>
        </p:txBody>
      </p:sp>
      <p:sp>
        <p:nvSpPr>
          <p:cNvPr id="10" name="Text 8"/>
          <p:cNvSpPr/>
          <p:nvPr/>
        </p:nvSpPr>
        <p:spPr>
          <a:xfrm>
            <a:off x="777240" y="254203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Deployment notes, changes introduced, JIRA release notes, affected services.</a:t>
            </a:r>
            <a:endParaRPr lang="en-US" sz="1000"/>
          </a:p>
        </p:txBody>
      </p:sp>
      <p:sp>
        <p:nvSpPr>
          <p:cNvPr id="11" name="Shape 9"/>
          <p:cNvSpPr/>
          <p:nvPr/>
        </p:nvSpPr>
        <p:spPr>
          <a:xfrm>
            <a:off x="777240" y="333756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12" name="Text 10"/>
          <p:cNvSpPr/>
          <p:nvPr/>
        </p:nvSpPr>
        <p:spPr>
          <a:xfrm>
            <a:off x="777240" y="333756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 · Excel</a:t>
            </a:r>
            <a:endParaRPr lang="en-US" sz="800"/>
          </a:p>
        </p:txBody>
      </p:sp>
      <p:sp>
        <p:nvSpPr>
          <p:cNvPr id="13" name="Shape 11"/>
          <p:cNvSpPr/>
          <p:nvPr/>
        </p:nvSpPr>
        <p:spPr>
          <a:xfrm>
            <a:off x="4361688" y="1828800"/>
            <a:ext cx="3520440" cy="2011680"/>
          </a:xfrm>
          <a:prstGeom prst="roundRect">
            <a:avLst>
              <a:gd name="adj" fmla="val 3636"/>
            </a:avLst>
          </a:prstGeom>
          <a:solidFill>
            <a:srgbClr val="1E2761"/>
          </a:solidFill>
          <a:ln/>
        </p:spPr>
        <p:txBody>
          <a:bodyPr/>
          <a:lstStyle/>
          <a:p>
            <a:endParaRPr/>
          </a:p>
        </p:txBody>
      </p:sp>
      <p:sp>
        <p:nvSpPr>
          <p:cNvPr id="14" name="Shape 12"/>
          <p:cNvSpPr/>
          <p:nvPr/>
        </p:nvSpPr>
        <p:spPr>
          <a:xfrm>
            <a:off x="4590288" y="2029968"/>
            <a:ext cx="402336" cy="402336"/>
          </a:xfrm>
          <a:prstGeom prst="ellipse">
            <a:avLst/>
          </a:prstGeom>
          <a:solidFill>
            <a:srgbClr val="2A9187"/>
          </a:solidFill>
          <a:ln/>
        </p:spPr>
        <p:txBody>
          <a:bodyPr/>
          <a:lstStyle/>
          <a:p>
            <a:endParaRPr/>
          </a:p>
        </p:txBody>
      </p:sp>
      <p:sp>
        <p:nvSpPr>
          <p:cNvPr id="15" name="Text 13"/>
          <p:cNvSpPr/>
          <p:nvPr/>
        </p:nvSpPr>
        <p:spPr>
          <a:xfrm>
            <a:off x="4590288" y="202996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16" name="Text 14"/>
          <p:cNvSpPr/>
          <p:nvPr/>
        </p:nvSpPr>
        <p:spPr>
          <a:xfrm>
            <a:off x="5111496" y="201168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Approval Summary</a:t>
            </a:r>
            <a:endParaRPr lang="en-US" sz="1250"/>
          </a:p>
        </p:txBody>
      </p:sp>
      <p:sp>
        <p:nvSpPr>
          <p:cNvPr id="17" name="Text 15"/>
          <p:cNvSpPr/>
          <p:nvPr/>
        </p:nvSpPr>
        <p:spPr>
          <a:xfrm>
            <a:off x="4590288" y="254203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Every stage, approver, decision, timestamp, and readiness status.</a:t>
            </a:r>
            <a:endParaRPr lang="en-US" sz="1000"/>
          </a:p>
        </p:txBody>
      </p:sp>
      <p:sp>
        <p:nvSpPr>
          <p:cNvPr id="18" name="Shape 16"/>
          <p:cNvSpPr/>
          <p:nvPr/>
        </p:nvSpPr>
        <p:spPr>
          <a:xfrm>
            <a:off x="4590288" y="333756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19" name="Text 17"/>
          <p:cNvSpPr/>
          <p:nvPr/>
        </p:nvSpPr>
        <p:spPr>
          <a:xfrm>
            <a:off x="4590288" y="333756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 · Excel</a:t>
            </a:r>
            <a:endParaRPr lang="en-US" sz="800"/>
          </a:p>
        </p:txBody>
      </p:sp>
      <p:sp>
        <p:nvSpPr>
          <p:cNvPr id="20" name="Shape 18"/>
          <p:cNvSpPr/>
          <p:nvPr/>
        </p:nvSpPr>
        <p:spPr>
          <a:xfrm>
            <a:off x="8174736" y="1828800"/>
            <a:ext cx="3520440" cy="2011680"/>
          </a:xfrm>
          <a:prstGeom prst="roundRect">
            <a:avLst>
              <a:gd name="adj" fmla="val 3636"/>
            </a:avLst>
          </a:prstGeom>
          <a:solidFill>
            <a:srgbClr val="1E2761"/>
          </a:solidFill>
          <a:ln/>
        </p:spPr>
        <p:txBody>
          <a:bodyPr/>
          <a:lstStyle/>
          <a:p>
            <a:endParaRPr/>
          </a:p>
        </p:txBody>
      </p:sp>
      <p:sp>
        <p:nvSpPr>
          <p:cNvPr id="21" name="Shape 19"/>
          <p:cNvSpPr/>
          <p:nvPr/>
        </p:nvSpPr>
        <p:spPr>
          <a:xfrm>
            <a:off x="8403336" y="2029968"/>
            <a:ext cx="402336" cy="402336"/>
          </a:xfrm>
          <a:prstGeom prst="ellipse">
            <a:avLst/>
          </a:prstGeom>
          <a:solidFill>
            <a:srgbClr val="2A9187"/>
          </a:solidFill>
          <a:ln/>
        </p:spPr>
        <p:txBody>
          <a:bodyPr/>
          <a:lstStyle/>
          <a:p>
            <a:endParaRPr/>
          </a:p>
        </p:txBody>
      </p:sp>
      <p:sp>
        <p:nvSpPr>
          <p:cNvPr id="22" name="Text 20"/>
          <p:cNvSpPr/>
          <p:nvPr/>
        </p:nvSpPr>
        <p:spPr>
          <a:xfrm>
            <a:off x="8403336" y="202996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23" name="Text 21"/>
          <p:cNvSpPr/>
          <p:nvPr/>
        </p:nvSpPr>
        <p:spPr>
          <a:xfrm>
            <a:off x="8924544" y="201168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AI Assessment Report</a:t>
            </a:r>
            <a:endParaRPr lang="en-US" sz="1250"/>
          </a:p>
        </p:txBody>
      </p:sp>
      <p:sp>
        <p:nvSpPr>
          <p:cNvPr id="24" name="Text 22"/>
          <p:cNvSpPr/>
          <p:nvPr/>
        </p:nvSpPr>
        <p:spPr>
          <a:xfrm>
            <a:off x="8403336" y="254203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Current vs target state, deltas, risk, dependencies, recommendation.</a:t>
            </a:r>
            <a:endParaRPr lang="en-US" sz="1000"/>
          </a:p>
        </p:txBody>
      </p:sp>
      <p:sp>
        <p:nvSpPr>
          <p:cNvPr id="25" name="Shape 23"/>
          <p:cNvSpPr/>
          <p:nvPr/>
        </p:nvSpPr>
        <p:spPr>
          <a:xfrm>
            <a:off x="8403336" y="333756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26" name="Text 24"/>
          <p:cNvSpPr/>
          <p:nvPr/>
        </p:nvSpPr>
        <p:spPr>
          <a:xfrm>
            <a:off x="8403336" y="333756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a:t>
            </a:r>
            <a:endParaRPr lang="en-US" sz="800"/>
          </a:p>
        </p:txBody>
      </p:sp>
      <p:sp>
        <p:nvSpPr>
          <p:cNvPr id="27" name="Shape 25"/>
          <p:cNvSpPr/>
          <p:nvPr/>
        </p:nvSpPr>
        <p:spPr>
          <a:xfrm>
            <a:off x="548640" y="4069080"/>
            <a:ext cx="3520440" cy="2011680"/>
          </a:xfrm>
          <a:prstGeom prst="roundRect">
            <a:avLst>
              <a:gd name="adj" fmla="val 3636"/>
            </a:avLst>
          </a:prstGeom>
          <a:solidFill>
            <a:srgbClr val="1E2761"/>
          </a:solidFill>
          <a:ln/>
        </p:spPr>
        <p:txBody>
          <a:bodyPr/>
          <a:lstStyle/>
          <a:p>
            <a:endParaRPr/>
          </a:p>
        </p:txBody>
      </p:sp>
      <p:sp>
        <p:nvSpPr>
          <p:cNvPr id="28" name="Shape 26"/>
          <p:cNvSpPr/>
          <p:nvPr/>
        </p:nvSpPr>
        <p:spPr>
          <a:xfrm>
            <a:off x="777240" y="4270248"/>
            <a:ext cx="402336" cy="402336"/>
          </a:xfrm>
          <a:prstGeom prst="ellipse">
            <a:avLst/>
          </a:prstGeom>
          <a:solidFill>
            <a:srgbClr val="2A9187"/>
          </a:solidFill>
          <a:ln/>
        </p:spPr>
        <p:txBody>
          <a:bodyPr/>
          <a:lstStyle/>
          <a:p>
            <a:endParaRPr/>
          </a:p>
        </p:txBody>
      </p:sp>
      <p:sp>
        <p:nvSpPr>
          <p:cNvPr id="29" name="Text 27"/>
          <p:cNvSpPr/>
          <p:nvPr/>
        </p:nvSpPr>
        <p:spPr>
          <a:xfrm>
            <a:off x="777240" y="427024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30" name="Text 28"/>
          <p:cNvSpPr/>
          <p:nvPr/>
        </p:nvSpPr>
        <p:spPr>
          <a:xfrm>
            <a:off x="1298448" y="425196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Execution &amp; Audit Trail</a:t>
            </a:r>
            <a:endParaRPr lang="en-US" sz="1250"/>
          </a:p>
        </p:txBody>
      </p:sp>
      <p:sp>
        <p:nvSpPr>
          <p:cNvPr id="31" name="Text 29"/>
          <p:cNvSpPr/>
          <p:nvPr/>
        </p:nvSpPr>
        <p:spPr>
          <a:xfrm>
            <a:off x="777240" y="478231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Full activity history — what ran, when, who approved, what was applied.</a:t>
            </a:r>
            <a:endParaRPr lang="en-US" sz="1000"/>
          </a:p>
        </p:txBody>
      </p:sp>
      <p:sp>
        <p:nvSpPr>
          <p:cNvPr id="32" name="Shape 30"/>
          <p:cNvSpPr/>
          <p:nvPr/>
        </p:nvSpPr>
        <p:spPr>
          <a:xfrm>
            <a:off x="777240" y="557784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33" name="Text 31"/>
          <p:cNvSpPr/>
          <p:nvPr/>
        </p:nvSpPr>
        <p:spPr>
          <a:xfrm>
            <a:off x="777240" y="557784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Excel · CSV</a:t>
            </a:r>
            <a:endParaRPr lang="en-US" sz="800"/>
          </a:p>
        </p:txBody>
      </p:sp>
      <p:sp>
        <p:nvSpPr>
          <p:cNvPr id="34" name="Shape 32"/>
          <p:cNvSpPr/>
          <p:nvPr/>
        </p:nvSpPr>
        <p:spPr>
          <a:xfrm>
            <a:off x="4361688" y="4069080"/>
            <a:ext cx="3520440" cy="2011680"/>
          </a:xfrm>
          <a:prstGeom prst="roundRect">
            <a:avLst>
              <a:gd name="adj" fmla="val 3636"/>
            </a:avLst>
          </a:prstGeom>
          <a:solidFill>
            <a:srgbClr val="1E2761"/>
          </a:solidFill>
          <a:ln/>
        </p:spPr>
        <p:txBody>
          <a:bodyPr/>
          <a:lstStyle/>
          <a:p>
            <a:endParaRPr/>
          </a:p>
        </p:txBody>
      </p:sp>
      <p:sp>
        <p:nvSpPr>
          <p:cNvPr id="35" name="Shape 33"/>
          <p:cNvSpPr/>
          <p:nvPr/>
        </p:nvSpPr>
        <p:spPr>
          <a:xfrm>
            <a:off x="4590288" y="4270248"/>
            <a:ext cx="402336" cy="402336"/>
          </a:xfrm>
          <a:prstGeom prst="ellipse">
            <a:avLst/>
          </a:prstGeom>
          <a:solidFill>
            <a:srgbClr val="2A9187"/>
          </a:solidFill>
          <a:ln/>
        </p:spPr>
        <p:txBody>
          <a:bodyPr/>
          <a:lstStyle/>
          <a:p>
            <a:endParaRPr/>
          </a:p>
        </p:txBody>
      </p:sp>
      <p:sp>
        <p:nvSpPr>
          <p:cNvPr id="36" name="Text 34"/>
          <p:cNvSpPr/>
          <p:nvPr/>
        </p:nvSpPr>
        <p:spPr>
          <a:xfrm>
            <a:off x="4590288" y="427024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37" name="Text 35"/>
          <p:cNvSpPr/>
          <p:nvPr/>
        </p:nvSpPr>
        <p:spPr>
          <a:xfrm>
            <a:off x="5111496" y="425196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Validation Results</a:t>
            </a:r>
            <a:endParaRPr lang="en-US" sz="1250"/>
          </a:p>
        </p:txBody>
      </p:sp>
      <p:sp>
        <p:nvSpPr>
          <p:cNvPr id="38" name="Text 36"/>
          <p:cNvSpPr/>
          <p:nvPr/>
        </p:nvSpPr>
        <p:spPr>
          <a:xfrm>
            <a:off x="4590288" y="478231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Post-deployment checks with pass / fail / warning per check.</a:t>
            </a:r>
            <a:endParaRPr lang="en-US" sz="1000"/>
          </a:p>
        </p:txBody>
      </p:sp>
      <p:sp>
        <p:nvSpPr>
          <p:cNvPr id="39" name="Shape 37"/>
          <p:cNvSpPr/>
          <p:nvPr/>
        </p:nvSpPr>
        <p:spPr>
          <a:xfrm>
            <a:off x="4590288" y="557784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40" name="Text 38"/>
          <p:cNvSpPr/>
          <p:nvPr/>
        </p:nvSpPr>
        <p:spPr>
          <a:xfrm>
            <a:off x="4590288" y="557784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PDF · Excel</a:t>
            </a:r>
            <a:endParaRPr lang="en-US" sz="800"/>
          </a:p>
        </p:txBody>
      </p:sp>
      <p:sp>
        <p:nvSpPr>
          <p:cNvPr id="41" name="Shape 39"/>
          <p:cNvSpPr/>
          <p:nvPr/>
        </p:nvSpPr>
        <p:spPr>
          <a:xfrm>
            <a:off x="8174736" y="4069080"/>
            <a:ext cx="3520440" cy="2011680"/>
          </a:xfrm>
          <a:prstGeom prst="roundRect">
            <a:avLst>
              <a:gd name="adj" fmla="val 3636"/>
            </a:avLst>
          </a:prstGeom>
          <a:solidFill>
            <a:srgbClr val="1E2761"/>
          </a:solidFill>
          <a:ln/>
        </p:spPr>
        <p:txBody>
          <a:bodyPr/>
          <a:lstStyle/>
          <a:p>
            <a:endParaRPr/>
          </a:p>
        </p:txBody>
      </p:sp>
      <p:sp>
        <p:nvSpPr>
          <p:cNvPr id="42" name="Shape 40"/>
          <p:cNvSpPr/>
          <p:nvPr/>
        </p:nvSpPr>
        <p:spPr>
          <a:xfrm>
            <a:off x="8403336" y="4270248"/>
            <a:ext cx="402336" cy="402336"/>
          </a:xfrm>
          <a:prstGeom prst="ellipse">
            <a:avLst/>
          </a:prstGeom>
          <a:solidFill>
            <a:srgbClr val="2A9187"/>
          </a:solidFill>
          <a:ln/>
        </p:spPr>
        <p:txBody>
          <a:bodyPr/>
          <a:lstStyle/>
          <a:p>
            <a:endParaRPr/>
          </a:p>
        </p:txBody>
      </p:sp>
      <p:sp>
        <p:nvSpPr>
          <p:cNvPr id="43" name="Text 41"/>
          <p:cNvSpPr/>
          <p:nvPr/>
        </p:nvSpPr>
        <p:spPr>
          <a:xfrm>
            <a:off x="8403336" y="4270248"/>
            <a:ext cx="402336" cy="402336"/>
          </a:xfrm>
          <a:prstGeom prst="rect">
            <a:avLst/>
          </a:prstGeom>
          <a:noFill/>
          <a:ln/>
        </p:spPr>
        <p:txBody>
          <a:bodyPr wrap="square" lIns="0" tIns="0" rIns="0" bIns="0" rtlCol="0" anchor="ctr"/>
          <a:lstStyle/>
          <a:p>
            <a:pPr marL="0" indent="0" algn="ctr">
              <a:buNone/>
            </a:pPr>
            <a:r>
              <a:rPr lang="en-US" sz="1500" b="1">
                <a:solidFill>
                  <a:srgbClr val="141B47"/>
                </a:solidFill>
                <a:latin typeface="Arial" pitchFamily="34" charset="0"/>
                <a:ea typeface="Arial" pitchFamily="34" charset="-122"/>
                <a:cs typeface="Arial" pitchFamily="34" charset="-120"/>
              </a:rPr>
              <a:t>↓</a:t>
            </a:r>
            <a:endParaRPr lang="en-US" sz="1500"/>
          </a:p>
        </p:txBody>
      </p:sp>
      <p:sp>
        <p:nvSpPr>
          <p:cNvPr id="44" name="Text 42"/>
          <p:cNvSpPr/>
          <p:nvPr/>
        </p:nvSpPr>
        <p:spPr>
          <a:xfrm>
            <a:off x="8924544" y="4251960"/>
            <a:ext cx="2606040" cy="411480"/>
          </a:xfrm>
          <a:prstGeom prst="rect">
            <a:avLst/>
          </a:prstGeom>
          <a:noFill/>
          <a:ln/>
        </p:spPr>
        <p:txBody>
          <a:bodyPr wrap="square" rtlCol="0" anchor="ctr"/>
          <a:lstStyle/>
          <a:p>
            <a:pPr marL="0" indent="0">
              <a:buNone/>
            </a:pPr>
            <a:r>
              <a:rPr lang="en-US" sz="1250" b="1">
                <a:solidFill>
                  <a:srgbClr val="FFFFFF"/>
                </a:solidFill>
                <a:latin typeface="Calibri" pitchFamily="34" charset="0"/>
                <a:ea typeface="Calibri" pitchFamily="34" charset="-122"/>
                <a:cs typeface="Calibri" pitchFamily="34" charset="-120"/>
              </a:rPr>
              <a:t>Environment History</a:t>
            </a:r>
            <a:endParaRPr lang="en-US" sz="1250"/>
          </a:p>
        </p:txBody>
      </p:sp>
      <p:sp>
        <p:nvSpPr>
          <p:cNvPr id="45" name="Text 43"/>
          <p:cNvSpPr/>
          <p:nvPr/>
        </p:nvSpPr>
        <p:spPr>
          <a:xfrm>
            <a:off x="8403336" y="4782312"/>
            <a:ext cx="3063240" cy="822960"/>
          </a:xfrm>
          <a:prstGeom prst="rect">
            <a:avLst/>
          </a:prstGeom>
          <a:noFill/>
          <a:ln/>
        </p:spPr>
        <p:txBody>
          <a:bodyPr wrap="square" rtlCol="0" anchor="ctr"/>
          <a:lstStyle/>
          <a:p>
            <a:pPr marL="0" indent="0">
              <a:lnSpc>
                <a:spcPct val="120000"/>
              </a:lnSpc>
              <a:buNone/>
            </a:pPr>
            <a:r>
              <a:rPr lang="en-US" sz="1000">
                <a:solidFill>
                  <a:srgbClr val="CADCFC"/>
                </a:solidFill>
                <a:latin typeface="Calibri" pitchFamily="34" charset="0"/>
                <a:ea typeface="Calibri" pitchFamily="34" charset="-122"/>
                <a:cs typeface="Calibri" pitchFamily="34" charset="-120"/>
              </a:rPr>
              <a:t>Deployment history per environment across releases and customers.</a:t>
            </a:r>
            <a:endParaRPr lang="en-US" sz="1000"/>
          </a:p>
        </p:txBody>
      </p:sp>
      <p:sp>
        <p:nvSpPr>
          <p:cNvPr id="46" name="Shape 44"/>
          <p:cNvSpPr/>
          <p:nvPr/>
        </p:nvSpPr>
        <p:spPr>
          <a:xfrm>
            <a:off x="8403336" y="5577840"/>
            <a:ext cx="1554480" cy="292608"/>
          </a:xfrm>
          <a:prstGeom prst="roundRect">
            <a:avLst>
              <a:gd name="adj" fmla="val 50000"/>
            </a:avLst>
          </a:prstGeom>
          <a:solidFill>
            <a:srgbClr val="141B47"/>
          </a:solidFill>
          <a:ln w="9525">
            <a:solidFill>
              <a:srgbClr val="2A9187"/>
            </a:solidFill>
            <a:prstDash val="solid"/>
          </a:ln>
        </p:spPr>
        <p:txBody>
          <a:bodyPr/>
          <a:lstStyle/>
          <a:p>
            <a:endParaRPr/>
          </a:p>
        </p:txBody>
      </p:sp>
      <p:sp>
        <p:nvSpPr>
          <p:cNvPr id="47" name="Text 45"/>
          <p:cNvSpPr/>
          <p:nvPr/>
        </p:nvSpPr>
        <p:spPr>
          <a:xfrm>
            <a:off x="8403336" y="5577840"/>
            <a:ext cx="1554480" cy="292608"/>
          </a:xfrm>
          <a:prstGeom prst="rect">
            <a:avLst/>
          </a:prstGeom>
          <a:noFill/>
          <a:ln/>
        </p:spPr>
        <p:txBody>
          <a:bodyPr wrap="square" lIns="0" tIns="0" rIns="0" bIns="0" rtlCol="0" anchor="ctr"/>
          <a:lstStyle/>
          <a:p>
            <a:pPr marL="0" indent="0" algn="ctr">
              <a:buNone/>
            </a:pPr>
            <a:r>
              <a:rPr lang="en-US" sz="800" b="1">
                <a:solidFill>
                  <a:srgbClr val="2A9187"/>
                </a:solidFill>
                <a:latin typeface="Calibri" pitchFamily="34" charset="0"/>
                <a:ea typeface="Calibri" pitchFamily="34" charset="-122"/>
                <a:cs typeface="Calibri" pitchFamily="34" charset="-120"/>
              </a:rPr>
              <a:t>Excel · CSV</a:t>
            </a:r>
            <a:endParaRPr lang="en-US" sz="800"/>
          </a:p>
        </p:txBody>
      </p:sp>
      <p:sp>
        <p:nvSpPr>
          <p:cNvPr id="48" name="Text 46"/>
          <p:cNvSpPr/>
          <p:nvPr/>
        </p:nvSpPr>
        <p:spPr>
          <a:xfrm>
            <a:off x="457200" y="6519672"/>
            <a:ext cx="8229600" cy="274320"/>
          </a:xfrm>
          <a:prstGeom prst="rect">
            <a:avLst/>
          </a:prstGeom>
          <a:noFill/>
          <a:ln/>
        </p:spPr>
        <p:txBody>
          <a:bodyPr wrap="square" lIns="91440" tIns="45720" rIns="91440" bIns="45720" rtlCol="0" anchor="ctr"/>
          <a:lstStyle/>
          <a:p>
            <a:r>
              <a:rPr lang="en-US" sz="1000">
                <a:solidFill>
                  <a:srgbClr val="CADCFC"/>
                </a:solidFill>
                <a:latin typeface="Calibri"/>
                <a:ea typeface="Calibri"/>
                <a:cs typeface="Calibri"/>
              </a:rPr>
              <a:t>Deployment as a Service</a:t>
            </a:r>
            <a:endParaRPr lang="en-US" sz="1000">
              <a:latin typeface="Calibri"/>
              <a:ea typeface="Calibri"/>
              <a:cs typeface="Calibri"/>
            </a:endParaRPr>
          </a:p>
        </p:txBody>
      </p:sp>
      <p:sp>
        <p:nvSpPr>
          <p:cNvPr id="49" name="Text 47"/>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CADCFC"/>
                </a:solidFill>
                <a:latin typeface="Calibri" pitchFamily="34" charset="0"/>
                <a:ea typeface="Calibri" pitchFamily="34" charset="-122"/>
                <a:cs typeface="Calibri" pitchFamily="34" charset="-120"/>
              </a:rPr>
              <a:t>10</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8869680" y="-2011680"/>
            <a:ext cx="6400800" cy="6400800"/>
          </a:xfrm>
          <a:prstGeom prst="ellipse">
            <a:avLst/>
          </a:prstGeom>
          <a:solidFill>
            <a:srgbClr val="1E2761">
              <a:alpha val="60000"/>
            </a:srgbClr>
          </a:solidFill>
          <a:ln/>
        </p:spPr>
        <p:txBody>
          <a:bodyPr/>
          <a:lstStyle/>
          <a:p>
            <a:endParaRPr/>
          </a:p>
        </p:txBody>
      </p:sp>
      <p:sp>
        <p:nvSpPr>
          <p:cNvPr id="3" name="Shape 1"/>
          <p:cNvSpPr/>
          <p:nvPr/>
        </p:nvSpPr>
        <p:spPr>
          <a:xfrm>
            <a:off x="-1371600" y="4572000"/>
            <a:ext cx="4114800" cy="4114800"/>
          </a:xfrm>
          <a:prstGeom prst="ellipse">
            <a:avLst/>
          </a:prstGeom>
          <a:solidFill>
            <a:srgbClr val="2A9187">
              <a:alpha val="18000"/>
            </a:srgbClr>
          </a:solidFill>
          <a:ln/>
        </p:spPr>
        <p:txBody>
          <a:bodyPr/>
          <a:lstStyle/>
          <a:p>
            <a:endParaRPr/>
          </a:p>
        </p:txBody>
      </p:sp>
      <p:sp>
        <p:nvSpPr>
          <p:cNvPr id="4" name="Text 2"/>
          <p:cNvSpPr/>
          <p:nvPr/>
        </p:nvSpPr>
        <p:spPr>
          <a:xfrm>
            <a:off x="731520" y="2468880"/>
            <a:ext cx="10058400" cy="914400"/>
          </a:xfrm>
          <a:prstGeom prst="rect">
            <a:avLst/>
          </a:prstGeom>
          <a:noFill/>
          <a:ln/>
        </p:spPr>
        <p:txBody>
          <a:bodyPr wrap="square" rtlCol="0" anchor="ctr"/>
          <a:lstStyle/>
          <a:p>
            <a:pPr marL="0" indent="0">
              <a:buNone/>
            </a:pPr>
            <a:r>
              <a:rPr lang="en-US" sz="3400" b="1">
                <a:solidFill>
                  <a:srgbClr val="FFFFFF"/>
                </a:solidFill>
                <a:latin typeface="Cambria" pitchFamily="34" charset="0"/>
                <a:ea typeface="Cambria" pitchFamily="34" charset="-122"/>
                <a:cs typeface="Cambria" pitchFamily="34" charset="-120"/>
              </a:rPr>
              <a:t>Your Process. Our Platform.</a:t>
            </a:r>
            <a:endParaRPr lang="en-US" sz="3400"/>
          </a:p>
        </p:txBody>
      </p:sp>
      <p:sp>
        <p:nvSpPr>
          <p:cNvPr id="5" name="Text 3"/>
          <p:cNvSpPr/>
          <p:nvPr/>
        </p:nvSpPr>
        <p:spPr>
          <a:xfrm>
            <a:off x="731520" y="3383280"/>
            <a:ext cx="8961120" cy="822960"/>
          </a:xfrm>
          <a:prstGeom prst="rect">
            <a:avLst/>
          </a:prstGeom>
          <a:noFill/>
          <a:ln/>
        </p:spPr>
        <p:txBody>
          <a:bodyPr wrap="square" rtlCol="0" anchor="ctr"/>
          <a:lstStyle/>
          <a:p>
            <a:pPr marL="0" indent="0">
              <a:lnSpc>
                <a:spcPct val="130000"/>
              </a:lnSpc>
              <a:buNone/>
            </a:pPr>
            <a:r>
              <a:rPr lang="en-US" sz="1500">
                <a:solidFill>
                  <a:srgbClr val="CADCFC"/>
                </a:solidFill>
                <a:latin typeface="Calibri" pitchFamily="34" charset="0"/>
                <a:ea typeface="Calibri" pitchFamily="34" charset="-122"/>
                <a:cs typeface="Calibri" pitchFamily="34" charset="-120"/>
              </a:rPr>
              <a:t>Every workflow, approval chain, phase, template, and notification is something the client configures — not something we build for them.</a:t>
            </a:r>
            <a:endParaRPr lang="en-US" sz="1500"/>
          </a:p>
        </p:txBody>
      </p:sp>
      <p:sp>
        <p:nvSpPr>
          <p:cNvPr id="6" name="Text 4"/>
          <p:cNvSpPr/>
          <p:nvPr/>
        </p:nvSpPr>
        <p:spPr>
          <a:xfrm>
            <a:off x="731520" y="5760720"/>
            <a:ext cx="5486400" cy="457200"/>
          </a:xfrm>
          <a:prstGeom prst="rect">
            <a:avLst/>
          </a:prstGeom>
          <a:noFill/>
          <a:ln/>
        </p:spPr>
        <p:txBody>
          <a:bodyPr wrap="square" rtlCol="0" anchor="ctr"/>
          <a:lstStyle/>
          <a:p>
            <a:pPr marL="0" indent="0">
              <a:buNone/>
            </a:pPr>
            <a:r>
              <a:rPr lang="en-US" sz="1600" b="1">
                <a:solidFill>
                  <a:srgbClr val="2A9187"/>
                </a:solidFill>
                <a:latin typeface="Cambria" pitchFamily="34" charset="0"/>
                <a:ea typeface="Cambria" pitchFamily="34" charset="-122"/>
                <a:cs typeface="Cambria" pitchFamily="34" charset="-120"/>
              </a:rPr>
              <a:t>Thank You</a:t>
            </a:r>
            <a:endParaRPr lang="en-US" sz="1600"/>
          </a:p>
        </p:txBody>
      </p:sp>
      <p:grpSp>
        <p:nvGrpSpPr>
          <p:cNvPr id="7" name="Group 6">
            <a:extLst>
              <a:ext uri="{FF2B5EF4-FFF2-40B4-BE49-F238E27FC236}">
                <a16:creationId xmlns:a16="http://schemas.microsoft.com/office/drawing/2014/main" id="{A17B05B4-9EA8-10B4-3312-D44EAE2B8742}"/>
              </a:ext>
            </a:extLst>
          </p:cNvPr>
          <p:cNvGrpSpPr/>
          <p:nvPr/>
        </p:nvGrpSpPr>
        <p:grpSpPr>
          <a:xfrm>
            <a:off x="8696454" y="4456630"/>
            <a:ext cx="3372765" cy="2172572"/>
            <a:chOff x="4407483" y="4467516"/>
            <a:chExt cx="3372765" cy="2172572"/>
          </a:xfrm>
        </p:grpSpPr>
        <p:sp>
          <p:nvSpPr>
            <p:cNvPr id="8" name="TextBox 5">
              <a:extLst>
                <a:ext uri="{FF2B5EF4-FFF2-40B4-BE49-F238E27FC236}">
                  <a16:creationId xmlns:a16="http://schemas.microsoft.com/office/drawing/2014/main" id="{9816632D-74EF-AF5D-F99E-ADD3CB7D8D4F}"/>
                </a:ext>
              </a:extLst>
            </p:cNvPr>
            <p:cNvSpPr txBox="1"/>
            <p:nvPr/>
          </p:nvSpPr>
          <p:spPr>
            <a:xfrm>
              <a:off x="4413103" y="4467516"/>
              <a:ext cx="3367145" cy="676902"/>
            </a:xfrm>
            <a:prstGeom prst="rect">
              <a:avLst/>
            </a:prstGeom>
            <a:noFill/>
          </p:spPr>
          <p:txBody>
            <a:bodyPr wrap="square" lIns="60948" tIns="30473" rIns="60948" bIns="30473"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chemeClr val="bg1"/>
                  </a:solidFill>
                  <a:effectLst/>
                  <a:uLnTx/>
                  <a:uFillTx/>
                  <a:latin typeface="Poppins SemiBold"/>
                  <a:cs typeface="Poppins SemiBold"/>
                </a:rPr>
                <a:t>NITOR INFOTECH INC.</a:t>
              </a:r>
              <a:endParaRPr lang="en-US" sz="1300" b="1" i="0" u="none" strike="noStrike" kern="1200" cap="none" spc="0" normalizeH="0" baseline="0" noProof="0">
                <a:ln>
                  <a:noFill/>
                </a:ln>
                <a:solidFill>
                  <a:schemeClr val="bg1"/>
                </a:solidFill>
                <a:effectLst/>
                <a:uLnTx/>
                <a:uFillTx/>
                <a:latin typeface="Poppins SemiBold"/>
                <a:cs typeface="Poppins SemiBold"/>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a:ln>
                    <a:noFill/>
                  </a:ln>
                  <a:solidFill>
                    <a:schemeClr val="bg1"/>
                  </a:solidFill>
                  <a:effectLst/>
                  <a:uLnTx/>
                  <a:uFillTx/>
                  <a:latin typeface="Poppins ExtraLight"/>
                  <a:cs typeface="Poppins ExtraLight"/>
                </a:rPr>
                <a:t>900 National </a:t>
              </a:r>
              <a:r>
                <a:rPr kumimoji="0" lang="de-DE" sz="1300" b="0" i="0" u="none" strike="noStrike" kern="1200" cap="none" spc="0" normalizeH="0" baseline="0" noProof="0" err="1">
                  <a:ln>
                    <a:noFill/>
                  </a:ln>
                  <a:solidFill>
                    <a:schemeClr val="bg1"/>
                  </a:solidFill>
                  <a:effectLst/>
                  <a:uLnTx/>
                  <a:uFillTx/>
                  <a:latin typeface="Poppins ExtraLight"/>
                  <a:cs typeface="Poppins ExtraLight"/>
                </a:rPr>
                <a:t>Pkwy</a:t>
              </a:r>
              <a:r>
                <a:rPr kumimoji="0" lang="de-DE" sz="1300" b="0" i="0" u="none" strike="noStrike" kern="1200" cap="none" spc="0" normalizeH="0" baseline="0" noProof="0">
                  <a:ln>
                    <a:noFill/>
                  </a:ln>
                  <a:solidFill>
                    <a:schemeClr val="bg1"/>
                  </a:solidFill>
                  <a:effectLst/>
                  <a:uLnTx/>
                  <a:uFillTx/>
                  <a:latin typeface="Poppins ExtraLight"/>
                  <a:cs typeface="Poppins ExtraLight"/>
                </a:rPr>
                <a:t>, Suite 210,</a:t>
              </a:r>
              <a:endParaRPr lang="de-DE" sz="1300" b="0" i="0" u="none" strike="noStrike" kern="1200" cap="none" spc="0" normalizeH="0" baseline="0" noProof="0">
                <a:ln>
                  <a:noFill/>
                </a:ln>
                <a:solidFill>
                  <a:schemeClr val="bg1"/>
                </a:solidFill>
                <a:effectLst/>
                <a:uLnTx/>
                <a:uFillTx/>
                <a:latin typeface="Poppins ExtraLight"/>
                <a:cs typeface="Poppins ExtraLight"/>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de-DE" sz="1300" b="0" i="0" u="none" strike="noStrike" kern="1200" cap="none" spc="0" normalizeH="0" baseline="0" noProof="0">
                  <a:ln>
                    <a:noFill/>
                  </a:ln>
                  <a:solidFill>
                    <a:schemeClr val="bg1"/>
                  </a:solidFill>
                  <a:effectLst/>
                  <a:uLnTx/>
                  <a:uFillTx/>
                  <a:latin typeface="Poppins ExtraLight"/>
                  <a:cs typeface="Poppins ExtraLight"/>
                </a:rPr>
                <a:t>Schaumburg, IL 60173, USA</a:t>
              </a:r>
              <a:endParaRPr lang="en-US" sz="1300" b="0" i="0" u="none" strike="noStrike" kern="1200" cap="none" spc="0" normalizeH="0" baseline="0" noProof="0">
                <a:ln>
                  <a:noFill/>
                </a:ln>
                <a:solidFill>
                  <a:schemeClr val="bg1"/>
                </a:solidFill>
                <a:effectLst/>
                <a:uLnTx/>
                <a:uFillTx/>
                <a:latin typeface="Poppins ExtraLight"/>
                <a:cs typeface="Poppins ExtraLight"/>
              </a:endParaRPr>
            </a:p>
          </p:txBody>
        </p:sp>
        <p:sp>
          <p:nvSpPr>
            <p:cNvPr id="9" name="TextBox 6">
              <a:extLst>
                <a:ext uri="{FF2B5EF4-FFF2-40B4-BE49-F238E27FC236}">
                  <a16:creationId xmlns:a16="http://schemas.microsoft.com/office/drawing/2014/main" id="{4D675398-9AF4-C578-E705-F951733A7780}"/>
                </a:ext>
              </a:extLst>
            </p:cNvPr>
            <p:cNvSpPr txBox="1"/>
            <p:nvPr/>
          </p:nvSpPr>
          <p:spPr>
            <a:xfrm>
              <a:off x="4407483" y="6373426"/>
              <a:ext cx="3313364" cy="266662"/>
            </a:xfrm>
            <a:prstGeom prst="rect">
              <a:avLst/>
            </a:prstGeom>
            <a:noFill/>
          </p:spPr>
          <p:txBody>
            <a:bodyPr wrap="square" lIns="60948" tIns="30473" rIns="60948" bIns="30473"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chemeClr val="bg1"/>
                  </a:solidFill>
                  <a:effectLst/>
                  <a:uLnTx/>
                  <a:uFillTx/>
                  <a:latin typeface="Poppins ExtraLight"/>
                  <a:cs typeface="Poppins ExtraLight"/>
                </a:rPr>
                <a:t>www.nitorinfotech.com</a:t>
              </a:r>
              <a:endParaRPr lang="en-US" sz="1300" b="0" i="0" u="none" strike="noStrike" kern="1200" cap="none" spc="0" normalizeH="0" baseline="0" noProof="0">
                <a:ln>
                  <a:noFill/>
                </a:ln>
                <a:solidFill>
                  <a:schemeClr val="bg1"/>
                </a:solidFill>
                <a:effectLst/>
                <a:uLnTx/>
                <a:uFillTx/>
                <a:latin typeface="Poppins ExtraLight"/>
                <a:cs typeface="Poppins ExtraLight"/>
              </a:endParaRPr>
            </a:p>
          </p:txBody>
        </p:sp>
        <p:sp>
          <p:nvSpPr>
            <p:cNvPr id="10" name="TextBox 7">
              <a:extLst>
                <a:ext uri="{FF2B5EF4-FFF2-40B4-BE49-F238E27FC236}">
                  <a16:creationId xmlns:a16="http://schemas.microsoft.com/office/drawing/2014/main" id="{9A529F81-142F-BA63-8303-F51B2439594C}"/>
                </a:ext>
              </a:extLst>
            </p:cNvPr>
            <p:cNvSpPr txBox="1"/>
            <p:nvPr/>
          </p:nvSpPr>
          <p:spPr>
            <a:xfrm>
              <a:off x="4413102" y="5327475"/>
              <a:ext cx="3307744" cy="882022"/>
            </a:xfrm>
            <a:prstGeom prst="rect">
              <a:avLst/>
            </a:prstGeom>
            <a:noFill/>
          </p:spPr>
          <p:txBody>
            <a:bodyPr wrap="square" lIns="60948" tIns="30473" rIns="60948" bIns="30473"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a:ln>
                    <a:noFill/>
                  </a:ln>
                  <a:solidFill>
                    <a:schemeClr val="bg1"/>
                  </a:solidFill>
                  <a:effectLst/>
                  <a:uLnTx/>
                  <a:uFillTx/>
                  <a:latin typeface="Poppins SemiBold"/>
                  <a:cs typeface="Poppins SemiBold"/>
                </a:rPr>
                <a:t>GLOBAL DELIVERY CENTRE</a:t>
              </a:r>
              <a:r>
                <a:rPr kumimoji="0" lang="en-IN" sz="1300" b="0" i="0" u="none" strike="noStrike" kern="1200" cap="none" spc="0" normalizeH="0" baseline="0" noProof="0">
                  <a:ln>
                    <a:noFill/>
                  </a:ln>
                  <a:solidFill>
                    <a:schemeClr val="bg1"/>
                  </a:solidFill>
                  <a:effectLst/>
                  <a:uLnTx/>
                  <a:uFillTx/>
                  <a:latin typeface="Poppins SemiBold"/>
                  <a:cs typeface="Poppins SemiBold"/>
                </a:rPr>
                <a:t> </a:t>
              </a:r>
              <a:r>
                <a:rPr kumimoji="0" lang="en-IN" sz="1300" b="1" i="0" u="none" strike="noStrike" kern="1200" cap="none" spc="0" normalizeH="0" baseline="0" noProof="0">
                  <a:ln>
                    <a:noFill/>
                  </a:ln>
                  <a:solidFill>
                    <a:schemeClr val="bg1"/>
                  </a:solidFill>
                  <a:effectLst/>
                  <a:uLnTx/>
                  <a:uFillTx/>
                  <a:latin typeface="Poppins SemiBold"/>
                  <a:cs typeface="Poppins SemiBold"/>
                </a:rPr>
                <a:t>PUNE, INDIA</a:t>
              </a:r>
              <a:endParaRPr lang="en-US" sz="1300" b="1" i="0" u="none" strike="noStrike" kern="1200" cap="none" spc="0" normalizeH="0" baseline="0" noProof="0">
                <a:ln>
                  <a:noFill/>
                </a:ln>
                <a:solidFill>
                  <a:schemeClr val="bg1"/>
                </a:solidFill>
                <a:effectLst/>
                <a:uLnTx/>
                <a:uFillTx/>
                <a:latin typeface="Poppins SemiBold"/>
                <a:cs typeface="Poppins SemiBold"/>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chemeClr val="bg1"/>
                  </a:solidFill>
                  <a:effectLst/>
                  <a:uLnTx/>
                  <a:uFillTx/>
                  <a:latin typeface="Poppins ExtraLight"/>
                  <a:cs typeface="Poppins ExtraLight"/>
                </a:rPr>
                <a:t>Rhine, Block 1.5, Embassy Tech Zone, Rajiv Gandhi InfoTech Park, Hinjewadi Phase - II, Pune, Maharashtra 411057</a:t>
              </a:r>
              <a:endParaRPr lang="en-US" sz="1300" b="0" i="0" u="none" strike="noStrike" kern="1200" cap="none" spc="0" normalizeH="0" baseline="0" noProof="0">
                <a:ln>
                  <a:noFill/>
                </a:ln>
                <a:solidFill>
                  <a:schemeClr val="bg1"/>
                </a:solidFill>
                <a:effectLst/>
                <a:uLnTx/>
                <a:uFillTx/>
                <a:latin typeface="Poppins ExtraLight"/>
                <a:cs typeface="Poppins ExtraLight"/>
              </a:endParaRPr>
            </a:p>
          </p:txBody>
        </p:sp>
      </p:grpSp>
      <p:grpSp>
        <p:nvGrpSpPr>
          <p:cNvPr id="15" name="Group 14">
            <a:extLst>
              <a:ext uri="{FF2B5EF4-FFF2-40B4-BE49-F238E27FC236}">
                <a16:creationId xmlns:a16="http://schemas.microsoft.com/office/drawing/2014/main" id="{B2A22207-573D-8F10-588C-8BB77125DBC7}"/>
              </a:ext>
            </a:extLst>
          </p:cNvPr>
          <p:cNvGrpSpPr/>
          <p:nvPr/>
        </p:nvGrpSpPr>
        <p:grpSpPr>
          <a:xfrm>
            <a:off x="5442908" y="4207932"/>
            <a:ext cx="2626984" cy="1077897"/>
            <a:chOff x="4782507" y="4288740"/>
            <a:chExt cx="2626984" cy="1077897"/>
          </a:xfrm>
        </p:grpSpPr>
        <p:sp>
          <p:nvSpPr>
            <p:cNvPr id="13" name="Rectangle: Rounded Corners 12">
              <a:extLst>
                <a:ext uri="{FF2B5EF4-FFF2-40B4-BE49-F238E27FC236}">
                  <a16:creationId xmlns:a16="http://schemas.microsoft.com/office/drawing/2014/main" id="{940D8474-C338-184C-54A9-2E6A9553624B}"/>
                </a:ext>
              </a:extLst>
            </p:cNvPr>
            <p:cNvSpPr/>
            <p:nvPr/>
          </p:nvSpPr>
          <p:spPr>
            <a:xfrm>
              <a:off x="4782507" y="4288740"/>
              <a:ext cx="2626984" cy="1077897"/>
            </a:xfrm>
            <a:prstGeom prst="roundRect">
              <a:avLst>
                <a:gd name="adj" fmla="val 50000"/>
              </a:avLst>
            </a:prstGeom>
            <a:solidFill>
              <a:schemeClr val="bg1"/>
            </a:solidFill>
            <a:ln w="571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sym typeface="Calibri"/>
              </a:endParaRPr>
            </a:p>
          </p:txBody>
        </p:sp>
        <p:pic>
          <p:nvPicPr>
            <p:cNvPr id="14" name="Picture 13">
              <a:extLst>
                <a:ext uri="{FF2B5EF4-FFF2-40B4-BE49-F238E27FC236}">
                  <a16:creationId xmlns:a16="http://schemas.microsoft.com/office/drawing/2014/main" id="{04B0A2CA-FBE0-5E99-A010-F9FE3B72009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527499" y="4504895"/>
              <a:ext cx="1315427" cy="61413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10" name="Shape 2">
            <a:extLst>
              <a:ext uri="{FF2B5EF4-FFF2-40B4-BE49-F238E27FC236}">
                <a16:creationId xmlns:a16="http://schemas.microsoft.com/office/drawing/2014/main" id="{BC109F60-1D46-A800-7BFD-A23D69CDC35C}"/>
              </a:ext>
            </a:extLst>
          </p:cNvPr>
          <p:cNvSpPr/>
          <p:nvPr/>
        </p:nvSpPr>
        <p:spPr>
          <a:xfrm>
            <a:off x="507451" y="1212610"/>
            <a:ext cx="10994630" cy="402336"/>
          </a:xfrm>
          <a:prstGeom prst="roundRect">
            <a:avLst>
              <a:gd name="adj" fmla="val 18182"/>
            </a:avLst>
          </a:prstGeom>
          <a:solidFill>
            <a:srgbClr val="1E2761"/>
          </a:solidFill>
          <a:ln/>
        </p:spPr>
        <p:txBody>
          <a:bodyPr/>
          <a:lstStyle/>
          <a:p>
            <a:endParaRPr/>
          </a:p>
        </p:txBody>
      </p:sp>
      <p:sp>
        <p:nvSpPr>
          <p:cNvPr id="3" name="Text">
            <a:extLst>
              <a:ext uri="{FF2B5EF4-FFF2-40B4-BE49-F238E27FC236}">
                <a16:creationId xmlns:a16="http://schemas.microsoft.com/office/drawing/2014/main" id="{593EBC00-C83D-00BF-AF37-44CBF8CBB2A8}"/>
              </a:ext>
            </a:extLst>
          </p:cNvPr>
          <p:cNvSpPr/>
          <p:nvPr/>
        </p:nvSpPr>
        <p:spPr>
          <a:xfrm>
            <a:off x="502920" y="365760"/>
            <a:ext cx="9144000" cy="274320"/>
          </a:xfrm>
          <a:prstGeom prst="rect">
            <a:avLst/>
          </a:prstGeom>
          <a:noFill/>
          <a:ln/>
        </p:spPr>
        <p:txBody>
          <a:bodyPr wrap="square" lIns="91440" tIns="45720" rIns="91440" bIns="45720" rtlCol="0" anchor="ctr"/>
          <a:lstStyle/>
          <a:p>
            <a:pPr marL="0" indent="0" algn="l">
              <a:buNone/>
            </a:pPr>
            <a:r>
              <a:rPr lang="en-US" sz="1200" b="1" spc="200">
                <a:solidFill>
                  <a:srgbClr val="1F6E66"/>
                </a:solidFill>
                <a:latin typeface="Calibri" pitchFamily="34" charset="0"/>
                <a:ea typeface="Calibri" pitchFamily="34" charset="-122"/>
                <a:cs typeface="Calibri" pitchFamily="34" charset="-120"/>
              </a:rPr>
              <a:t>PLATFORM FLOW</a:t>
            </a:r>
            <a:endParaRPr lang="en-US" sz="1200"/>
          </a:p>
        </p:txBody>
      </p:sp>
      <p:sp>
        <p:nvSpPr>
          <p:cNvPr id="5" name="Text">
            <a:extLst>
              <a:ext uri="{FF2B5EF4-FFF2-40B4-BE49-F238E27FC236}">
                <a16:creationId xmlns:a16="http://schemas.microsoft.com/office/drawing/2014/main" id="{B332FC9A-B538-44F1-7B17-79775AB95C7F}"/>
              </a:ext>
            </a:extLst>
          </p:cNvPr>
          <p:cNvSpPr/>
          <p:nvPr/>
        </p:nvSpPr>
        <p:spPr>
          <a:xfrm>
            <a:off x="502920" y="603504"/>
            <a:ext cx="10241280" cy="594360"/>
          </a:xfrm>
          <a:prstGeom prst="rect">
            <a:avLst/>
          </a:prstGeom>
          <a:noFill/>
          <a:ln/>
        </p:spPr>
        <p:txBody>
          <a:bodyPr wrap="square" lIns="91440" tIns="45720" rIns="91440" bIns="45720" rtlCol="0" anchor="ctr"/>
          <a:lstStyle/>
          <a:p>
            <a:r>
              <a:rPr lang="en-US" sz="2600" b="1">
                <a:solidFill>
                  <a:srgbClr val="1E2761"/>
                </a:solidFill>
                <a:latin typeface="Cambria"/>
                <a:ea typeface="Cambria"/>
              </a:rPr>
              <a:t>Deployment-as-a-Service</a:t>
            </a:r>
            <a:endParaRPr lang="en-US"/>
          </a:p>
        </p:txBody>
      </p:sp>
      <p:sp>
        <p:nvSpPr>
          <p:cNvPr id="7" name="Text">
            <a:extLst>
              <a:ext uri="{FF2B5EF4-FFF2-40B4-BE49-F238E27FC236}">
                <a16:creationId xmlns:a16="http://schemas.microsoft.com/office/drawing/2014/main" id="{84E339AA-1FD7-81B7-FA39-2458B282C8CE}"/>
              </a:ext>
            </a:extLst>
          </p:cNvPr>
          <p:cNvSpPr/>
          <p:nvPr/>
        </p:nvSpPr>
        <p:spPr>
          <a:xfrm>
            <a:off x="502920" y="1217305"/>
            <a:ext cx="10607040" cy="401183"/>
          </a:xfrm>
          <a:prstGeom prst="rect">
            <a:avLst/>
          </a:prstGeom>
          <a:noFill/>
          <a:ln/>
        </p:spPr>
        <p:txBody>
          <a:bodyPr wrap="square" lIns="91440" tIns="45720" rIns="91440" bIns="45720" rtlCol="0" anchor="ctr"/>
          <a:lstStyle/>
          <a:p>
            <a:pPr>
              <a:lnSpc>
                <a:spcPct val="114999"/>
              </a:lnSpc>
            </a:pPr>
            <a:r>
              <a:rPr lang="en-US" sz="1200" dirty="0">
                <a:solidFill>
                  <a:schemeClr val="bg1"/>
                </a:solidFill>
                <a:ea typeface="+mn-lt"/>
                <a:cs typeface="+mn-lt"/>
              </a:rPr>
              <a:t>Streamlining cloud deployments through automated code analysis, cost previews, and </a:t>
            </a:r>
            <a:r>
              <a:rPr lang="en-US" sz="1200" dirty="0" err="1">
                <a:solidFill>
                  <a:schemeClr val="bg1"/>
                </a:solidFill>
                <a:ea typeface="+mn-lt"/>
                <a:cs typeface="+mn-lt"/>
              </a:rPr>
              <a:t>IaC</a:t>
            </a:r>
            <a:r>
              <a:rPr lang="en-US" sz="1200" dirty="0">
                <a:solidFill>
                  <a:schemeClr val="bg1"/>
                </a:solidFill>
                <a:ea typeface="+mn-lt"/>
                <a:cs typeface="+mn-lt"/>
              </a:rPr>
              <a:t> pipelines.</a:t>
            </a:r>
            <a:endParaRPr lang="en-US">
              <a:solidFill>
                <a:schemeClr val="bg1"/>
              </a:solidFill>
              <a:ea typeface="Calibri"/>
              <a:cs typeface="Calibri"/>
            </a:endParaRPr>
          </a:p>
        </p:txBody>
      </p:sp>
      <p:pic>
        <p:nvPicPr>
          <p:cNvPr id="8" name="Picture 7" descr="A diagram of a flowchart&#10;&#10;AI-generated content may be incorrect.">
            <a:extLst>
              <a:ext uri="{FF2B5EF4-FFF2-40B4-BE49-F238E27FC236}">
                <a16:creationId xmlns:a16="http://schemas.microsoft.com/office/drawing/2014/main" id="{1089B93A-D3A0-ECD6-4C60-8024DC524D7B}"/>
              </a:ext>
            </a:extLst>
          </p:cNvPr>
          <p:cNvPicPr>
            <a:picLocks noChangeAspect="1"/>
          </p:cNvPicPr>
          <p:nvPr/>
        </p:nvPicPr>
        <p:blipFill>
          <a:blip r:embed="rId2"/>
          <a:stretch>
            <a:fillRect/>
          </a:stretch>
        </p:blipFill>
        <p:spPr>
          <a:xfrm>
            <a:off x="297205" y="1710509"/>
            <a:ext cx="11597589" cy="4755035"/>
          </a:xfrm>
          <a:prstGeom prst="rect">
            <a:avLst/>
          </a:prstGeom>
        </p:spPr>
      </p:pic>
    </p:spTree>
    <p:extLst>
      <p:ext uri="{BB962C8B-B14F-4D97-AF65-F5344CB8AC3E}">
        <p14:creationId xmlns:p14="http://schemas.microsoft.com/office/powerpoint/2010/main" val="2873518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EXECUTION FLOW</a:t>
            </a:r>
            <a:endParaRPr lang="en-US" sz="1200"/>
          </a:p>
        </p:txBody>
      </p:sp>
      <p:sp>
        <p:nvSpPr>
          <p:cNvPr id="3" name="Text 1"/>
          <p:cNvSpPr/>
          <p:nvPr/>
        </p:nvSpPr>
        <p:spPr>
          <a:xfrm>
            <a:off x="502920" y="603504"/>
            <a:ext cx="10881360" cy="59436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AI-Driven Change Execution Flow</a:t>
            </a:r>
            <a:endParaRPr lang="en-US" sz="2600"/>
          </a:p>
        </p:txBody>
      </p:sp>
      <p:sp>
        <p:nvSpPr>
          <p:cNvPr id="35" name="Text 2"/>
          <p:cNvSpPr/>
          <p:nvPr/>
        </p:nvSpPr>
        <p:spPr>
          <a:xfrm>
            <a:off x="502920" y="1207008"/>
            <a:ext cx="10881360" cy="320040"/>
          </a:xfrm>
          <a:prstGeom prst="rect">
            <a:avLst/>
          </a:prstGeom>
          <a:noFill/>
          <a:ln/>
        </p:spPr>
        <p:txBody>
          <a:bodyPr wrap="square" lIns="91440" tIns="45720" rIns="91440" bIns="45720" rtlCol="0" anchor="ctr"/>
          <a:lstStyle/>
          <a:p>
            <a:pPr marL="0" indent="0">
              <a:buNone/>
            </a:pPr>
            <a:r>
              <a:rPr lang="en-US" sz="1200">
                <a:solidFill>
                  <a:srgbClr val="5B6584"/>
                </a:solidFill>
                <a:latin typeface="Calibri"/>
                <a:ea typeface="Calibri"/>
                <a:cs typeface="Calibri"/>
              </a:rPr>
              <a:t>From change request to controlled repository or data-plane execution</a:t>
            </a:r>
            <a:endParaRPr lang="en-US" sz="1200">
              <a:latin typeface="Calibri"/>
              <a:ea typeface="Calibri"/>
              <a:cs typeface="Calibri"/>
            </a:endParaRPr>
          </a:p>
        </p:txBody>
      </p:sp>
      <p:sp>
        <p:nvSpPr>
          <p:cNvPr id="4" name="Rounded Rectangle 3"/>
          <p:cNvSpPr/>
          <p:nvPr/>
        </p:nvSpPr>
        <p:spPr>
          <a:xfrm>
            <a:off x="976596" y="1944092"/>
            <a:ext cx="2880360" cy="504942"/>
          </a:xfrm>
          <a:prstGeom prst="roundRect">
            <a:avLst/>
          </a:prstGeom>
          <a:solidFill>
            <a:srgbClr val="F6E9D3"/>
          </a:solidFill>
          <a:ln w="12700">
            <a:solidFill>
              <a:srgbClr val="C69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1F3B"/>
                </a:solidFill>
                <a:latin typeface="Calibri"/>
              </a:rPr>
              <a:t>Change Request</a:t>
            </a:r>
          </a:p>
        </p:txBody>
      </p:sp>
      <p:sp>
        <p:nvSpPr>
          <p:cNvPr id="5" name="Rounded Rectangle 4"/>
          <p:cNvSpPr/>
          <p:nvPr/>
        </p:nvSpPr>
        <p:spPr>
          <a:xfrm>
            <a:off x="976596" y="2640564"/>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Environment Discovery
Cloud · Repository · Release</a:t>
            </a:r>
          </a:p>
        </p:txBody>
      </p:sp>
      <p:sp>
        <p:nvSpPr>
          <p:cNvPr id="6" name="Rounded Rectangle 5"/>
          <p:cNvSpPr/>
          <p:nvPr/>
        </p:nvSpPr>
        <p:spPr>
          <a:xfrm>
            <a:off x="976596" y="3380566"/>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Classification / Parsing
Input clarification handled inline</a:t>
            </a:r>
          </a:p>
        </p:txBody>
      </p:sp>
      <p:sp>
        <p:nvSpPr>
          <p:cNvPr id="7" name="Rounded Rectangle 6"/>
          <p:cNvSpPr/>
          <p:nvPr/>
        </p:nvSpPr>
        <p:spPr>
          <a:xfrm>
            <a:off x="976596" y="4120566"/>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Resolve Intents
File + key path · confidence</a:t>
            </a:r>
          </a:p>
        </p:txBody>
      </p:sp>
      <p:sp>
        <p:nvSpPr>
          <p:cNvPr id="8" name="Rounded Rectangle 7"/>
          <p:cNvSpPr/>
          <p:nvPr/>
        </p:nvSpPr>
        <p:spPr>
          <a:xfrm>
            <a:off x="976596" y="4860567"/>
            <a:ext cx="2880360" cy="574589"/>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Delta View
Before → After · impact / cost</a:t>
            </a:r>
          </a:p>
        </p:txBody>
      </p:sp>
      <p:sp>
        <p:nvSpPr>
          <p:cNvPr id="9" name="Rounded Rectangle 8"/>
          <p:cNvSpPr/>
          <p:nvPr/>
        </p:nvSpPr>
        <p:spPr>
          <a:xfrm>
            <a:off x="976596" y="5600569"/>
            <a:ext cx="2880360" cy="504942"/>
          </a:xfrm>
          <a:prstGeom prst="roundRect">
            <a:avLst/>
          </a:prstGeom>
          <a:solidFill>
            <a:srgbClr val="F6E9D3"/>
          </a:solidFill>
          <a:ln w="12700">
            <a:solidFill>
              <a:srgbClr val="C69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1F3B"/>
                </a:solidFill>
                <a:latin typeface="Calibri"/>
              </a:rPr>
              <a:t>Per-change Human Approval</a:t>
            </a:r>
          </a:p>
        </p:txBody>
      </p:sp>
      <p:cxnSp>
        <p:nvCxnSpPr>
          <p:cNvPr id="10" name="Connector 9"/>
          <p:cNvCxnSpPr/>
          <p:nvPr/>
        </p:nvCxnSpPr>
        <p:spPr>
          <a:xfrm>
            <a:off x="2416776" y="2449035"/>
            <a:ext cx="0" cy="191530"/>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416776" y="3215153"/>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16776" y="3955155"/>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416776" y="4695155"/>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416776" y="5435157"/>
            <a:ext cx="0" cy="165412"/>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51315" y="2814682"/>
            <a:ext cx="2788920" cy="539766"/>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1 · Repository Changes</a:t>
            </a:r>
          </a:p>
        </p:txBody>
      </p:sp>
      <p:sp>
        <p:nvSpPr>
          <p:cNvPr id="16" name="Rounded Rectangle 15"/>
          <p:cNvSpPr/>
          <p:nvPr/>
        </p:nvSpPr>
        <p:spPr>
          <a:xfrm>
            <a:off x="4451315" y="364174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Feature Branch
Approved changes committed</a:t>
            </a:r>
          </a:p>
        </p:txBody>
      </p:sp>
      <p:sp>
        <p:nvSpPr>
          <p:cNvPr id="17" name="Rounded Rectangle 16"/>
          <p:cNvSpPr/>
          <p:nvPr/>
        </p:nvSpPr>
        <p:spPr>
          <a:xfrm>
            <a:off x="4451315" y="446880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PR Flow
Review → Merge → Deploy</a:t>
            </a:r>
          </a:p>
        </p:txBody>
      </p:sp>
      <p:sp>
        <p:nvSpPr>
          <p:cNvPr id="18" name="Rounded Rectangle 17"/>
          <p:cNvSpPr/>
          <p:nvPr/>
        </p:nvSpPr>
        <p:spPr>
          <a:xfrm>
            <a:off x="4451315" y="5295863"/>
            <a:ext cx="2788920" cy="583295"/>
          </a:xfrm>
          <a:prstGeom prst="flowChartTerminator">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sz="1300" b="0">
                <a:solidFill>
                  <a:srgbClr val="1B1F3B"/>
                </a:solidFill>
                <a:latin typeface="Calibri"/>
              </a:rPr>
              <a:t>Easily Reversible
Git history + rollback</a:t>
            </a:r>
          </a:p>
        </p:txBody>
      </p:sp>
      <p:sp>
        <p:nvSpPr>
          <p:cNvPr id="19" name="Rounded Rectangle 18"/>
          <p:cNvSpPr/>
          <p:nvPr/>
        </p:nvSpPr>
        <p:spPr>
          <a:xfrm>
            <a:off x="8108916" y="2814682"/>
            <a:ext cx="2788920" cy="539766"/>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2 · Data-Plane Changes</a:t>
            </a:r>
          </a:p>
        </p:txBody>
      </p:sp>
      <p:sp>
        <p:nvSpPr>
          <p:cNvPr id="20" name="Rounded Rectangle 19"/>
          <p:cNvSpPr/>
          <p:nvPr/>
        </p:nvSpPr>
        <p:spPr>
          <a:xfrm>
            <a:off x="8108916" y="364174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Apply Changes
Cloud configuration / secrets</a:t>
            </a:r>
          </a:p>
        </p:txBody>
      </p:sp>
      <p:sp>
        <p:nvSpPr>
          <p:cNvPr id="21" name="Rounded Rectangle 20"/>
          <p:cNvSpPr/>
          <p:nvPr/>
        </p:nvSpPr>
        <p:spPr>
          <a:xfrm>
            <a:off x="8108916" y="4468802"/>
            <a:ext cx="2788920" cy="583295"/>
          </a:xfrm>
          <a:prstGeom prst="roundRect">
            <a:avLst/>
          </a:prstGeom>
          <a:solidFill>
            <a:srgbClr val="FFFFFF"/>
          </a:solidFill>
          <a:ln w="12700">
            <a:solidFill>
              <a:srgbClr val="C9C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0">
                <a:solidFill>
                  <a:srgbClr val="1B1F3B"/>
                </a:solidFill>
                <a:latin typeface="Calibri"/>
              </a:rPr>
              <a:t>Report + Logging
Change outcome + audit trail</a:t>
            </a:r>
          </a:p>
        </p:txBody>
      </p:sp>
      <p:sp>
        <p:nvSpPr>
          <p:cNvPr id="22" name="Rounded Rectangle 21"/>
          <p:cNvSpPr/>
          <p:nvPr/>
        </p:nvSpPr>
        <p:spPr>
          <a:xfrm>
            <a:off x="8108916" y="5295863"/>
            <a:ext cx="2788920" cy="583295"/>
          </a:xfrm>
          <a:prstGeom prst="roundRect">
            <a:avLst/>
          </a:prstGeom>
          <a:solidFill>
            <a:srgbClr val="D9EEEC"/>
          </a:solidFill>
          <a:ln w="12700">
            <a:solidFill>
              <a:srgbClr val="2A918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1F3B"/>
                </a:solidFill>
                <a:latin typeface="Calibri"/>
              </a:rPr>
              <a:t>Finalize</a:t>
            </a:r>
          </a:p>
        </p:txBody>
      </p:sp>
      <p:cxnSp>
        <p:nvCxnSpPr>
          <p:cNvPr id="23" name="Connector 22"/>
          <p:cNvCxnSpPr/>
          <p:nvPr/>
        </p:nvCxnSpPr>
        <p:spPr>
          <a:xfrm>
            <a:off x="5845775" y="3354447"/>
            <a:ext cx="0" cy="287295"/>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45775" y="4225038"/>
            <a:ext cx="0" cy="243764"/>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45775" y="5052096"/>
            <a:ext cx="0" cy="243766"/>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03376" y="3354447"/>
            <a:ext cx="0" cy="287295"/>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503376" y="4225038"/>
            <a:ext cx="0" cy="243764"/>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503376" y="5052096"/>
            <a:ext cx="0" cy="243766"/>
          </a:xfrm>
          <a:prstGeom prst="line">
            <a:avLst/>
          </a:prstGeom>
          <a:ln w="19050">
            <a:solidFill>
              <a:srgbClr val="5B6584"/>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13098" y="6202025"/>
            <a:ext cx="2788920" cy="217647"/>
          </a:xfrm>
          <a:prstGeom prst="rect">
            <a:avLst/>
          </a:prstGeom>
          <a:noFill/>
        </p:spPr>
        <p:txBody>
          <a:bodyPr wrap="none" anchor="ctr">
            <a:spAutoFit/>
          </a:bodyPr>
          <a:lstStyle/>
          <a:p>
            <a:pPr algn="ctr"/>
            <a:r>
              <a:rPr sz="900" b="0">
                <a:solidFill>
                  <a:srgbClr val="5B6584"/>
                </a:solidFill>
                <a:latin typeface="Calibri"/>
              </a:rPr>
              <a:t>One approval decision per change</a:t>
            </a:r>
          </a:p>
        </p:txBody>
      </p:sp>
      <p:sp>
        <p:nvSpPr>
          <p:cNvPr id="34" name="TextBox 33"/>
          <p:cNvSpPr txBox="1"/>
          <p:nvPr/>
        </p:nvSpPr>
        <p:spPr>
          <a:xfrm>
            <a:off x="8108916" y="6202025"/>
            <a:ext cx="2788920" cy="217647"/>
          </a:xfrm>
          <a:prstGeom prst="rect">
            <a:avLst/>
          </a:prstGeom>
          <a:noFill/>
        </p:spPr>
        <p:txBody>
          <a:bodyPr wrap="none" anchor="ctr">
            <a:spAutoFit/>
          </a:bodyPr>
          <a:lstStyle/>
          <a:p>
            <a:pPr algn="ctr"/>
            <a:r>
              <a:rPr sz="900" b="0">
                <a:solidFill>
                  <a:srgbClr val="5B6584"/>
                </a:solidFill>
                <a:latin typeface="Calibri"/>
              </a:rPr>
              <a:t>Directly applied · fully logged</a:t>
            </a:r>
          </a:p>
        </p:txBody>
      </p:sp>
      <p:sp>
        <p:nvSpPr>
          <p:cNvPr id="36" name="Text 34"/>
          <p:cNvSpPr/>
          <p:nvPr/>
        </p:nvSpPr>
        <p:spPr>
          <a:xfrm>
            <a:off x="502920" y="6519672"/>
            <a:ext cx="8229600" cy="274320"/>
          </a:xfrm>
          <a:prstGeom prst="rect">
            <a:avLst/>
          </a:prstGeom>
          <a:noFill/>
          <a:ln/>
        </p:spPr>
        <p:txBody>
          <a:bodyPr wrap="square" lIns="91440" tIns="45720" rIns="91440" bIns="45720" rtlCol="0" anchor="ctr"/>
          <a:lstStyle/>
          <a:p>
            <a:pPr marL="0" indent="0" algn="l">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37" name="Text 35"/>
          <p:cNvSpPr/>
          <p:nvPr/>
        </p:nvSpPr>
        <p:spPr>
          <a:xfrm>
            <a:off x="502920" y="6519672"/>
            <a:ext cx="11185855" cy="274320"/>
          </a:xfrm>
          <a:prstGeom prst="rect">
            <a:avLst/>
          </a:prstGeom>
          <a:noFill/>
          <a:ln/>
        </p:spPr>
        <p:txBody>
          <a:bodyPr wrap="square" lIns="91440" tIns="45720" rIns="91440" bIns="45720" rtlCol="0" anchor="ctr"/>
          <a:lstStyle/>
          <a:p>
            <a:pPr marL="0" indent="0" algn="r">
              <a:buNone/>
            </a:pPr>
            <a:r>
              <a:rPr lang="en-US" sz="1000">
                <a:solidFill>
                  <a:srgbClr val="5B6584"/>
                </a:solidFill>
                <a:latin typeface="Calibri" pitchFamily="34" charset="0"/>
                <a:ea typeface="Calibri" pitchFamily="34" charset="-122"/>
                <a:cs typeface="Calibri" pitchFamily="34" charset="-120"/>
              </a:rPr>
              <a:t>13</a:t>
            </a:r>
            <a:endParaRPr lang="en-US" sz="1000"/>
          </a:p>
        </p:txBody>
      </p:sp>
      <p:cxnSp>
        <p:nvCxnSpPr>
          <p:cNvPr id="38" name="Connector: Elbow 37">
            <a:extLst>
              <a:ext uri="{FF2B5EF4-FFF2-40B4-BE49-F238E27FC236}">
                <a16:creationId xmlns:a16="http://schemas.microsoft.com/office/drawing/2014/main" id="{CB4B1FB0-B5B0-1A76-2C07-71E8AA77A264}"/>
              </a:ext>
            </a:extLst>
          </p:cNvPr>
          <p:cNvCxnSpPr/>
          <p:nvPr/>
        </p:nvCxnSpPr>
        <p:spPr>
          <a:xfrm flipV="1">
            <a:off x="3887207" y="2219078"/>
            <a:ext cx="614435" cy="3584208"/>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C4BAB4-049A-649F-CDD8-61135510BA68}"/>
              </a:ext>
            </a:extLst>
          </p:cNvPr>
          <p:cNvCxnSpPr/>
          <p:nvPr/>
        </p:nvCxnSpPr>
        <p:spPr>
          <a:xfrm>
            <a:off x="4542635" y="2238605"/>
            <a:ext cx="5024746" cy="632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12A1F8B-3E43-B42A-ED82-7250846EBE8F}"/>
              </a:ext>
            </a:extLst>
          </p:cNvPr>
          <p:cNvCxnSpPr/>
          <p:nvPr/>
        </p:nvCxnSpPr>
        <p:spPr>
          <a:xfrm>
            <a:off x="5848570" y="2274678"/>
            <a:ext cx="6327" cy="5227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CF0F068-AC44-3D11-6FF4-ACB93D2B42ED}"/>
              </a:ext>
            </a:extLst>
          </p:cNvPr>
          <p:cNvCxnSpPr/>
          <p:nvPr/>
        </p:nvCxnSpPr>
        <p:spPr>
          <a:xfrm flipH="1">
            <a:off x="9530257" y="2298082"/>
            <a:ext cx="4406" cy="4798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394C4CB1-69ED-BD85-302F-704CB5CB524F}"/>
              </a:ext>
            </a:extLst>
          </p:cNvPr>
          <p:cNvCxnSpPr/>
          <p:nvPr/>
        </p:nvCxnSpPr>
        <p:spPr>
          <a:xfrm flipV="1">
            <a:off x="7266604" y="3942911"/>
            <a:ext cx="853382" cy="802179"/>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
          <p:cNvSpPr/>
          <p:nvPr/>
        </p:nvSpPr>
        <p:spPr>
          <a:xfrm>
            <a:off x="0" y="0"/>
            <a:ext cx="12192000" cy="6858000"/>
          </a:xfrm>
          <a:prstGeom prst="rect">
            <a:avLst/>
          </a:prstGeom>
          <a:solidFill>
            <a:srgbClr val="F4F7FD"/>
          </a:solidFill>
          <a:ln>
            <a:noFill/>
          </a:ln>
        </p:spPr>
        <p:txBody>
          <a:bodyPr/>
          <a:lstStyle/>
          <a:p>
            <a:endParaRPr/>
          </a:p>
        </p:txBody>
      </p:sp>
      <p:cxnSp>
        <p:nvCxnSpPr>
          <p:cNvPr id="3" name="C"/>
          <p:cNvCxnSpPr/>
          <p:nvPr/>
        </p:nvCxnSpPr>
        <p:spPr>
          <a:xfrm>
            <a:off x="12100560" y="0"/>
            <a:ext cx="1" cy="6858000"/>
          </a:xfrm>
          <a:prstGeom prst="line">
            <a:avLst/>
          </a:prstGeom>
          <a:ln w="6350">
            <a:solidFill>
              <a:srgbClr val="CADCFC"/>
            </a:solidFill>
            <a:prstDash val="dash"/>
          </a:ln>
        </p:spPr>
      </p:cxnSp>
      <p:sp>
        <p:nvSpPr>
          <p:cNvPr id="4" name="DT"/>
          <p:cNvSpPr/>
          <p:nvPr/>
        </p:nvSpPr>
        <p:spPr>
          <a:xfrm>
            <a:off x="457200" y="237744"/>
            <a:ext cx="6400800" cy="219456"/>
          </a:xfrm>
          <a:prstGeom prst="rect">
            <a:avLst/>
          </a:prstGeom>
          <a:noFill/>
          <a:ln>
            <a:noFill/>
          </a:ln>
        </p:spPr>
        <p:txBody>
          <a:bodyPr wrap="square" lIns="0" tIns="0" rIns="0" bIns="0" anchor="ctr"/>
          <a:lstStyle/>
          <a:p>
            <a:pPr algn="l">
              <a:buNone/>
            </a:pPr>
            <a:r>
              <a:rPr lang="en-US" sz="820" b="1" dirty="0">
                <a:solidFill>
                  <a:srgbClr val="2F55C4"/>
                </a:solidFill>
                <a:latin typeface="Calibri" pitchFamily="34" charset="0"/>
              </a:rPr>
              <a:t>DAAS PLATFORM</a:t>
            </a:r>
            <a:r>
              <a:rPr lang="en-US" sz="820" b="0" dirty="0">
                <a:solidFill>
                  <a:srgbClr val="A9B6CC"/>
                </a:solidFill>
                <a:latin typeface="Calibri" pitchFamily="34" charset="0"/>
              </a:rPr>
              <a:t>   ·   </a:t>
            </a:r>
            <a:r>
              <a:rPr lang="en-US" sz="820" b="1" dirty="0">
                <a:solidFill>
                  <a:srgbClr val="2F55C4"/>
                </a:solidFill>
                <a:latin typeface="Calibri" pitchFamily="34" charset="0"/>
              </a:rPr>
              <a:t>HOW CLIENTS ENTER IT</a:t>
            </a:r>
          </a:p>
        </p:txBody>
      </p:sp>
      <p:sp>
        <p:nvSpPr>
          <p:cNvPr id="5" name="T"/>
          <p:cNvSpPr>
            <a:spLocks noGrp="1"/>
          </p:cNvSpPr>
          <p:nvPr/>
        </p:nvSpPr>
        <p:spPr>
          <a:xfrm>
            <a:off x="457200" y="457200"/>
            <a:ext cx="9601200" cy="384048"/>
          </a:xfrm>
          <a:prstGeom prst="rect">
            <a:avLst/>
          </a:prstGeom>
          <a:noFill/>
          <a:ln>
            <a:noFill/>
          </a:ln>
        </p:spPr>
        <p:txBody>
          <a:bodyPr wrap="square" lIns="0" tIns="0" rIns="0" bIns="0" rtlCol="0" anchor="ctr"/>
          <a:lstStyle/>
          <a:p>
            <a:pPr marL="0" indent="0" algn="l">
              <a:buNone/>
            </a:pPr>
            <a:r>
              <a:rPr lang="en-US" sz="1620" b="1" i="0" dirty="0">
                <a:solidFill>
                  <a:srgbClr val="0F1B35"/>
                </a:solidFill>
                <a:latin typeface="Calibri" pitchFamily="34" charset="0"/>
              </a:rPr>
              <a:t>Two Delivery Modes, One Execution Core</a:t>
            </a:r>
          </a:p>
        </p:txBody>
      </p:sp>
      <p:sp>
        <p:nvSpPr>
          <p:cNvPr id="6" name="T"/>
          <p:cNvSpPr>
            <a:spLocks noGrp="1"/>
          </p:cNvSpPr>
          <p:nvPr/>
        </p:nvSpPr>
        <p:spPr>
          <a:xfrm>
            <a:off x="478971" y="6272784"/>
            <a:ext cx="6509657" cy="360970"/>
          </a:xfrm>
          <a:prstGeom prst="rect">
            <a:avLst/>
          </a:prstGeom>
          <a:noFill/>
          <a:ln>
            <a:noFill/>
          </a:ln>
        </p:spPr>
        <p:txBody>
          <a:bodyPr wrap="square" lIns="0" tIns="0" rIns="0" bIns="0" rtlCol="0" anchor="ctr"/>
          <a:lstStyle/>
          <a:p>
            <a:pPr marL="0" indent="0" algn="l">
              <a:buNone/>
            </a:pPr>
            <a:r>
              <a:rPr lang="en-US" sz="750" b="0" i="0">
                <a:solidFill>
                  <a:srgbClr val="5B6584"/>
                </a:solidFill>
                <a:latin typeface="Calibri"/>
                <a:ea typeface="Calibri"/>
                <a:cs typeface="Calibri"/>
              </a:rPr>
              <a:t>Deployment as a Service</a:t>
            </a:r>
            <a:endParaRPr lang="en-US" sz="780" b="0" i="0" dirty="0">
              <a:solidFill>
                <a:srgbClr val="5B6584"/>
              </a:solidFill>
              <a:latin typeface="Calibri" pitchFamily="34" charset="0"/>
            </a:endParaRPr>
          </a:p>
        </p:txBody>
      </p:sp>
      <p:sp>
        <p:nvSpPr>
          <p:cNvPr id="7" name="T"/>
          <p:cNvSpPr>
            <a:spLocks noGrp="1"/>
          </p:cNvSpPr>
          <p:nvPr/>
        </p:nvSpPr>
        <p:spPr>
          <a:xfrm>
            <a:off x="11186160" y="6272784"/>
            <a:ext cx="457200" cy="219456"/>
          </a:xfrm>
          <a:prstGeom prst="rect">
            <a:avLst/>
          </a:prstGeom>
          <a:noFill/>
          <a:ln>
            <a:noFill/>
          </a:ln>
        </p:spPr>
        <p:txBody>
          <a:bodyPr wrap="square" lIns="0" tIns="0" rIns="0" bIns="0" rtlCol="0" anchor="ctr"/>
          <a:lstStyle/>
          <a:p>
            <a:pPr marL="0" indent="0" algn="r">
              <a:buNone/>
            </a:pPr>
            <a:r>
              <a:rPr lang="en-US" sz="780" b="0" i="0" dirty="0">
                <a:solidFill>
                  <a:srgbClr val="5B6584"/>
                </a:solidFill>
                <a:latin typeface="Calibri" pitchFamily="34" charset="0"/>
              </a:rPr>
              <a:t>14</a:t>
            </a:r>
          </a:p>
        </p:txBody>
      </p:sp>
      <p:sp>
        <p:nvSpPr>
          <p:cNvPr id="8" name="T"/>
          <p:cNvSpPr>
            <a:spLocks noGrp="1"/>
          </p:cNvSpPr>
          <p:nvPr/>
        </p:nvSpPr>
        <p:spPr>
          <a:xfrm>
            <a:off x="457200" y="905256"/>
            <a:ext cx="10728960" cy="475488"/>
          </a:xfrm>
          <a:prstGeom prst="rect">
            <a:avLst/>
          </a:prstGeom>
          <a:noFill/>
          <a:ln>
            <a:noFill/>
          </a:ln>
        </p:spPr>
        <p:txBody>
          <a:bodyPr wrap="square" lIns="0" tIns="0" rIns="0" bIns="0" rtlCol="0" anchor="t"/>
          <a:lstStyle/>
          <a:p>
            <a:pPr marL="0" indent="0" algn="l">
              <a:buNone/>
            </a:pPr>
            <a:r>
              <a:rPr lang="en-US" sz="950" b="0" i="0" dirty="0">
                <a:solidFill>
                  <a:srgbClr val="5B6584"/>
                </a:solidFill>
                <a:latin typeface="Calibri" pitchFamily="34" charset="0"/>
              </a:rPr>
              <a:t>DaaS shipped first as a builder for net-new cloud infrastructure. Client engagements then pushed it to also operate safely inside an environment that already exists — connect first, then act only on an approved change request. Both modes run through the same agent core.</a:t>
            </a:r>
          </a:p>
        </p:txBody>
      </p:sp>
      <p:sp>
        <p:nvSpPr>
          <p:cNvPr id="9" name="S"/>
          <p:cNvSpPr/>
          <p:nvPr/>
        </p:nvSpPr>
        <p:spPr>
          <a:xfrm>
            <a:off x="457200" y="1591056"/>
            <a:ext cx="713232" cy="246888"/>
          </a:xfrm>
          <a:prstGeom prst="roundRect">
            <a:avLst>
              <a:gd name="adj" fmla="val 50000"/>
            </a:avLst>
          </a:prstGeom>
          <a:solidFill>
            <a:srgbClr val="0E8A6E"/>
          </a:solidFill>
          <a:ln>
            <a:noFill/>
          </a:ln>
        </p:spPr>
        <p:txBody>
          <a:bodyPr/>
          <a:lstStyle/>
          <a:p>
            <a:endParaRPr/>
          </a:p>
        </p:txBody>
      </p:sp>
      <p:sp>
        <p:nvSpPr>
          <p:cNvPr id="10" name="T"/>
          <p:cNvSpPr>
            <a:spLocks noGrp="1"/>
          </p:cNvSpPr>
          <p:nvPr/>
        </p:nvSpPr>
        <p:spPr>
          <a:xfrm>
            <a:off x="457200" y="1591056"/>
            <a:ext cx="713232" cy="246888"/>
          </a:xfrm>
          <a:prstGeom prst="rect">
            <a:avLst/>
          </a:prstGeom>
          <a:noFill/>
          <a:ln>
            <a:noFill/>
          </a:ln>
        </p:spPr>
        <p:txBody>
          <a:bodyPr wrap="square" lIns="0" tIns="0" rIns="0" bIns="0" rtlCol="0" anchor="ctr"/>
          <a:lstStyle/>
          <a:p>
            <a:pPr marL="0" indent="0" algn="ctr">
              <a:buNone/>
            </a:pPr>
            <a:r>
              <a:rPr lang="en-US" sz="690" b="1" i="0" dirty="0">
                <a:solidFill>
                  <a:srgbClr val="FFFFFF"/>
                </a:solidFill>
                <a:latin typeface="Calibri" pitchFamily="34" charset="0"/>
              </a:rPr>
              <a:t>MODE A</a:t>
            </a:r>
          </a:p>
        </p:txBody>
      </p:sp>
      <p:sp>
        <p:nvSpPr>
          <p:cNvPr id="11" name="T"/>
          <p:cNvSpPr>
            <a:spLocks noGrp="1"/>
          </p:cNvSpPr>
          <p:nvPr/>
        </p:nvSpPr>
        <p:spPr>
          <a:xfrm>
            <a:off x="1298448" y="1572768"/>
            <a:ext cx="2560320" cy="283464"/>
          </a:xfrm>
          <a:prstGeom prst="rect">
            <a:avLst/>
          </a:prstGeom>
          <a:noFill/>
          <a:ln>
            <a:noFill/>
          </a:ln>
        </p:spPr>
        <p:txBody>
          <a:bodyPr wrap="square" lIns="0" tIns="0" rIns="0" bIns="0" rtlCol="0" anchor="ctr"/>
          <a:lstStyle/>
          <a:p>
            <a:pPr marL="0" indent="0" algn="l">
              <a:buNone/>
            </a:pPr>
            <a:r>
              <a:rPr lang="en-US" sz="1180" b="1" i="0" dirty="0">
                <a:solidFill>
                  <a:srgbClr val="0F1B35"/>
                </a:solidFill>
                <a:latin typeface="Calibri" pitchFamily="34" charset="0"/>
              </a:rPr>
              <a:t>Build New</a:t>
            </a:r>
          </a:p>
        </p:txBody>
      </p:sp>
      <p:sp>
        <p:nvSpPr>
          <p:cNvPr id="12" name="T"/>
          <p:cNvSpPr>
            <a:spLocks noGrp="1"/>
          </p:cNvSpPr>
          <p:nvPr/>
        </p:nvSpPr>
        <p:spPr>
          <a:xfrm>
            <a:off x="3520440" y="1609344"/>
            <a:ext cx="2377440" cy="219456"/>
          </a:xfrm>
          <a:prstGeom prst="rect">
            <a:avLst/>
          </a:prstGeom>
          <a:noFill/>
          <a:ln>
            <a:noFill/>
          </a:ln>
        </p:spPr>
        <p:txBody>
          <a:bodyPr wrap="square" lIns="0" tIns="0" rIns="0" bIns="0" rtlCol="0" anchor="ctr"/>
          <a:lstStyle/>
          <a:p>
            <a:pPr marL="0" indent="0" algn="l">
              <a:buNone/>
            </a:pPr>
            <a:r>
              <a:rPr lang="en-US" sz="780" b="0" i="1" dirty="0">
                <a:solidFill>
                  <a:srgbClr val="94A2B8"/>
                </a:solidFill>
                <a:latin typeface="Calibri" pitchFamily="34" charset="0"/>
              </a:rPr>
              <a:t>— original capability</a:t>
            </a:r>
          </a:p>
        </p:txBody>
      </p:sp>
      <p:sp>
        <p:nvSpPr>
          <p:cNvPr id="13" name="S"/>
          <p:cNvSpPr/>
          <p:nvPr/>
        </p:nvSpPr>
        <p:spPr>
          <a:xfrm>
            <a:off x="457200"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14" name="S"/>
          <p:cNvSpPr/>
          <p:nvPr/>
        </p:nvSpPr>
        <p:spPr>
          <a:xfrm>
            <a:off x="457200" y="1975104"/>
            <a:ext cx="50292" cy="1042416"/>
          </a:xfrm>
          <a:prstGeom prst="rect">
            <a:avLst/>
          </a:prstGeom>
          <a:solidFill>
            <a:srgbClr val="0E8A6E"/>
          </a:solidFill>
          <a:ln>
            <a:noFill/>
          </a:ln>
        </p:spPr>
        <p:txBody>
          <a:bodyPr/>
          <a:lstStyle/>
          <a:p>
            <a:endParaRPr/>
          </a:p>
        </p:txBody>
      </p:sp>
      <p:sp>
        <p:nvSpPr>
          <p:cNvPr id="15" name="S"/>
          <p:cNvSpPr/>
          <p:nvPr/>
        </p:nvSpPr>
        <p:spPr>
          <a:xfrm>
            <a:off x="640080" y="2057400"/>
            <a:ext cx="210312" cy="210312"/>
          </a:xfrm>
          <a:prstGeom prst="ellipse">
            <a:avLst/>
          </a:prstGeom>
          <a:solidFill>
            <a:srgbClr val="0E8A6E"/>
          </a:solidFill>
          <a:ln>
            <a:noFill/>
          </a:ln>
        </p:spPr>
        <p:txBody>
          <a:bodyPr/>
          <a:lstStyle/>
          <a:p>
            <a:endParaRPr/>
          </a:p>
        </p:txBody>
      </p:sp>
      <p:sp>
        <p:nvSpPr>
          <p:cNvPr id="16" name="T"/>
          <p:cNvSpPr>
            <a:spLocks noGrp="1"/>
          </p:cNvSpPr>
          <p:nvPr/>
        </p:nvSpPr>
        <p:spPr>
          <a:xfrm>
            <a:off x="640080"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1</a:t>
            </a:r>
          </a:p>
        </p:txBody>
      </p:sp>
      <p:sp>
        <p:nvSpPr>
          <p:cNvPr id="17" name="T"/>
          <p:cNvSpPr>
            <a:spLocks noGrp="1"/>
          </p:cNvSpPr>
          <p:nvPr/>
        </p:nvSpPr>
        <p:spPr>
          <a:xfrm>
            <a:off x="932688"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Request</a:t>
            </a:r>
          </a:p>
        </p:txBody>
      </p:sp>
      <p:cxnSp>
        <p:nvCxnSpPr>
          <p:cNvPr id="18" name="C"/>
          <p:cNvCxnSpPr/>
          <p:nvPr/>
        </p:nvCxnSpPr>
        <p:spPr>
          <a:xfrm>
            <a:off x="640080" y="2368296"/>
            <a:ext cx="1575816" cy="1"/>
          </a:xfrm>
          <a:prstGeom prst="line">
            <a:avLst/>
          </a:prstGeom>
          <a:ln w="6350">
            <a:solidFill>
              <a:srgbClr val="EDF1F8"/>
            </a:solidFill>
          </a:ln>
        </p:spPr>
      </p:cxnSp>
      <p:sp>
        <p:nvSpPr>
          <p:cNvPr id="19" name="T"/>
          <p:cNvSpPr>
            <a:spLocks noGrp="1"/>
          </p:cNvSpPr>
          <p:nvPr/>
        </p:nvSpPr>
        <p:spPr>
          <a:xfrm>
            <a:off x="640080"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Plain-language deployment ask</a:t>
            </a:r>
          </a:p>
        </p:txBody>
      </p:sp>
      <p:sp>
        <p:nvSpPr>
          <p:cNvPr id="20" name="S"/>
          <p:cNvSpPr/>
          <p:nvPr/>
        </p:nvSpPr>
        <p:spPr>
          <a:xfrm>
            <a:off x="2421636" y="2427732"/>
            <a:ext cx="155448" cy="137160"/>
          </a:xfrm>
          <a:prstGeom prst="rightArrow">
            <a:avLst/>
          </a:prstGeom>
          <a:solidFill>
            <a:srgbClr val="0E8A6E"/>
          </a:solidFill>
          <a:ln>
            <a:noFill/>
          </a:ln>
        </p:spPr>
        <p:txBody>
          <a:bodyPr/>
          <a:lstStyle/>
          <a:p>
            <a:endParaRPr/>
          </a:p>
        </p:txBody>
      </p:sp>
      <p:sp>
        <p:nvSpPr>
          <p:cNvPr id="21" name="S"/>
          <p:cNvSpPr/>
          <p:nvPr/>
        </p:nvSpPr>
        <p:spPr>
          <a:xfrm>
            <a:off x="2618232"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22" name="S"/>
          <p:cNvSpPr/>
          <p:nvPr/>
        </p:nvSpPr>
        <p:spPr>
          <a:xfrm>
            <a:off x="2618232" y="1975104"/>
            <a:ext cx="50292" cy="1042416"/>
          </a:xfrm>
          <a:prstGeom prst="rect">
            <a:avLst/>
          </a:prstGeom>
          <a:solidFill>
            <a:srgbClr val="0E8A6E"/>
          </a:solidFill>
          <a:ln>
            <a:noFill/>
          </a:ln>
        </p:spPr>
        <p:txBody>
          <a:bodyPr/>
          <a:lstStyle/>
          <a:p>
            <a:endParaRPr/>
          </a:p>
        </p:txBody>
      </p:sp>
      <p:sp>
        <p:nvSpPr>
          <p:cNvPr id="23" name="S"/>
          <p:cNvSpPr/>
          <p:nvPr/>
        </p:nvSpPr>
        <p:spPr>
          <a:xfrm>
            <a:off x="2801112" y="2057400"/>
            <a:ext cx="210312" cy="210312"/>
          </a:xfrm>
          <a:prstGeom prst="ellipse">
            <a:avLst/>
          </a:prstGeom>
          <a:solidFill>
            <a:srgbClr val="0E8A6E"/>
          </a:solidFill>
          <a:ln>
            <a:noFill/>
          </a:ln>
        </p:spPr>
        <p:txBody>
          <a:bodyPr/>
          <a:lstStyle/>
          <a:p>
            <a:endParaRPr/>
          </a:p>
        </p:txBody>
      </p:sp>
      <p:sp>
        <p:nvSpPr>
          <p:cNvPr id="24" name="T"/>
          <p:cNvSpPr>
            <a:spLocks noGrp="1"/>
          </p:cNvSpPr>
          <p:nvPr/>
        </p:nvSpPr>
        <p:spPr>
          <a:xfrm>
            <a:off x="2801112"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2</a:t>
            </a:r>
          </a:p>
        </p:txBody>
      </p:sp>
      <p:sp>
        <p:nvSpPr>
          <p:cNvPr id="25" name="T"/>
          <p:cNvSpPr>
            <a:spLocks noGrp="1"/>
          </p:cNvSpPr>
          <p:nvPr/>
        </p:nvSpPr>
        <p:spPr>
          <a:xfrm>
            <a:off x="3093720"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Generate</a:t>
            </a:r>
          </a:p>
        </p:txBody>
      </p:sp>
      <p:cxnSp>
        <p:nvCxnSpPr>
          <p:cNvPr id="26" name="C"/>
          <p:cNvCxnSpPr/>
          <p:nvPr/>
        </p:nvCxnSpPr>
        <p:spPr>
          <a:xfrm>
            <a:off x="2801112" y="2368296"/>
            <a:ext cx="1575816" cy="1"/>
          </a:xfrm>
          <a:prstGeom prst="line">
            <a:avLst/>
          </a:prstGeom>
          <a:ln w="6350">
            <a:solidFill>
              <a:srgbClr val="EDF1F8"/>
            </a:solidFill>
          </a:ln>
        </p:spPr>
      </p:cxnSp>
      <p:sp>
        <p:nvSpPr>
          <p:cNvPr id="27" name="T"/>
          <p:cNvSpPr>
            <a:spLocks noGrp="1"/>
          </p:cNvSpPr>
          <p:nvPr/>
        </p:nvSpPr>
        <p:spPr>
          <a:xfrm>
            <a:off x="2801112"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Terraform + pipeline, per resource type</a:t>
            </a:r>
          </a:p>
        </p:txBody>
      </p:sp>
      <p:sp>
        <p:nvSpPr>
          <p:cNvPr id="28" name="S"/>
          <p:cNvSpPr/>
          <p:nvPr/>
        </p:nvSpPr>
        <p:spPr>
          <a:xfrm>
            <a:off x="4582668" y="2427732"/>
            <a:ext cx="155448" cy="137160"/>
          </a:xfrm>
          <a:prstGeom prst="rightArrow">
            <a:avLst/>
          </a:prstGeom>
          <a:solidFill>
            <a:srgbClr val="0E8A6E"/>
          </a:solidFill>
          <a:ln>
            <a:noFill/>
          </a:ln>
        </p:spPr>
        <p:txBody>
          <a:bodyPr/>
          <a:lstStyle/>
          <a:p>
            <a:endParaRPr/>
          </a:p>
        </p:txBody>
      </p:sp>
      <p:sp>
        <p:nvSpPr>
          <p:cNvPr id="29" name="S"/>
          <p:cNvSpPr/>
          <p:nvPr/>
        </p:nvSpPr>
        <p:spPr>
          <a:xfrm>
            <a:off x="4779264"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30" name="S"/>
          <p:cNvSpPr/>
          <p:nvPr/>
        </p:nvSpPr>
        <p:spPr>
          <a:xfrm>
            <a:off x="4779264" y="1975104"/>
            <a:ext cx="50292" cy="1042416"/>
          </a:xfrm>
          <a:prstGeom prst="rect">
            <a:avLst/>
          </a:prstGeom>
          <a:solidFill>
            <a:srgbClr val="0E8A6E"/>
          </a:solidFill>
          <a:ln>
            <a:noFill/>
          </a:ln>
        </p:spPr>
        <p:txBody>
          <a:bodyPr/>
          <a:lstStyle/>
          <a:p>
            <a:endParaRPr/>
          </a:p>
        </p:txBody>
      </p:sp>
      <p:sp>
        <p:nvSpPr>
          <p:cNvPr id="31" name="S"/>
          <p:cNvSpPr/>
          <p:nvPr/>
        </p:nvSpPr>
        <p:spPr>
          <a:xfrm>
            <a:off x="4962144" y="2057400"/>
            <a:ext cx="210312" cy="210312"/>
          </a:xfrm>
          <a:prstGeom prst="ellipse">
            <a:avLst/>
          </a:prstGeom>
          <a:solidFill>
            <a:srgbClr val="0E8A6E"/>
          </a:solidFill>
          <a:ln>
            <a:noFill/>
          </a:ln>
        </p:spPr>
        <p:txBody>
          <a:bodyPr/>
          <a:lstStyle/>
          <a:p>
            <a:endParaRPr/>
          </a:p>
        </p:txBody>
      </p:sp>
      <p:sp>
        <p:nvSpPr>
          <p:cNvPr id="32" name="T"/>
          <p:cNvSpPr>
            <a:spLocks noGrp="1"/>
          </p:cNvSpPr>
          <p:nvPr/>
        </p:nvSpPr>
        <p:spPr>
          <a:xfrm>
            <a:off x="4962144"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3</a:t>
            </a:r>
          </a:p>
        </p:txBody>
      </p:sp>
      <p:sp>
        <p:nvSpPr>
          <p:cNvPr id="33" name="T"/>
          <p:cNvSpPr>
            <a:spLocks noGrp="1"/>
          </p:cNvSpPr>
          <p:nvPr/>
        </p:nvSpPr>
        <p:spPr>
          <a:xfrm>
            <a:off x="5254752"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Push to infra repo</a:t>
            </a:r>
          </a:p>
        </p:txBody>
      </p:sp>
      <p:cxnSp>
        <p:nvCxnSpPr>
          <p:cNvPr id="34" name="C"/>
          <p:cNvCxnSpPr/>
          <p:nvPr/>
        </p:nvCxnSpPr>
        <p:spPr>
          <a:xfrm>
            <a:off x="4962144" y="2368296"/>
            <a:ext cx="1575816" cy="1"/>
          </a:xfrm>
          <a:prstGeom prst="line">
            <a:avLst/>
          </a:prstGeom>
          <a:ln w="6350">
            <a:solidFill>
              <a:srgbClr val="EDF1F8"/>
            </a:solidFill>
          </a:ln>
        </p:spPr>
      </p:cxnSp>
      <p:sp>
        <p:nvSpPr>
          <p:cNvPr id="35" name="T"/>
          <p:cNvSpPr>
            <a:spLocks noGrp="1"/>
          </p:cNvSpPr>
          <p:nvPr/>
        </p:nvSpPr>
        <p:spPr>
          <a:xfrm>
            <a:off x="4962144"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Separate repo owns execution</a:t>
            </a:r>
          </a:p>
        </p:txBody>
      </p:sp>
      <p:sp>
        <p:nvSpPr>
          <p:cNvPr id="36" name="S"/>
          <p:cNvSpPr/>
          <p:nvPr/>
        </p:nvSpPr>
        <p:spPr>
          <a:xfrm>
            <a:off x="6743700" y="2427732"/>
            <a:ext cx="155448" cy="137160"/>
          </a:xfrm>
          <a:prstGeom prst="rightArrow">
            <a:avLst/>
          </a:prstGeom>
          <a:solidFill>
            <a:srgbClr val="0E8A6E"/>
          </a:solidFill>
          <a:ln>
            <a:noFill/>
          </a:ln>
        </p:spPr>
        <p:txBody>
          <a:bodyPr/>
          <a:lstStyle/>
          <a:p>
            <a:endParaRPr/>
          </a:p>
        </p:txBody>
      </p:sp>
      <p:sp>
        <p:nvSpPr>
          <p:cNvPr id="37" name="S"/>
          <p:cNvSpPr/>
          <p:nvPr/>
        </p:nvSpPr>
        <p:spPr>
          <a:xfrm>
            <a:off x="6940296" y="1938528"/>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38" name="S"/>
          <p:cNvSpPr/>
          <p:nvPr/>
        </p:nvSpPr>
        <p:spPr>
          <a:xfrm>
            <a:off x="6940296" y="1975104"/>
            <a:ext cx="50292" cy="1042416"/>
          </a:xfrm>
          <a:prstGeom prst="rect">
            <a:avLst/>
          </a:prstGeom>
          <a:solidFill>
            <a:srgbClr val="0E8A6E"/>
          </a:solidFill>
          <a:ln>
            <a:noFill/>
          </a:ln>
        </p:spPr>
        <p:txBody>
          <a:bodyPr/>
          <a:lstStyle/>
          <a:p>
            <a:endParaRPr/>
          </a:p>
        </p:txBody>
      </p:sp>
      <p:sp>
        <p:nvSpPr>
          <p:cNvPr id="39" name="S"/>
          <p:cNvSpPr/>
          <p:nvPr/>
        </p:nvSpPr>
        <p:spPr>
          <a:xfrm>
            <a:off x="7123176" y="2057400"/>
            <a:ext cx="210312" cy="210312"/>
          </a:xfrm>
          <a:prstGeom prst="ellipse">
            <a:avLst/>
          </a:prstGeom>
          <a:solidFill>
            <a:srgbClr val="0E8A6E"/>
          </a:solidFill>
          <a:ln>
            <a:noFill/>
          </a:ln>
        </p:spPr>
        <p:txBody>
          <a:bodyPr/>
          <a:lstStyle/>
          <a:p>
            <a:endParaRPr/>
          </a:p>
        </p:txBody>
      </p:sp>
      <p:sp>
        <p:nvSpPr>
          <p:cNvPr id="40" name="T"/>
          <p:cNvSpPr>
            <a:spLocks noGrp="1"/>
          </p:cNvSpPr>
          <p:nvPr/>
        </p:nvSpPr>
        <p:spPr>
          <a:xfrm>
            <a:off x="7123176" y="2057400"/>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4</a:t>
            </a:r>
          </a:p>
        </p:txBody>
      </p:sp>
      <p:sp>
        <p:nvSpPr>
          <p:cNvPr id="41" name="T"/>
          <p:cNvSpPr>
            <a:spLocks noGrp="1"/>
          </p:cNvSpPr>
          <p:nvPr/>
        </p:nvSpPr>
        <p:spPr>
          <a:xfrm>
            <a:off x="7415784" y="2048256"/>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Plan &amp; apply</a:t>
            </a:r>
          </a:p>
        </p:txBody>
      </p:sp>
      <p:cxnSp>
        <p:nvCxnSpPr>
          <p:cNvPr id="42" name="C"/>
          <p:cNvCxnSpPr/>
          <p:nvPr/>
        </p:nvCxnSpPr>
        <p:spPr>
          <a:xfrm>
            <a:off x="7123176" y="2368296"/>
            <a:ext cx="1575816" cy="1"/>
          </a:xfrm>
          <a:prstGeom prst="line">
            <a:avLst/>
          </a:prstGeom>
          <a:ln w="6350">
            <a:solidFill>
              <a:srgbClr val="EDF1F8"/>
            </a:solidFill>
          </a:ln>
        </p:spPr>
      </p:cxnSp>
      <p:sp>
        <p:nvSpPr>
          <p:cNvPr id="43" name="T"/>
          <p:cNvSpPr>
            <a:spLocks noGrp="1"/>
          </p:cNvSpPr>
          <p:nvPr/>
        </p:nvSpPr>
        <p:spPr>
          <a:xfrm>
            <a:off x="7123176" y="2450592"/>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CI/CD provisions the new resources</a:t>
            </a:r>
          </a:p>
        </p:txBody>
      </p:sp>
      <p:cxnSp>
        <p:nvCxnSpPr>
          <p:cNvPr id="44" name="C"/>
          <p:cNvCxnSpPr/>
          <p:nvPr/>
        </p:nvCxnSpPr>
        <p:spPr>
          <a:xfrm>
            <a:off x="8863584" y="2496312"/>
            <a:ext cx="329184" cy="475488"/>
          </a:xfrm>
          <a:prstGeom prst="line">
            <a:avLst/>
          </a:prstGeom>
          <a:ln w="12700">
            <a:solidFill>
              <a:srgbClr val="0E8A6E"/>
            </a:solidFill>
          </a:ln>
        </p:spPr>
      </p:cxnSp>
      <p:sp>
        <p:nvSpPr>
          <p:cNvPr id="45" name="S"/>
          <p:cNvSpPr/>
          <p:nvPr/>
        </p:nvSpPr>
        <p:spPr>
          <a:xfrm>
            <a:off x="8841584" y="2474312"/>
            <a:ext cx="44000" cy="44000"/>
          </a:xfrm>
          <a:prstGeom prst="ellipse">
            <a:avLst/>
          </a:prstGeom>
          <a:solidFill>
            <a:srgbClr val="0E8A6E"/>
          </a:solidFill>
          <a:ln>
            <a:noFill/>
          </a:ln>
        </p:spPr>
        <p:txBody>
          <a:bodyPr/>
          <a:lstStyle/>
          <a:p>
            <a:endParaRPr/>
          </a:p>
        </p:txBody>
      </p:sp>
      <p:sp>
        <p:nvSpPr>
          <p:cNvPr id="46" name="S"/>
          <p:cNvSpPr/>
          <p:nvPr/>
        </p:nvSpPr>
        <p:spPr>
          <a:xfrm>
            <a:off x="457200" y="3346704"/>
            <a:ext cx="713232" cy="246888"/>
          </a:xfrm>
          <a:prstGeom prst="roundRect">
            <a:avLst>
              <a:gd name="adj" fmla="val 50000"/>
            </a:avLst>
          </a:prstGeom>
          <a:solidFill>
            <a:srgbClr val="2F55C4"/>
          </a:solidFill>
          <a:ln>
            <a:noFill/>
          </a:ln>
        </p:spPr>
        <p:txBody>
          <a:bodyPr/>
          <a:lstStyle/>
          <a:p>
            <a:endParaRPr/>
          </a:p>
        </p:txBody>
      </p:sp>
      <p:sp>
        <p:nvSpPr>
          <p:cNvPr id="47" name="T"/>
          <p:cNvSpPr>
            <a:spLocks noGrp="1"/>
          </p:cNvSpPr>
          <p:nvPr/>
        </p:nvSpPr>
        <p:spPr>
          <a:xfrm>
            <a:off x="457200" y="3346704"/>
            <a:ext cx="713232" cy="246888"/>
          </a:xfrm>
          <a:prstGeom prst="rect">
            <a:avLst/>
          </a:prstGeom>
          <a:noFill/>
          <a:ln>
            <a:noFill/>
          </a:ln>
        </p:spPr>
        <p:txBody>
          <a:bodyPr wrap="square" lIns="0" tIns="0" rIns="0" bIns="0" rtlCol="0" anchor="ctr"/>
          <a:lstStyle/>
          <a:p>
            <a:pPr marL="0" indent="0" algn="ctr">
              <a:buNone/>
            </a:pPr>
            <a:r>
              <a:rPr lang="en-US" sz="690" b="1" i="0" dirty="0">
                <a:solidFill>
                  <a:srgbClr val="FFFFFF"/>
                </a:solidFill>
                <a:latin typeface="Calibri" pitchFamily="34" charset="0"/>
              </a:rPr>
              <a:t>MODE B</a:t>
            </a:r>
          </a:p>
        </p:txBody>
      </p:sp>
      <p:sp>
        <p:nvSpPr>
          <p:cNvPr id="48" name="T"/>
          <p:cNvSpPr>
            <a:spLocks noGrp="1"/>
          </p:cNvSpPr>
          <p:nvPr/>
        </p:nvSpPr>
        <p:spPr>
          <a:xfrm>
            <a:off x="1298448" y="3328416"/>
            <a:ext cx="2560320" cy="283464"/>
          </a:xfrm>
          <a:prstGeom prst="rect">
            <a:avLst/>
          </a:prstGeom>
          <a:noFill/>
          <a:ln>
            <a:noFill/>
          </a:ln>
        </p:spPr>
        <p:txBody>
          <a:bodyPr wrap="square" lIns="0" tIns="0" rIns="0" bIns="0" rtlCol="0" anchor="ctr"/>
          <a:lstStyle/>
          <a:p>
            <a:pPr marL="0" indent="0" algn="l">
              <a:buNone/>
            </a:pPr>
            <a:r>
              <a:rPr lang="en-US" sz="1180" b="1" i="0" dirty="0">
                <a:solidFill>
                  <a:srgbClr val="0F1B35"/>
                </a:solidFill>
                <a:latin typeface="Calibri" pitchFamily="34" charset="0"/>
              </a:rPr>
              <a:t>Connect Existing</a:t>
            </a:r>
          </a:p>
        </p:txBody>
      </p:sp>
      <p:sp>
        <p:nvSpPr>
          <p:cNvPr id="49" name="T"/>
          <p:cNvSpPr>
            <a:spLocks noGrp="1"/>
          </p:cNvSpPr>
          <p:nvPr/>
        </p:nvSpPr>
        <p:spPr>
          <a:xfrm>
            <a:off x="3520440" y="3364992"/>
            <a:ext cx="2377440" cy="219456"/>
          </a:xfrm>
          <a:prstGeom prst="rect">
            <a:avLst/>
          </a:prstGeom>
          <a:noFill/>
          <a:ln>
            <a:noFill/>
          </a:ln>
        </p:spPr>
        <p:txBody>
          <a:bodyPr wrap="square" lIns="0" tIns="0" rIns="0" bIns="0" rtlCol="0" anchor="ctr"/>
          <a:lstStyle/>
          <a:p>
            <a:pPr marL="0" indent="0" algn="l">
              <a:buNone/>
            </a:pPr>
            <a:r>
              <a:rPr lang="en-US" sz="780" b="0" i="1" dirty="0">
                <a:solidFill>
                  <a:srgbClr val="94A2B8"/>
                </a:solidFill>
                <a:latin typeface="Calibri" pitchFamily="34" charset="0"/>
              </a:rPr>
              <a:t>— added for client focus</a:t>
            </a:r>
          </a:p>
        </p:txBody>
      </p:sp>
      <p:sp>
        <p:nvSpPr>
          <p:cNvPr id="50" name="S"/>
          <p:cNvSpPr/>
          <p:nvPr/>
        </p:nvSpPr>
        <p:spPr>
          <a:xfrm>
            <a:off x="457200"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51" name="S"/>
          <p:cNvSpPr/>
          <p:nvPr/>
        </p:nvSpPr>
        <p:spPr>
          <a:xfrm>
            <a:off x="457200" y="3730752"/>
            <a:ext cx="50292" cy="1042416"/>
          </a:xfrm>
          <a:prstGeom prst="rect">
            <a:avLst/>
          </a:prstGeom>
          <a:solidFill>
            <a:srgbClr val="2F55C4"/>
          </a:solidFill>
          <a:ln>
            <a:noFill/>
          </a:ln>
        </p:spPr>
        <p:txBody>
          <a:bodyPr/>
          <a:lstStyle/>
          <a:p>
            <a:endParaRPr/>
          </a:p>
        </p:txBody>
      </p:sp>
      <p:sp>
        <p:nvSpPr>
          <p:cNvPr id="52" name="S"/>
          <p:cNvSpPr/>
          <p:nvPr/>
        </p:nvSpPr>
        <p:spPr>
          <a:xfrm>
            <a:off x="640080" y="3813048"/>
            <a:ext cx="210312" cy="210312"/>
          </a:xfrm>
          <a:prstGeom prst="ellipse">
            <a:avLst/>
          </a:prstGeom>
          <a:solidFill>
            <a:srgbClr val="2F55C4"/>
          </a:solidFill>
          <a:ln>
            <a:noFill/>
          </a:ln>
        </p:spPr>
        <p:txBody>
          <a:bodyPr/>
          <a:lstStyle/>
          <a:p>
            <a:endParaRPr/>
          </a:p>
        </p:txBody>
      </p:sp>
      <p:sp>
        <p:nvSpPr>
          <p:cNvPr id="53" name="T"/>
          <p:cNvSpPr>
            <a:spLocks noGrp="1"/>
          </p:cNvSpPr>
          <p:nvPr/>
        </p:nvSpPr>
        <p:spPr>
          <a:xfrm>
            <a:off x="640080"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1</a:t>
            </a:r>
          </a:p>
        </p:txBody>
      </p:sp>
      <p:sp>
        <p:nvSpPr>
          <p:cNvPr id="54" name="T"/>
          <p:cNvSpPr>
            <a:spLocks noGrp="1"/>
          </p:cNvSpPr>
          <p:nvPr/>
        </p:nvSpPr>
        <p:spPr>
          <a:xfrm>
            <a:off x="932688"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Connect</a:t>
            </a:r>
          </a:p>
        </p:txBody>
      </p:sp>
      <p:cxnSp>
        <p:nvCxnSpPr>
          <p:cNvPr id="55" name="C"/>
          <p:cNvCxnSpPr/>
          <p:nvPr/>
        </p:nvCxnSpPr>
        <p:spPr>
          <a:xfrm>
            <a:off x="640080" y="4123944"/>
            <a:ext cx="1575816" cy="1"/>
          </a:xfrm>
          <a:prstGeom prst="line">
            <a:avLst/>
          </a:prstGeom>
          <a:ln w="6350">
            <a:solidFill>
              <a:srgbClr val="EDF1F8"/>
            </a:solidFill>
          </a:ln>
        </p:spPr>
      </p:cxnSp>
      <p:sp>
        <p:nvSpPr>
          <p:cNvPr id="56" name="T"/>
          <p:cNvSpPr>
            <a:spLocks noGrp="1"/>
          </p:cNvSpPr>
          <p:nvPr/>
        </p:nvSpPr>
        <p:spPr>
          <a:xfrm>
            <a:off x="640080"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Client’s live app + repo + cloud</a:t>
            </a:r>
          </a:p>
        </p:txBody>
      </p:sp>
      <p:sp>
        <p:nvSpPr>
          <p:cNvPr id="57" name="S"/>
          <p:cNvSpPr/>
          <p:nvPr/>
        </p:nvSpPr>
        <p:spPr>
          <a:xfrm>
            <a:off x="2421636" y="4183380"/>
            <a:ext cx="155448" cy="137160"/>
          </a:xfrm>
          <a:prstGeom prst="rightArrow">
            <a:avLst/>
          </a:prstGeom>
          <a:solidFill>
            <a:srgbClr val="2F55C4"/>
          </a:solidFill>
          <a:ln>
            <a:noFill/>
          </a:ln>
        </p:spPr>
        <p:txBody>
          <a:bodyPr/>
          <a:lstStyle/>
          <a:p>
            <a:endParaRPr/>
          </a:p>
        </p:txBody>
      </p:sp>
      <p:sp>
        <p:nvSpPr>
          <p:cNvPr id="58" name="S"/>
          <p:cNvSpPr/>
          <p:nvPr/>
        </p:nvSpPr>
        <p:spPr>
          <a:xfrm>
            <a:off x="2618232"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59" name="S"/>
          <p:cNvSpPr/>
          <p:nvPr/>
        </p:nvSpPr>
        <p:spPr>
          <a:xfrm>
            <a:off x="2618232" y="3730752"/>
            <a:ext cx="50292" cy="1042416"/>
          </a:xfrm>
          <a:prstGeom prst="rect">
            <a:avLst/>
          </a:prstGeom>
          <a:solidFill>
            <a:srgbClr val="2F55C4"/>
          </a:solidFill>
          <a:ln>
            <a:noFill/>
          </a:ln>
        </p:spPr>
        <p:txBody>
          <a:bodyPr/>
          <a:lstStyle/>
          <a:p>
            <a:endParaRPr/>
          </a:p>
        </p:txBody>
      </p:sp>
      <p:sp>
        <p:nvSpPr>
          <p:cNvPr id="60" name="S"/>
          <p:cNvSpPr/>
          <p:nvPr/>
        </p:nvSpPr>
        <p:spPr>
          <a:xfrm>
            <a:off x="2801112" y="3813048"/>
            <a:ext cx="210312" cy="210312"/>
          </a:xfrm>
          <a:prstGeom prst="ellipse">
            <a:avLst/>
          </a:prstGeom>
          <a:solidFill>
            <a:srgbClr val="2F55C4"/>
          </a:solidFill>
          <a:ln>
            <a:noFill/>
          </a:ln>
        </p:spPr>
        <p:txBody>
          <a:bodyPr/>
          <a:lstStyle/>
          <a:p>
            <a:endParaRPr/>
          </a:p>
        </p:txBody>
      </p:sp>
      <p:sp>
        <p:nvSpPr>
          <p:cNvPr id="61" name="T"/>
          <p:cNvSpPr>
            <a:spLocks noGrp="1"/>
          </p:cNvSpPr>
          <p:nvPr/>
        </p:nvSpPr>
        <p:spPr>
          <a:xfrm>
            <a:off x="2801112"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2</a:t>
            </a:r>
          </a:p>
        </p:txBody>
      </p:sp>
      <p:sp>
        <p:nvSpPr>
          <p:cNvPr id="62" name="T"/>
          <p:cNvSpPr>
            <a:spLocks noGrp="1"/>
          </p:cNvSpPr>
          <p:nvPr/>
        </p:nvSpPr>
        <p:spPr>
          <a:xfrm>
            <a:off x="3093720"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Scan &amp; diff</a:t>
            </a:r>
          </a:p>
        </p:txBody>
      </p:sp>
      <p:cxnSp>
        <p:nvCxnSpPr>
          <p:cNvPr id="63" name="C"/>
          <p:cNvCxnSpPr/>
          <p:nvPr/>
        </p:nvCxnSpPr>
        <p:spPr>
          <a:xfrm>
            <a:off x="2801112" y="4123944"/>
            <a:ext cx="1575816" cy="1"/>
          </a:xfrm>
          <a:prstGeom prst="line">
            <a:avLst/>
          </a:prstGeom>
          <a:ln w="6350">
            <a:solidFill>
              <a:srgbClr val="EDF1F8"/>
            </a:solidFill>
          </a:ln>
        </p:spPr>
      </p:cxnSp>
      <p:sp>
        <p:nvSpPr>
          <p:cNvPr id="64" name="T"/>
          <p:cNvSpPr>
            <a:spLocks noGrp="1"/>
          </p:cNvSpPr>
          <p:nvPr/>
        </p:nvSpPr>
        <p:spPr>
          <a:xfrm>
            <a:off x="2801112"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Read-only drift vs. the new release</a:t>
            </a:r>
          </a:p>
        </p:txBody>
      </p:sp>
      <p:sp>
        <p:nvSpPr>
          <p:cNvPr id="65" name="S"/>
          <p:cNvSpPr/>
          <p:nvPr/>
        </p:nvSpPr>
        <p:spPr>
          <a:xfrm>
            <a:off x="4582668" y="4183380"/>
            <a:ext cx="155448" cy="137160"/>
          </a:xfrm>
          <a:prstGeom prst="rightArrow">
            <a:avLst/>
          </a:prstGeom>
          <a:solidFill>
            <a:srgbClr val="2F55C4"/>
          </a:solidFill>
          <a:ln>
            <a:noFill/>
          </a:ln>
        </p:spPr>
        <p:txBody>
          <a:bodyPr/>
          <a:lstStyle/>
          <a:p>
            <a:endParaRPr/>
          </a:p>
        </p:txBody>
      </p:sp>
      <p:sp>
        <p:nvSpPr>
          <p:cNvPr id="66" name="S"/>
          <p:cNvSpPr/>
          <p:nvPr/>
        </p:nvSpPr>
        <p:spPr>
          <a:xfrm>
            <a:off x="4779264"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67" name="S"/>
          <p:cNvSpPr/>
          <p:nvPr/>
        </p:nvSpPr>
        <p:spPr>
          <a:xfrm>
            <a:off x="4779264" y="3730752"/>
            <a:ext cx="50292" cy="1042416"/>
          </a:xfrm>
          <a:prstGeom prst="rect">
            <a:avLst/>
          </a:prstGeom>
          <a:solidFill>
            <a:srgbClr val="2F55C4"/>
          </a:solidFill>
          <a:ln>
            <a:noFill/>
          </a:ln>
        </p:spPr>
        <p:txBody>
          <a:bodyPr/>
          <a:lstStyle/>
          <a:p>
            <a:endParaRPr/>
          </a:p>
        </p:txBody>
      </p:sp>
      <p:sp>
        <p:nvSpPr>
          <p:cNvPr id="68" name="S"/>
          <p:cNvSpPr/>
          <p:nvPr/>
        </p:nvSpPr>
        <p:spPr>
          <a:xfrm>
            <a:off x="4962144" y="3813048"/>
            <a:ext cx="210312" cy="210312"/>
          </a:xfrm>
          <a:prstGeom prst="ellipse">
            <a:avLst/>
          </a:prstGeom>
          <a:solidFill>
            <a:srgbClr val="2F55C4"/>
          </a:solidFill>
          <a:ln>
            <a:noFill/>
          </a:ln>
        </p:spPr>
        <p:txBody>
          <a:bodyPr/>
          <a:lstStyle/>
          <a:p>
            <a:endParaRPr/>
          </a:p>
        </p:txBody>
      </p:sp>
      <p:sp>
        <p:nvSpPr>
          <p:cNvPr id="69" name="T"/>
          <p:cNvSpPr>
            <a:spLocks noGrp="1"/>
          </p:cNvSpPr>
          <p:nvPr/>
        </p:nvSpPr>
        <p:spPr>
          <a:xfrm>
            <a:off x="4962144"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3</a:t>
            </a:r>
          </a:p>
        </p:txBody>
      </p:sp>
      <p:sp>
        <p:nvSpPr>
          <p:cNvPr id="70" name="T"/>
          <p:cNvSpPr>
            <a:spLocks noGrp="1"/>
          </p:cNvSpPr>
          <p:nvPr/>
        </p:nvSpPr>
        <p:spPr>
          <a:xfrm>
            <a:off x="5254752"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Plan + approve</a:t>
            </a:r>
          </a:p>
        </p:txBody>
      </p:sp>
      <p:cxnSp>
        <p:nvCxnSpPr>
          <p:cNvPr id="71" name="C"/>
          <p:cNvCxnSpPr/>
          <p:nvPr/>
        </p:nvCxnSpPr>
        <p:spPr>
          <a:xfrm>
            <a:off x="4962144" y="4123944"/>
            <a:ext cx="1575816" cy="1"/>
          </a:xfrm>
          <a:prstGeom prst="line">
            <a:avLst/>
          </a:prstGeom>
          <a:ln w="6350">
            <a:solidFill>
              <a:srgbClr val="EDF1F8"/>
            </a:solidFill>
          </a:ln>
        </p:spPr>
      </p:cxnSp>
      <p:sp>
        <p:nvSpPr>
          <p:cNvPr id="72" name="T"/>
          <p:cNvSpPr>
            <a:spLocks noGrp="1"/>
          </p:cNvSpPr>
          <p:nvPr/>
        </p:nvSpPr>
        <p:spPr>
          <a:xfrm>
            <a:off x="4962144"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Change request, human sign-off</a:t>
            </a:r>
          </a:p>
        </p:txBody>
      </p:sp>
      <p:sp>
        <p:nvSpPr>
          <p:cNvPr id="73" name="S"/>
          <p:cNvSpPr/>
          <p:nvPr/>
        </p:nvSpPr>
        <p:spPr>
          <a:xfrm>
            <a:off x="6743700" y="4183380"/>
            <a:ext cx="155448" cy="137160"/>
          </a:xfrm>
          <a:prstGeom prst="rightArrow">
            <a:avLst/>
          </a:prstGeom>
          <a:solidFill>
            <a:srgbClr val="2F55C4"/>
          </a:solidFill>
          <a:ln>
            <a:noFill/>
          </a:ln>
        </p:spPr>
        <p:txBody>
          <a:bodyPr/>
          <a:lstStyle/>
          <a:p>
            <a:endParaRPr/>
          </a:p>
        </p:txBody>
      </p:sp>
      <p:sp>
        <p:nvSpPr>
          <p:cNvPr id="74" name="S"/>
          <p:cNvSpPr/>
          <p:nvPr/>
        </p:nvSpPr>
        <p:spPr>
          <a:xfrm>
            <a:off x="6940296" y="3694176"/>
            <a:ext cx="1923288" cy="1115568"/>
          </a:xfrm>
          <a:prstGeom prst="roundRect">
            <a:avLst>
              <a:gd name="adj" fmla="val 4200"/>
            </a:avLst>
          </a:prstGeom>
          <a:solidFill>
            <a:srgbClr val="FFFFFF"/>
          </a:solidFill>
          <a:ln w="9525">
            <a:solidFill>
              <a:srgbClr val="DDE4F0"/>
            </a:solidFill>
          </a:ln>
          <a:effectLst>
            <a:outerShdw blurRad="90000" dist="28000" dir="5400000" rotWithShape="0">
              <a:srgbClr val="1B1F3B">
                <a:alpha val="11000"/>
              </a:srgbClr>
            </a:outerShdw>
          </a:effectLst>
        </p:spPr>
        <p:txBody>
          <a:bodyPr/>
          <a:lstStyle/>
          <a:p>
            <a:endParaRPr/>
          </a:p>
        </p:txBody>
      </p:sp>
      <p:sp>
        <p:nvSpPr>
          <p:cNvPr id="75" name="S"/>
          <p:cNvSpPr/>
          <p:nvPr/>
        </p:nvSpPr>
        <p:spPr>
          <a:xfrm>
            <a:off x="6940296" y="3730752"/>
            <a:ext cx="50292" cy="1042416"/>
          </a:xfrm>
          <a:prstGeom prst="rect">
            <a:avLst/>
          </a:prstGeom>
          <a:solidFill>
            <a:srgbClr val="2F55C4"/>
          </a:solidFill>
          <a:ln>
            <a:noFill/>
          </a:ln>
        </p:spPr>
        <p:txBody>
          <a:bodyPr/>
          <a:lstStyle/>
          <a:p>
            <a:endParaRPr/>
          </a:p>
        </p:txBody>
      </p:sp>
      <p:sp>
        <p:nvSpPr>
          <p:cNvPr id="76" name="S"/>
          <p:cNvSpPr/>
          <p:nvPr/>
        </p:nvSpPr>
        <p:spPr>
          <a:xfrm>
            <a:off x="7123176" y="3813048"/>
            <a:ext cx="210312" cy="210312"/>
          </a:xfrm>
          <a:prstGeom prst="ellipse">
            <a:avLst/>
          </a:prstGeom>
          <a:solidFill>
            <a:srgbClr val="2F55C4"/>
          </a:solidFill>
          <a:ln>
            <a:noFill/>
          </a:ln>
        </p:spPr>
        <p:txBody>
          <a:bodyPr/>
          <a:lstStyle/>
          <a:p>
            <a:endParaRPr/>
          </a:p>
        </p:txBody>
      </p:sp>
      <p:sp>
        <p:nvSpPr>
          <p:cNvPr id="77" name="T"/>
          <p:cNvSpPr>
            <a:spLocks noGrp="1"/>
          </p:cNvSpPr>
          <p:nvPr/>
        </p:nvSpPr>
        <p:spPr>
          <a:xfrm>
            <a:off x="7123176" y="3813048"/>
            <a:ext cx="210312" cy="210312"/>
          </a:xfrm>
          <a:prstGeom prst="rect">
            <a:avLst/>
          </a:prstGeom>
          <a:noFill/>
          <a:ln>
            <a:noFill/>
          </a:ln>
        </p:spPr>
        <p:txBody>
          <a:bodyPr wrap="square" lIns="0" tIns="0" rIns="0" bIns="0" rtlCol="0" anchor="ctr"/>
          <a:lstStyle/>
          <a:p>
            <a:pPr marL="0" indent="0" algn="ctr">
              <a:buNone/>
            </a:pPr>
            <a:r>
              <a:rPr lang="en-US" sz="640" b="1" i="0" dirty="0">
                <a:solidFill>
                  <a:srgbClr val="FFFFFF"/>
                </a:solidFill>
                <a:latin typeface="Calibri" pitchFamily="34" charset="0"/>
              </a:rPr>
              <a:t>4</a:t>
            </a:r>
          </a:p>
        </p:txBody>
      </p:sp>
      <p:sp>
        <p:nvSpPr>
          <p:cNvPr id="78" name="T"/>
          <p:cNvSpPr>
            <a:spLocks noGrp="1"/>
          </p:cNvSpPr>
          <p:nvPr/>
        </p:nvSpPr>
        <p:spPr>
          <a:xfrm>
            <a:off x="7415784" y="3803904"/>
            <a:ext cx="1319784" cy="228600"/>
          </a:xfrm>
          <a:prstGeom prst="rect">
            <a:avLst/>
          </a:prstGeom>
          <a:noFill/>
          <a:ln>
            <a:noFill/>
          </a:ln>
        </p:spPr>
        <p:txBody>
          <a:bodyPr wrap="square" lIns="0" tIns="0" rIns="0" bIns="0" rtlCol="0" anchor="ctr"/>
          <a:lstStyle/>
          <a:p>
            <a:pPr marL="0" indent="0" algn="l">
              <a:buNone/>
            </a:pPr>
            <a:r>
              <a:rPr lang="en-US" sz="960" b="1" i="0" dirty="0">
                <a:solidFill>
                  <a:srgbClr val="0F1B35"/>
                </a:solidFill>
                <a:latin typeface="Calibri" pitchFamily="34" charset="0"/>
              </a:rPr>
              <a:t>Hybrid apply</a:t>
            </a:r>
          </a:p>
        </p:txBody>
      </p:sp>
      <p:cxnSp>
        <p:nvCxnSpPr>
          <p:cNvPr id="79" name="C"/>
          <p:cNvCxnSpPr/>
          <p:nvPr/>
        </p:nvCxnSpPr>
        <p:spPr>
          <a:xfrm>
            <a:off x="7123176" y="4123944"/>
            <a:ext cx="1575816" cy="1"/>
          </a:xfrm>
          <a:prstGeom prst="line">
            <a:avLst/>
          </a:prstGeom>
          <a:ln w="6350">
            <a:solidFill>
              <a:srgbClr val="EDF1F8"/>
            </a:solidFill>
          </a:ln>
        </p:spPr>
      </p:cxnSp>
      <p:sp>
        <p:nvSpPr>
          <p:cNvPr id="80" name="T"/>
          <p:cNvSpPr>
            <a:spLocks noGrp="1"/>
          </p:cNvSpPr>
          <p:nvPr/>
        </p:nvSpPr>
        <p:spPr>
          <a:xfrm>
            <a:off x="7123176" y="4206240"/>
            <a:ext cx="1594104" cy="512064"/>
          </a:xfrm>
          <a:prstGeom prst="rect">
            <a:avLst/>
          </a:prstGeom>
          <a:noFill/>
          <a:ln>
            <a:noFill/>
          </a:ln>
        </p:spPr>
        <p:txBody>
          <a:bodyPr wrap="square" lIns="0" tIns="0" rIns="0" bIns="0" rtlCol="0" anchor="t"/>
          <a:lstStyle/>
          <a:p>
            <a:pPr marL="0" indent="0" algn="l">
              <a:buNone/>
            </a:pPr>
            <a:r>
              <a:rPr lang="en-US" sz="780" b="0" i="0" dirty="0">
                <a:solidFill>
                  <a:srgbClr val="5B6584"/>
                </a:solidFill>
                <a:latin typeface="Calibri" pitchFamily="34" charset="0"/>
              </a:rPr>
              <a:t>Direct SDK for config, pipeline for deploy</a:t>
            </a:r>
          </a:p>
        </p:txBody>
      </p:sp>
      <p:cxnSp>
        <p:nvCxnSpPr>
          <p:cNvPr id="81" name="C"/>
          <p:cNvCxnSpPr/>
          <p:nvPr/>
        </p:nvCxnSpPr>
        <p:spPr>
          <a:xfrm flipV="1">
            <a:off x="8863584" y="3776472"/>
            <a:ext cx="329184" cy="475488"/>
          </a:xfrm>
          <a:prstGeom prst="line">
            <a:avLst/>
          </a:prstGeom>
          <a:ln w="12700">
            <a:solidFill>
              <a:srgbClr val="2F55C4"/>
            </a:solidFill>
          </a:ln>
        </p:spPr>
      </p:cxnSp>
      <p:sp>
        <p:nvSpPr>
          <p:cNvPr id="82" name="S"/>
          <p:cNvSpPr/>
          <p:nvPr/>
        </p:nvSpPr>
        <p:spPr>
          <a:xfrm>
            <a:off x="8841584" y="4229960"/>
            <a:ext cx="44000" cy="44000"/>
          </a:xfrm>
          <a:prstGeom prst="ellipse">
            <a:avLst/>
          </a:prstGeom>
          <a:solidFill>
            <a:srgbClr val="2F55C4"/>
          </a:solidFill>
          <a:ln>
            <a:noFill/>
          </a:ln>
        </p:spPr>
        <p:txBody>
          <a:bodyPr/>
          <a:lstStyle/>
          <a:p>
            <a:endParaRPr/>
          </a:p>
        </p:txBody>
      </p:sp>
      <p:sp>
        <p:nvSpPr>
          <p:cNvPr id="83" name="S"/>
          <p:cNvSpPr/>
          <p:nvPr/>
        </p:nvSpPr>
        <p:spPr>
          <a:xfrm>
            <a:off x="9192768" y="1938528"/>
            <a:ext cx="2542032" cy="2871216"/>
          </a:xfrm>
          <a:prstGeom prst="roundRect">
            <a:avLst>
              <a:gd name="adj" fmla="val 4200"/>
            </a:avLst>
          </a:prstGeom>
          <a:solidFill>
            <a:srgbClr val="0F1B35"/>
          </a:solidFill>
          <a:ln>
            <a:noFill/>
          </a:ln>
          <a:effectLst>
            <a:outerShdw blurRad="90000" dist="28000" dir="5400000" rotWithShape="0">
              <a:srgbClr val="1B1F3B">
                <a:alpha val="11000"/>
              </a:srgbClr>
            </a:outerShdw>
          </a:effectLst>
        </p:spPr>
        <p:txBody>
          <a:bodyPr/>
          <a:lstStyle/>
          <a:p>
            <a:endParaRPr/>
          </a:p>
        </p:txBody>
      </p:sp>
      <p:sp>
        <p:nvSpPr>
          <p:cNvPr id="84" name="T"/>
          <p:cNvSpPr>
            <a:spLocks noGrp="1"/>
          </p:cNvSpPr>
          <p:nvPr/>
        </p:nvSpPr>
        <p:spPr>
          <a:xfrm>
            <a:off x="9412224" y="2121408"/>
            <a:ext cx="2103120" cy="201168"/>
          </a:xfrm>
          <a:prstGeom prst="rect">
            <a:avLst/>
          </a:prstGeom>
          <a:noFill/>
          <a:ln>
            <a:noFill/>
          </a:ln>
        </p:spPr>
        <p:txBody>
          <a:bodyPr wrap="square" lIns="0" tIns="0" rIns="0" bIns="0" rtlCol="0" anchor="ctr"/>
          <a:lstStyle/>
          <a:p>
            <a:pPr marL="0" indent="0" algn="l">
              <a:buNone/>
            </a:pPr>
            <a:r>
              <a:rPr lang="en-US" sz="720" b="1" i="0" spc="170" dirty="0">
                <a:solidFill>
                  <a:srgbClr val="7E9BD4"/>
                </a:solidFill>
                <a:latin typeface="Calibri" pitchFamily="34" charset="0"/>
              </a:rPr>
              <a:t>SHARED CORE</a:t>
            </a:r>
          </a:p>
        </p:txBody>
      </p:sp>
      <p:sp>
        <p:nvSpPr>
          <p:cNvPr id="85" name="T"/>
          <p:cNvSpPr>
            <a:spLocks noGrp="1"/>
          </p:cNvSpPr>
          <p:nvPr/>
        </p:nvSpPr>
        <p:spPr>
          <a:xfrm>
            <a:off x="9412224" y="2368296"/>
            <a:ext cx="2103120" cy="603504"/>
          </a:xfrm>
          <a:prstGeom prst="rect">
            <a:avLst/>
          </a:prstGeom>
          <a:noFill/>
          <a:ln>
            <a:noFill/>
          </a:ln>
        </p:spPr>
        <p:txBody>
          <a:bodyPr wrap="square" lIns="0" tIns="0" rIns="0" bIns="0" rtlCol="0" anchor="t"/>
          <a:lstStyle/>
          <a:p>
            <a:pPr marL="0" indent="0" algn="l">
              <a:buNone/>
            </a:pPr>
            <a:r>
              <a:rPr lang="en-US" sz="1400" b="1" i="0" dirty="0">
                <a:solidFill>
                  <a:srgbClr val="FFFFFF"/>
                </a:solidFill>
                <a:latin typeface="Calibri" pitchFamily="34" charset="0"/>
              </a:rPr>
              <a:t>Agents &amp;
Orchestration</a:t>
            </a:r>
          </a:p>
        </p:txBody>
      </p:sp>
      <p:cxnSp>
        <p:nvCxnSpPr>
          <p:cNvPr id="86" name="C"/>
          <p:cNvCxnSpPr/>
          <p:nvPr/>
        </p:nvCxnSpPr>
        <p:spPr>
          <a:xfrm>
            <a:off x="9412224" y="3054096"/>
            <a:ext cx="2103120" cy="1"/>
          </a:xfrm>
          <a:prstGeom prst="line">
            <a:avLst/>
          </a:prstGeom>
          <a:ln w="7620">
            <a:solidFill>
              <a:srgbClr val="3C5488"/>
            </a:solidFill>
          </a:ln>
        </p:spPr>
      </p:cxnSp>
      <p:sp>
        <p:nvSpPr>
          <p:cNvPr id="87" name="S"/>
          <p:cNvSpPr/>
          <p:nvPr/>
        </p:nvSpPr>
        <p:spPr>
          <a:xfrm>
            <a:off x="9412224" y="3182112"/>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88" name="T"/>
          <p:cNvSpPr>
            <a:spLocks noGrp="1"/>
          </p:cNvSpPr>
          <p:nvPr/>
        </p:nvSpPr>
        <p:spPr>
          <a:xfrm>
            <a:off x="9412224" y="3182112"/>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Scan</a:t>
            </a:r>
          </a:p>
        </p:txBody>
      </p:sp>
      <p:sp>
        <p:nvSpPr>
          <p:cNvPr id="89" name="S"/>
          <p:cNvSpPr/>
          <p:nvPr/>
        </p:nvSpPr>
        <p:spPr>
          <a:xfrm>
            <a:off x="10500360" y="3182112"/>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0" name="T"/>
          <p:cNvSpPr>
            <a:spLocks noGrp="1"/>
          </p:cNvSpPr>
          <p:nvPr/>
        </p:nvSpPr>
        <p:spPr>
          <a:xfrm>
            <a:off x="10500360" y="3182112"/>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Compare</a:t>
            </a:r>
          </a:p>
        </p:txBody>
      </p:sp>
      <p:sp>
        <p:nvSpPr>
          <p:cNvPr id="91" name="S"/>
          <p:cNvSpPr/>
          <p:nvPr/>
        </p:nvSpPr>
        <p:spPr>
          <a:xfrm>
            <a:off x="9412224" y="3488436"/>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2" name="T"/>
          <p:cNvSpPr>
            <a:spLocks noGrp="1"/>
          </p:cNvSpPr>
          <p:nvPr/>
        </p:nvSpPr>
        <p:spPr>
          <a:xfrm>
            <a:off x="9412224" y="3488436"/>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Dependency</a:t>
            </a:r>
          </a:p>
        </p:txBody>
      </p:sp>
      <p:sp>
        <p:nvSpPr>
          <p:cNvPr id="93" name="S"/>
          <p:cNvSpPr/>
          <p:nvPr/>
        </p:nvSpPr>
        <p:spPr>
          <a:xfrm>
            <a:off x="10500360" y="3488436"/>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4" name="T"/>
          <p:cNvSpPr>
            <a:spLocks noGrp="1"/>
          </p:cNvSpPr>
          <p:nvPr/>
        </p:nvSpPr>
        <p:spPr>
          <a:xfrm>
            <a:off x="10500360" y="3488436"/>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Readiness</a:t>
            </a:r>
          </a:p>
        </p:txBody>
      </p:sp>
      <p:sp>
        <p:nvSpPr>
          <p:cNvPr id="95" name="S"/>
          <p:cNvSpPr/>
          <p:nvPr/>
        </p:nvSpPr>
        <p:spPr>
          <a:xfrm>
            <a:off x="9412224" y="3794760"/>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6" name="T"/>
          <p:cNvSpPr>
            <a:spLocks noGrp="1"/>
          </p:cNvSpPr>
          <p:nvPr/>
        </p:nvSpPr>
        <p:spPr>
          <a:xfrm>
            <a:off x="9412224" y="3794760"/>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Risk</a:t>
            </a:r>
          </a:p>
        </p:txBody>
      </p:sp>
      <p:sp>
        <p:nvSpPr>
          <p:cNvPr id="97" name="S"/>
          <p:cNvSpPr/>
          <p:nvPr/>
        </p:nvSpPr>
        <p:spPr>
          <a:xfrm>
            <a:off x="10500360" y="3794760"/>
            <a:ext cx="1014984" cy="237744"/>
          </a:xfrm>
          <a:prstGeom prst="roundRect">
            <a:avLst>
              <a:gd name="adj" fmla="val 50000"/>
            </a:avLst>
          </a:prstGeom>
          <a:solidFill>
            <a:srgbClr val="233457"/>
          </a:solidFill>
          <a:ln w="6350">
            <a:solidFill>
              <a:srgbClr val="3C5488"/>
            </a:solidFill>
          </a:ln>
        </p:spPr>
        <p:txBody>
          <a:bodyPr/>
          <a:lstStyle/>
          <a:p>
            <a:endParaRPr/>
          </a:p>
        </p:txBody>
      </p:sp>
      <p:sp>
        <p:nvSpPr>
          <p:cNvPr id="98" name="T"/>
          <p:cNvSpPr>
            <a:spLocks noGrp="1"/>
          </p:cNvSpPr>
          <p:nvPr/>
        </p:nvSpPr>
        <p:spPr>
          <a:xfrm>
            <a:off x="10500360" y="3794760"/>
            <a:ext cx="1014984" cy="237744"/>
          </a:xfrm>
          <a:prstGeom prst="rect">
            <a:avLst/>
          </a:prstGeom>
          <a:noFill/>
          <a:ln>
            <a:noFill/>
          </a:ln>
        </p:spPr>
        <p:txBody>
          <a:bodyPr wrap="square" lIns="0" tIns="0" rIns="0" bIns="0" rtlCol="0" anchor="ctr"/>
          <a:lstStyle/>
          <a:p>
            <a:pPr marL="0" indent="0" algn="ctr">
              <a:buNone/>
            </a:pPr>
            <a:r>
              <a:rPr lang="en-US" sz="700" b="0" i="0" dirty="0">
                <a:solidFill>
                  <a:srgbClr val="C9D9F5"/>
                </a:solidFill>
                <a:latin typeface="Calibri" pitchFamily="34" charset="0"/>
              </a:rPr>
              <a:t>Validate</a:t>
            </a:r>
          </a:p>
        </p:txBody>
      </p:sp>
      <p:sp>
        <p:nvSpPr>
          <p:cNvPr id="99" name="T"/>
          <p:cNvSpPr>
            <a:spLocks noGrp="1"/>
          </p:cNvSpPr>
          <p:nvPr/>
        </p:nvSpPr>
        <p:spPr>
          <a:xfrm>
            <a:off x="9412224" y="4169664"/>
            <a:ext cx="2103120" cy="566928"/>
          </a:xfrm>
          <a:prstGeom prst="rect">
            <a:avLst/>
          </a:prstGeom>
          <a:noFill/>
          <a:ln>
            <a:noFill/>
          </a:ln>
        </p:spPr>
        <p:txBody>
          <a:bodyPr wrap="square" lIns="0" tIns="0" rIns="0" bIns="0" rtlCol="0" anchor="t"/>
          <a:lstStyle/>
          <a:p>
            <a:pPr marL="0" indent="0" algn="l">
              <a:buNone/>
            </a:pPr>
            <a:r>
              <a:rPr lang="en-US" sz="800" b="0" i="0" dirty="0">
                <a:solidFill>
                  <a:srgbClr val="AFC2E4"/>
                </a:solidFill>
                <a:latin typeface="Calibri" pitchFamily="34" charset="0"/>
              </a:rPr>
              <a:t>Same approval gates, accelerator library and audit trail — regardless of entry mode.</a:t>
            </a:r>
          </a:p>
        </p:txBody>
      </p:sp>
      <p:sp>
        <p:nvSpPr>
          <p:cNvPr id="100" name="S"/>
          <p:cNvSpPr/>
          <p:nvPr/>
        </p:nvSpPr>
        <p:spPr>
          <a:xfrm>
            <a:off x="457200" y="5038344"/>
            <a:ext cx="182880" cy="182880"/>
          </a:xfrm>
          <a:prstGeom prst="roundRect">
            <a:avLst>
              <a:gd name="adj" fmla="val 18000"/>
            </a:avLst>
          </a:prstGeom>
          <a:solidFill>
            <a:srgbClr val="0E8A6E"/>
          </a:solidFill>
          <a:ln>
            <a:noFill/>
          </a:ln>
        </p:spPr>
        <p:txBody>
          <a:bodyPr/>
          <a:lstStyle/>
          <a:p>
            <a:endParaRPr/>
          </a:p>
        </p:txBody>
      </p:sp>
      <p:sp>
        <p:nvSpPr>
          <p:cNvPr id="101" name="T"/>
          <p:cNvSpPr>
            <a:spLocks noGrp="1"/>
          </p:cNvSpPr>
          <p:nvPr/>
        </p:nvSpPr>
        <p:spPr>
          <a:xfrm>
            <a:off x="749808" y="5010912"/>
            <a:ext cx="4846320" cy="237744"/>
          </a:xfrm>
          <a:prstGeom prst="rect">
            <a:avLst/>
          </a:prstGeom>
          <a:noFill/>
          <a:ln>
            <a:noFill/>
          </a:ln>
        </p:spPr>
        <p:txBody>
          <a:bodyPr wrap="square" lIns="0" tIns="0" rIns="0" bIns="0" rtlCol="0" anchor="ctr"/>
          <a:lstStyle/>
          <a:p>
            <a:pPr marL="0" indent="0" algn="l">
              <a:buNone/>
            </a:pPr>
            <a:r>
              <a:rPr lang="en-US" sz="840" b="0" i="0" dirty="0">
                <a:solidFill>
                  <a:srgbClr val="1B1F3B"/>
                </a:solidFill>
                <a:latin typeface="Calibri" pitchFamily="34" charset="0"/>
              </a:rPr>
              <a:t>Mode A — creates new cloud resources, provisioned end-to-end by DaaS</a:t>
            </a:r>
          </a:p>
        </p:txBody>
      </p:sp>
      <p:sp>
        <p:nvSpPr>
          <p:cNvPr id="102" name="S"/>
          <p:cNvSpPr/>
          <p:nvPr/>
        </p:nvSpPr>
        <p:spPr>
          <a:xfrm>
            <a:off x="5669280" y="5038344"/>
            <a:ext cx="182880" cy="182880"/>
          </a:xfrm>
          <a:prstGeom prst="roundRect">
            <a:avLst>
              <a:gd name="adj" fmla="val 18000"/>
            </a:avLst>
          </a:prstGeom>
          <a:solidFill>
            <a:srgbClr val="2F55C4"/>
          </a:solidFill>
          <a:ln>
            <a:noFill/>
          </a:ln>
        </p:spPr>
        <p:txBody>
          <a:bodyPr/>
          <a:lstStyle/>
          <a:p>
            <a:endParaRPr/>
          </a:p>
        </p:txBody>
      </p:sp>
      <p:sp>
        <p:nvSpPr>
          <p:cNvPr id="103" name="T"/>
          <p:cNvSpPr>
            <a:spLocks noGrp="1"/>
          </p:cNvSpPr>
          <p:nvPr/>
        </p:nvSpPr>
        <p:spPr>
          <a:xfrm>
            <a:off x="5961888" y="5010912"/>
            <a:ext cx="4846320" cy="237744"/>
          </a:xfrm>
          <a:prstGeom prst="rect">
            <a:avLst/>
          </a:prstGeom>
          <a:noFill/>
          <a:ln>
            <a:noFill/>
          </a:ln>
        </p:spPr>
        <p:txBody>
          <a:bodyPr wrap="square" lIns="0" tIns="0" rIns="0" bIns="0" rtlCol="0" anchor="ctr"/>
          <a:lstStyle/>
          <a:p>
            <a:pPr marL="0" indent="0" algn="l">
              <a:buNone/>
            </a:pPr>
            <a:r>
              <a:rPr lang="en-US" sz="840" b="0" i="0" dirty="0">
                <a:solidFill>
                  <a:srgbClr val="1B1F3B"/>
                </a:solidFill>
                <a:latin typeface="Calibri" pitchFamily="34" charset="0"/>
              </a:rPr>
              <a:t>Mode B — acts only on approved change requests, no new infrastructure</a:t>
            </a:r>
          </a:p>
        </p:txBody>
      </p:sp>
      <p:sp>
        <p:nvSpPr>
          <p:cNvPr id="104" name="S"/>
          <p:cNvSpPr/>
          <p:nvPr/>
        </p:nvSpPr>
        <p:spPr>
          <a:xfrm>
            <a:off x="457200" y="5413248"/>
            <a:ext cx="11277600" cy="585216"/>
          </a:xfrm>
          <a:prstGeom prst="roundRect">
            <a:avLst>
              <a:gd name="adj" fmla="val 4500"/>
            </a:avLst>
          </a:prstGeom>
          <a:solidFill>
            <a:srgbClr val="0F1B35"/>
          </a:solidFill>
          <a:ln>
            <a:noFill/>
          </a:ln>
        </p:spPr>
        <p:txBody>
          <a:bodyPr/>
          <a:lstStyle/>
          <a:p>
            <a:endParaRPr/>
          </a:p>
        </p:txBody>
      </p:sp>
      <p:sp>
        <p:nvSpPr>
          <p:cNvPr id="105" name="T"/>
          <p:cNvSpPr>
            <a:spLocks noGrp="1"/>
          </p:cNvSpPr>
          <p:nvPr/>
        </p:nvSpPr>
        <p:spPr>
          <a:xfrm>
            <a:off x="676656" y="5486400"/>
            <a:ext cx="6400800" cy="164592"/>
          </a:xfrm>
          <a:prstGeom prst="rect">
            <a:avLst/>
          </a:prstGeom>
          <a:noFill/>
          <a:ln>
            <a:noFill/>
          </a:ln>
        </p:spPr>
        <p:txBody>
          <a:bodyPr wrap="square" lIns="0" tIns="0" rIns="0" bIns="0" rtlCol="0" anchor="ctr"/>
          <a:lstStyle/>
          <a:p>
            <a:pPr marL="0" indent="0" algn="l">
              <a:buNone/>
            </a:pPr>
            <a:r>
              <a:rPr lang="en-US" sz="700" b="1" i="0" spc="150" dirty="0">
                <a:solidFill>
                  <a:srgbClr val="CADCFC"/>
                </a:solidFill>
                <a:latin typeface="Calibri" pitchFamily="34" charset="0"/>
              </a:rPr>
              <a:t>WHY IT MATTERS</a:t>
            </a:r>
          </a:p>
        </p:txBody>
      </p:sp>
      <p:sp>
        <p:nvSpPr>
          <p:cNvPr id="106" name="T"/>
          <p:cNvSpPr>
            <a:spLocks noGrp="1"/>
          </p:cNvSpPr>
          <p:nvPr/>
        </p:nvSpPr>
        <p:spPr>
          <a:xfrm>
            <a:off x="676656" y="5669280"/>
            <a:ext cx="10820400" cy="274320"/>
          </a:xfrm>
          <a:prstGeom prst="rect">
            <a:avLst/>
          </a:prstGeom>
          <a:noFill/>
          <a:ln>
            <a:noFill/>
          </a:ln>
        </p:spPr>
        <p:txBody>
          <a:bodyPr wrap="square" lIns="0" tIns="0" rIns="0" bIns="0" rtlCol="0" anchor="t"/>
          <a:lstStyle/>
          <a:p>
            <a:pPr marL="0" indent="0" algn="l">
              <a:buNone/>
            </a:pPr>
            <a:r>
              <a:rPr lang="en-US" sz="880" b="0" i="0" dirty="0">
                <a:solidFill>
                  <a:srgbClr val="FFFFFF"/>
                </a:solidFill>
                <a:latin typeface="Calibri" pitchFamily="34" charset="0"/>
              </a:rPr>
              <a:t>Clients don’t have to rebuild to adopt DaaS. Mode B connects to what they already run — and both modes inherit identical governance, approvals and audit.</a:t>
            </a:r>
          </a:p>
        </p:txBody>
      </p:sp>
    </p:spTree>
    <p:extLst>
      <p:ext uri="{BB962C8B-B14F-4D97-AF65-F5344CB8AC3E}">
        <p14:creationId xmlns:p14="http://schemas.microsoft.com/office/powerpoint/2010/main" val="1841578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SEQUENCING</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Delivery Waves</a:t>
            </a:r>
            <a:endParaRPr lang="en-US" sz="2600"/>
          </a:p>
        </p:txBody>
      </p:sp>
      <p:sp>
        <p:nvSpPr>
          <p:cNvPr id="4" name="Text 2"/>
          <p:cNvSpPr/>
          <p:nvPr/>
        </p:nvSpPr>
        <p:spPr>
          <a:xfrm>
            <a:off x="548640" y="1298448"/>
            <a:ext cx="10881360" cy="320040"/>
          </a:xfrm>
          <a:prstGeom prst="rect">
            <a:avLst/>
          </a:prstGeom>
          <a:noFill/>
          <a:ln/>
        </p:spPr>
        <p:txBody>
          <a:bodyPr wrap="square" lIns="91440" tIns="45720" rIns="91440" bIns="45720" rtlCol="0" anchor="ctr"/>
          <a:lstStyle/>
          <a:p>
            <a:pPr marL="0" indent="0">
              <a:buNone/>
            </a:pPr>
            <a:r>
              <a:rPr lang="en-US" sz="1200">
                <a:solidFill>
                  <a:srgbClr val="5B6584"/>
                </a:solidFill>
                <a:latin typeface="Calibri"/>
                <a:ea typeface="Calibri"/>
                <a:cs typeface="Calibri"/>
              </a:rPr>
              <a:t>Each wave builds on the configuration model from the previous one — sequencing guidance, not committed dates.</a:t>
            </a:r>
            <a:endParaRPr lang="en-US" sz="1200">
              <a:latin typeface="Calibri"/>
              <a:ea typeface="Calibri"/>
              <a:cs typeface="Calibri"/>
            </a:endParaRPr>
          </a:p>
        </p:txBody>
      </p:sp>
      <p:sp>
        <p:nvSpPr>
          <p:cNvPr id="5" name="Shape 3"/>
          <p:cNvSpPr/>
          <p:nvPr/>
        </p:nvSpPr>
        <p:spPr>
          <a:xfrm>
            <a:off x="548640" y="178308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6" name="Shape 4"/>
          <p:cNvSpPr/>
          <p:nvPr/>
        </p:nvSpPr>
        <p:spPr>
          <a:xfrm>
            <a:off x="548640" y="1783080"/>
            <a:ext cx="1554480" cy="960120"/>
          </a:xfrm>
          <a:prstGeom prst="roundRect">
            <a:avLst>
              <a:gd name="adj" fmla="val 7619"/>
            </a:avLst>
          </a:prstGeom>
          <a:solidFill>
            <a:srgbClr val="1E2761"/>
          </a:solidFill>
          <a:ln/>
        </p:spPr>
        <p:txBody>
          <a:bodyPr/>
          <a:lstStyle/>
          <a:p>
            <a:endParaRPr/>
          </a:p>
        </p:txBody>
      </p:sp>
      <p:sp>
        <p:nvSpPr>
          <p:cNvPr id="7" name="Text 5"/>
          <p:cNvSpPr/>
          <p:nvPr/>
        </p:nvSpPr>
        <p:spPr>
          <a:xfrm>
            <a:off x="548640" y="178308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1</a:t>
            </a:r>
            <a:endParaRPr lang="en-US" sz="1500"/>
          </a:p>
        </p:txBody>
      </p:sp>
      <p:sp>
        <p:nvSpPr>
          <p:cNvPr id="8" name="Text 6"/>
          <p:cNvSpPr/>
          <p:nvPr/>
        </p:nvSpPr>
        <p:spPr>
          <a:xfrm>
            <a:off x="2331720" y="189280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Configuration foundation</a:t>
            </a:r>
            <a:endParaRPr lang="en-US" sz="1250"/>
          </a:p>
        </p:txBody>
      </p:sp>
      <p:sp>
        <p:nvSpPr>
          <p:cNvPr id="9" name="Text 7"/>
          <p:cNvSpPr/>
          <p:nvPr/>
        </p:nvSpPr>
        <p:spPr>
          <a:xfrm>
            <a:off x="5303520" y="187452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Application &amp; Environment Registry, Users &amp; Roles, Admin Console shell, Workflow Registry</a:t>
            </a:r>
            <a:endParaRPr lang="en-US" sz="1000"/>
          </a:p>
        </p:txBody>
      </p:sp>
      <p:sp>
        <p:nvSpPr>
          <p:cNvPr id="10" name="Shape 8"/>
          <p:cNvSpPr/>
          <p:nvPr/>
        </p:nvSpPr>
        <p:spPr>
          <a:xfrm>
            <a:off x="548640" y="288036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11" name="Shape 9"/>
          <p:cNvSpPr/>
          <p:nvPr/>
        </p:nvSpPr>
        <p:spPr>
          <a:xfrm>
            <a:off x="548640" y="2880360"/>
            <a:ext cx="1554480" cy="960120"/>
          </a:xfrm>
          <a:prstGeom prst="roundRect">
            <a:avLst>
              <a:gd name="adj" fmla="val 7619"/>
            </a:avLst>
          </a:prstGeom>
          <a:solidFill>
            <a:srgbClr val="1E2761"/>
          </a:solidFill>
          <a:ln/>
        </p:spPr>
        <p:txBody>
          <a:bodyPr/>
          <a:lstStyle/>
          <a:p>
            <a:endParaRPr/>
          </a:p>
        </p:txBody>
      </p:sp>
      <p:sp>
        <p:nvSpPr>
          <p:cNvPr id="12" name="Text 10"/>
          <p:cNvSpPr/>
          <p:nvPr/>
        </p:nvSpPr>
        <p:spPr>
          <a:xfrm>
            <a:off x="548640" y="288036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2</a:t>
            </a:r>
            <a:endParaRPr lang="en-US" sz="1500"/>
          </a:p>
        </p:txBody>
      </p:sp>
      <p:sp>
        <p:nvSpPr>
          <p:cNvPr id="13" name="Text 11"/>
          <p:cNvSpPr/>
          <p:nvPr/>
        </p:nvSpPr>
        <p:spPr>
          <a:xfrm>
            <a:off x="2331720" y="299008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Orchestration</a:t>
            </a:r>
            <a:endParaRPr lang="en-US" sz="1250"/>
          </a:p>
        </p:txBody>
      </p:sp>
      <p:sp>
        <p:nvSpPr>
          <p:cNvPr id="14" name="Text 12"/>
          <p:cNvSpPr/>
          <p:nvPr/>
        </p:nvSpPr>
        <p:spPr>
          <a:xfrm>
            <a:off x="5303520" y="297180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Workflow Engine, State Machine, Approval Engine, configurable deployment phases, Templates</a:t>
            </a:r>
            <a:endParaRPr lang="en-US" sz="1000"/>
          </a:p>
        </p:txBody>
      </p:sp>
      <p:sp>
        <p:nvSpPr>
          <p:cNvPr id="15" name="Shape 13"/>
          <p:cNvSpPr/>
          <p:nvPr/>
        </p:nvSpPr>
        <p:spPr>
          <a:xfrm>
            <a:off x="548640" y="397764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16" name="Shape 14"/>
          <p:cNvSpPr/>
          <p:nvPr/>
        </p:nvSpPr>
        <p:spPr>
          <a:xfrm>
            <a:off x="548640" y="3977640"/>
            <a:ext cx="1554480" cy="960120"/>
          </a:xfrm>
          <a:prstGeom prst="roundRect">
            <a:avLst>
              <a:gd name="adj" fmla="val 7619"/>
            </a:avLst>
          </a:prstGeom>
          <a:solidFill>
            <a:srgbClr val="1E2761"/>
          </a:solidFill>
          <a:ln/>
        </p:spPr>
        <p:txBody>
          <a:bodyPr/>
          <a:lstStyle/>
          <a:p>
            <a:endParaRPr/>
          </a:p>
        </p:txBody>
      </p:sp>
      <p:sp>
        <p:nvSpPr>
          <p:cNvPr id="17" name="Text 15"/>
          <p:cNvSpPr/>
          <p:nvPr/>
        </p:nvSpPr>
        <p:spPr>
          <a:xfrm>
            <a:off x="548640" y="397764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3</a:t>
            </a:r>
            <a:endParaRPr lang="en-US" sz="1500"/>
          </a:p>
        </p:txBody>
      </p:sp>
      <p:sp>
        <p:nvSpPr>
          <p:cNvPr id="18" name="Text 16"/>
          <p:cNvSpPr/>
          <p:nvPr/>
        </p:nvSpPr>
        <p:spPr>
          <a:xfrm>
            <a:off x="2331720" y="408736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Visibility &amp; reporting</a:t>
            </a:r>
            <a:endParaRPr lang="en-US" sz="1250"/>
          </a:p>
        </p:txBody>
      </p:sp>
      <p:sp>
        <p:nvSpPr>
          <p:cNvPr id="19" name="Text 17"/>
          <p:cNvSpPr/>
          <p:nvPr/>
        </p:nvSpPr>
        <p:spPr>
          <a:xfrm>
            <a:off x="5303520" y="406908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Multi-customer platform view, Release Summary, Approval Summary, downloadable reports, JIRA notes</a:t>
            </a:r>
            <a:endParaRPr lang="en-US" sz="1000"/>
          </a:p>
        </p:txBody>
      </p:sp>
      <p:sp>
        <p:nvSpPr>
          <p:cNvPr id="20" name="Shape 18"/>
          <p:cNvSpPr/>
          <p:nvPr/>
        </p:nvSpPr>
        <p:spPr>
          <a:xfrm>
            <a:off x="548640" y="5074920"/>
            <a:ext cx="10881360" cy="960120"/>
          </a:xfrm>
          <a:prstGeom prst="roundRect">
            <a:avLst>
              <a:gd name="adj" fmla="val 7619"/>
            </a:avLst>
          </a:prstGeom>
          <a:solidFill>
            <a:srgbClr val="FFFFFF"/>
          </a:solidFill>
          <a:ln/>
          <a:effectLst>
            <a:outerShdw blurRad="63500" dist="25400" dir="5400000" algn="bl" rotWithShape="0">
              <a:srgbClr val="1B1F3B">
                <a:alpha val="13000"/>
              </a:srgbClr>
            </a:outerShdw>
          </a:effectLst>
        </p:spPr>
        <p:txBody>
          <a:bodyPr/>
          <a:lstStyle/>
          <a:p>
            <a:endParaRPr/>
          </a:p>
        </p:txBody>
      </p:sp>
      <p:sp>
        <p:nvSpPr>
          <p:cNvPr id="21" name="Shape 19"/>
          <p:cNvSpPr/>
          <p:nvPr/>
        </p:nvSpPr>
        <p:spPr>
          <a:xfrm>
            <a:off x="548640" y="5074920"/>
            <a:ext cx="1554480" cy="960120"/>
          </a:xfrm>
          <a:prstGeom prst="roundRect">
            <a:avLst>
              <a:gd name="adj" fmla="val 7619"/>
            </a:avLst>
          </a:prstGeom>
          <a:solidFill>
            <a:srgbClr val="1E2761"/>
          </a:solidFill>
          <a:ln/>
        </p:spPr>
        <p:txBody>
          <a:bodyPr/>
          <a:lstStyle/>
          <a:p>
            <a:endParaRPr/>
          </a:p>
        </p:txBody>
      </p:sp>
      <p:sp>
        <p:nvSpPr>
          <p:cNvPr id="22" name="Text 20"/>
          <p:cNvSpPr/>
          <p:nvPr/>
        </p:nvSpPr>
        <p:spPr>
          <a:xfrm>
            <a:off x="548640" y="5074920"/>
            <a:ext cx="1554480" cy="96012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Wave 4</a:t>
            </a:r>
            <a:endParaRPr lang="en-US" sz="1500"/>
          </a:p>
        </p:txBody>
      </p:sp>
      <p:sp>
        <p:nvSpPr>
          <p:cNvPr id="23" name="Text 21"/>
          <p:cNvSpPr/>
          <p:nvPr/>
        </p:nvSpPr>
        <p:spPr>
          <a:xfrm>
            <a:off x="2331720" y="5184648"/>
            <a:ext cx="2834640" cy="740664"/>
          </a:xfrm>
          <a:prstGeom prst="rect">
            <a:avLst/>
          </a:prstGeom>
          <a:noFill/>
          <a:ln/>
        </p:spPr>
        <p:txBody>
          <a:bodyPr wrap="square" rtlCol="0" anchor="ctr"/>
          <a:lstStyle/>
          <a:p>
            <a:pPr marL="0" indent="0">
              <a:buNone/>
            </a:pPr>
            <a:r>
              <a:rPr lang="en-US" sz="1250" b="1">
                <a:solidFill>
                  <a:srgbClr val="1E2761"/>
                </a:solidFill>
                <a:latin typeface="Calibri" pitchFamily="34" charset="0"/>
                <a:ea typeface="Calibri" pitchFamily="34" charset="-122"/>
                <a:cs typeface="Calibri" pitchFamily="34" charset="-120"/>
              </a:rPr>
              <a:t>Governance depth</a:t>
            </a:r>
            <a:endParaRPr lang="en-US" sz="1250"/>
          </a:p>
        </p:txBody>
      </p:sp>
      <p:sp>
        <p:nvSpPr>
          <p:cNvPr id="24" name="Text 22"/>
          <p:cNvSpPr/>
          <p:nvPr/>
        </p:nvSpPr>
        <p:spPr>
          <a:xfrm>
            <a:off x="5303520" y="5166360"/>
            <a:ext cx="5943600" cy="777240"/>
          </a:xfrm>
          <a:prstGeom prst="rect">
            <a:avLst/>
          </a:prstGeom>
          <a:noFill/>
          <a:ln/>
        </p:spPr>
        <p:txBody>
          <a:bodyPr wrap="square" rtlCol="0" anchor="ctr"/>
          <a:lstStyle/>
          <a:p>
            <a:pPr marL="0" indent="0">
              <a:lnSpc>
                <a:spcPct val="120000"/>
              </a:lnSpc>
              <a:buNone/>
            </a:pPr>
            <a:r>
              <a:rPr lang="en-US" sz="1000">
                <a:solidFill>
                  <a:srgbClr val="5B6584"/>
                </a:solidFill>
                <a:latin typeface="Calibri" pitchFamily="34" charset="0"/>
                <a:ea typeface="Calibri" pitchFamily="34" charset="-122"/>
                <a:cs typeface="Calibri" pitchFamily="34" charset="-120"/>
              </a:rPr>
              <a:t>Notification pub-sub &amp; per-page control, Promotion Engine, Validation Engine, Rollback Manager</a:t>
            </a:r>
            <a:endParaRPr lang="en-US" sz="1000"/>
          </a:p>
        </p:txBody>
      </p:sp>
      <p:sp>
        <p:nvSpPr>
          <p:cNvPr id="25" name="Text 23"/>
          <p:cNvSpPr/>
          <p:nvPr/>
        </p:nvSpPr>
        <p:spPr>
          <a:xfrm>
            <a:off x="457200" y="6519672"/>
            <a:ext cx="8229600" cy="274320"/>
          </a:xfrm>
          <a:prstGeom prst="rect">
            <a:avLst/>
          </a:prstGeom>
          <a:noFill/>
          <a:ln/>
        </p:spPr>
        <p:txBody>
          <a:bodyPr wrap="square" lIns="91440" tIns="45720" rIns="91440" bIns="45720" rtlCol="0" anchor="ctr"/>
          <a:lstStyle/>
          <a:p>
            <a:r>
              <a:rPr lang="en-US" sz="1000">
                <a:solidFill>
                  <a:srgbClr val="5B6584"/>
                </a:solidFill>
                <a:latin typeface="Calibri"/>
                <a:ea typeface="Calibri"/>
                <a:cs typeface="Calibri"/>
              </a:rPr>
              <a:t>Deployment as a Service — Release  Platform</a:t>
            </a:r>
            <a:endParaRPr lang="en-US" sz="1000">
              <a:latin typeface="Calibri"/>
              <a:ea typeface="Calibri"/>
              <a:cs typeface="Calibri"/>
            </a:endParaRPr>
          </a:p>
        </p:txBody>
      </p:sp>
      <p:sp>
        <p:nvSpPr>
          <p:cNvPr id="26" name="Text 24"/>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15</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200" dirty="0">
                <a:solidFill>
                  <a:srgbClr val="1F6E66"/>
                </a:solidFill>
                <a:latin typeface="Calibri" pitchFamily="34" charset="0"/>
                <a:ea typeface="Calibri" pitchFamily="34" charset="-122"/>
                <a:cs typeface="Calibri" pitchFamily="34" charset="-120"/>
              </a:rPr>
              <a:t>SAMPLE UI</a:t>
            </a:r>
            <a:endParaRPr lang="en-US" sz="1200" dirty="0"/>
          </a:p>
        </p:txBody>
      </p:sp>
      <p:sp>
        <p:nvSpPr>
          <p:cNvPr id="3" name="Text 1"/>
          <p:cNvSpPr/>
          <p:nvPr/>
        </p:nvSpPr>
        <p:spPr>
          <a:xfrm>
            <a:off x="548640" y="603504"/>
            <a:ext cx="10881360" cy="64008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User Landing Page</a:t>
            </a:r>
            <a:endParaRPr lang="en-US" sz="2600" dirty="0"/>
          </a:p>
        </p:txBody>
      </p:sp>
      <p:sp>
        <p:nvSpPr>
          <p:cNvPr id="4" name="Text 2"/>
          <p:cNvSpPr/>
          <p:nvPr/>
        </p:nvSpPr>
        <p:spPr>
          <a:xfrm>
            <a:off x="548640" y="1115568"/>
            <a:ext cx="10881360" cy="292608"/>
          </a:xfrm>
          <a:prstGeom prst="rect">
            <a:avLst/>
          </a:prstGeom>
          <a:noFill/>
          <a:ln/>
        </p:spPr>
        <p:txBody>
          <a:bodyPr wrap="square" lIns="0" tIns="0" rIns="0" bIns="0" rtlCol="0" anchor="ctr"/>
          <a:lstStyle/>
          <a:p>
            <a:pPr marL="0" indent="0">
              <a:buNone/>
            </a:pPr>
            <a:r>
              <a:rPr lang="en-US" sz="1250" i="1" dirty="0">
                <a:solidFill>
                  <a:srgbClr val="5B6584"/>
                </a:solidFill>
                <a:latin typeface="Calibri" pitchFamily="34" charset="0"/>
                <a:ea typeface="Calibri" pitchFamily="34" charset="-122"/>
                <a:cs typeface="Calibri" pitchFamily="34" charset="-120"/>
              </a:rPr>
              <a:t>The first screen every user sees after signing in — jump into the three things they need most.</a:t>
            </a:r>
            <a:endParaRPr lang="en-US" sz="1250" dirty="0"/>
          </a:p>
        </p:txBody>
      </p:sp>
      <p:sp>
        <p:nvSpPr>
          <p:cNvPr id="5" name="Shape 3"/>
          <p:cNvSpPr/>
          <p:nvPr/>
        </p:nvSpPr>
        <p:spPr>
          <a:xfrm>
            <a:off x="548640" y="1536192"/>
            <a:ext cx="10881360" cy="402336"/>
          </a:xfrm>
          <a:prstGeom prst="roundRect">
            <a:avLst>
              <a:gd name="adj" fmla="val 18182"/>
            </a:avLst>
          </a:prstGeom>
          <a:solidFill>
            <a:srgbClr val="1E2761"/>
          </a:solidFill>
          <a:ln/>
        </p:spPr>
        <p:txBody>
          <a:bodyPr/>
          <a:lstStyle/>
          <a:p>
            <a:endParaRPr/>
          </a:p>
        </p:txBody>
      </p:sp>
      <p:sp>
        <p:nvSpPr>
          <p:cNvPr id="6" name="Shape 4"/>
          <p:cNvSpPr/>
          <p:nvPr/>
        </p:nvSpPr>
        <p:spPr>
          <a:xfrm>
            <a:off x="749808" y="1682496"/>
            <a:ext cx="109728" cy="109728"/>
          </a:xfrm>
          <a:prstGeom prst="ellipse">
            <a:avLst/>
          </a:prstGeom>
          <a:solidFill>
            <a:srgbClr val="E0475A"/>
          </a:solidFill>
          <a:ln/>
        </p:spPr>
        <p:txBody>
          <a:bodyPr/>
          <a:lstStyle/>
          <a:p>
            <a:endParaRPr/>
          </a:p>
        </p:txBody>
      </p:sp>
      <p:sp>
        <p:nvSpPr>
          <p:cNvPr id="7" name="Shape 5"/>
          <p:cNvSpPr/>
          <p:nvPr/>
        </p:nvSpPr>
        <p:spPr>
          <a:xfrm>
            <a:off x="969264" y="1682496"/>
            <a:ext cx="109728" cy="109728"/>
          </a:xfrm>
          <a:prstGeom prst="ellipse">
            <a:avLst/>
          </a:prstGeom>
          <a:solidFill>
            <a:srgbClr val="E0A93E"/>
          </a:solidFill>
          <a:ln/>
        </p:spPr>
        <p:txBody>
          <a:bodyPr/>
          <a:lstStyle/>
          <a:p>
            <a:endParaRPr/>
          </a:p>
        </p:txBody>
      </p:sp>
      <p:sp>
        <p:nvSpPr>
          <p:cNvPr id="8" name="Shape 6"/>
          <p:cNvSpPr/>
          <p:nvPr/>
        </p:nvSpPr>
        <p:spPr>
          <a:xfrm>
            <a:off x="1188720" y="1682496"/>
            <a:ext cx="109728" cy="109728"/>
          </a:xfrm>
          <a:prstGeom prst="ellipse">
            <a:avLst/>
          </a:prstGeom>
          <a:solidFill>
            <a:srgbClr val="00B8A9"/>
          </a:solidFill>
          <a:ln/>
        </p:spPr>
        <p:txBody>
          <a:bodyPr/>
          <a:lstStyle/>
          <a:p>
            <a:endParaRPr/>
          </a:p>
        </p:txBody>
      </p:sp>
      <p:sp>
        <p:nvSpPr>
          <p:cNvPr id="9" name="Text 7"/>
          <p:cNvSpPr/>
          <p:nvPr/>
        </p:nvSpPr>
        <p:spPr>
          <a:xfrm>
            <a:off x="1554480" y="1536192"/>
            <a:ext cx="8229600" cy="40233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DaaS Portal   ·   Contoso Retail   ·   Home</a:t>
            </a:r>
            <a:endParaRPr lang="en-US" sz="1100" dirty="0"/>
          </a:p>
        </p:txBody>
      </p:sp>
      <p:sp>
        <p:nvSpPr>
          <p:cNvPr id="10" name="Text 8"/>
          <p:cNvSpPr/>
          <p:nvPr/>
        </p:nvSpPr>
        <p:spPr>
          <a:xfrm>
            <a:off x="8138160" y="1536192"/>
            <a:ext cx="3108960" cy="402336"/>
          </a:xfrm>
          <a:prstGeom prst="rect">
            <a:avLst/>
          </a:prstGeom>
          <a:noFill/>
          <a:ln/>
        </p:spPr>
        <p:txBody>
          <a:bodyPr wrap="square" lIns="0" tIns="0" rIns="0" bIns="0" rtlCol="0" anchor="ctr"/>
          <a:lstStyle/>
          <a:p>
            <a:pPr marL="0" indent="0" algn="r">
              <a:buNone/>
            </a:pPr>
            <a:r>
              <a:rPr lang="en-US" sz="950" dirty="0">
                <a:solidFill>
                  <a:srgbClr val="CADCFC"/>
                </a:solidFill>
                <a:latin typeface="Calibri" pitchFamily="34" charset="0"/>
                <a:ea typeface="Calibri" pitchFamily="34" charset="-122"/>
                <a:cs typeface="Calibri" pitchFamily="34" charset="-120"/>
              </a:rPr>
              <a:t>Signed in as Alex Rivera</a:t>
            </a:r>
            <a:endParaRPr lang="en-US" sz="950" dirty="0"/>
          </a:p>
        </p:txBody>
      </p:sp>
      <p:sp>
        <p:nvSpPr>
          <p:cNvPr id="11" name="Shape 9"/>
          <p:cNvSpPr/>
          <p:nvPr/>
        </p:nvSpPr>
        <p:spPr>
          <a:xfrm>
            <a:off x="548640" y="1938528"/>
            <a:ext cx="10881360" cy="4279392"/>
          </a:xfrm>
          <a:prstGeom prst="roundRect">
            <a:avLst>
              <a:gd name="adj" fmla="val 855"/>
            </a:avLst>
          </a:prstGeom>
          <a:solidFill>
            <a:srgbClr val="FFFFFF"/>
          </a:solidFill>
          <a:ln/>
          <a:effectLst>
            <a:outerShdw blurRad="101600" dist="38100" dir="5400000" algn="bl" rotWithShape="0">
              <a:srgbClr val="1B1F3B">
                <a:alpha val="15000"/>
              </a:srgbClr>
            </a:outerShdw>
          </a:effectLst>
        </p:spPr>
        <p:txBody>
          <a:bodyPr/>
          <a:lstStyle/>
          <a:p>
            <a:endParaRPr/>
          </a:p>
        </p:txBody>
      </p:sp>
      <p:sp>
        <p:nvSpPr>
          <p:cNvPr id="12" name="Shape 10"/>
          <p:cNvSpPr/>
          <p:nvPr/>
        </p:nvSpPr>
        <p:spPr>
          <a:xfrm>
            <a:off x="548640" y="1938528"/>
            <a:ext cx="2194560" cy="4279392"/>
          </a:xfrm>
          <a:prstGeom prst="rect">
            <a:avLst/>
          </a:prstGeom>
          <a:solidFill>
            <a:srgbClr val="F4F7FC"/>
          </a:solidFill>
          <a:ln/>
        </p:spPr>
        <p:txBody>
          <a:bodyPr/>
          <a:lstStyle/>
          <a:p>
            <a:endParaRPr/>
          </a:p>
        </p:txBody>
      </p:sp>
      <p:sp>
        <p:nvSpPr>
          <p:cNvPr id="13" name="Shape 11"/>
          <p:cNvSpPr/>
          <p:nvPr/>
        </p:nvSpPr>
        <p:spPr>
          <a:xfrm>
            <a:off x="749808" y="2157984"/>
            <a:ext cx="1792224" cy="384048"/>
          </a:xfrm>
          <a:prstGeom prst="roundRect">
            <a:avLst>
              <a:gd name="adj" fmla="val 14286"/>
            </a:avLst>
          </a:prstGeom>
          <a:solidFill>
            <a:srgbClr val="1E2761"/>
          </a:solidFill>
          <a:ln/>
        </p:spPr>
        <p:txBody>
          <a:bodyPr/>
          <a:lstStyle/>
          <a:p>
            <a:endParaRPr/>
          </a:p>
        </p:txBody>
      </p:sp>
      <p:sp>
        <p:nvSpPr>
          <p:cNvPr id="14" name="Text 12"/>
          <p:cNvSpPr/>
          <p:nvPr/>
        </p:nvSpPr>
        <p:spPr>
          <a:xfrm>
            <a:off x="877824" y="2157984"/>
            <a:ext cx="164592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Home</a:t>
            </a:r>
            <a:endParaRPr lang="en-US" sz="1150" dirty="0"/>
          </a:p>
        </p:txBody>
      </p:sp>
      <p:sp>
        <p:nvSpPr>
          <p:cNvPr id="15" name="Text 13"/>
          <p:cNvSpPr/>
          <p:nvPr/>
        </p:nvSpPr>
        <p:spPr>
          <a:xfrm>
            <a:off x="877824" y="2596896"/>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Create Workflow</a:t>
            </a:r>
            <a:endParaRPr lang="en-US" sz="1150" dirty="0"/>
          </a:p>
        </p:txBody>
      </p:sp>
      <p:sp>
        <p:nvSpPr>
          <p:cNvPr id="16" name="Text 14"/>
          <p:cNvSpPr/>
          <p:nvPr/>
        </p:nvSpPr>
        <p:spPr>
          <a:xfrm>
            <a:off x="877824" y="3035808"/>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Submit Request</a:t>
            </a:r>
            <a:endParaRPr lang="en-US" sz="1150" dirty="0"/>
          </a:p>
        </p:txBody>
      </p:sp>
      <p:sp>
        <p:nvSpPr>
          <p:cNvPr id="17" name="Text 15"/>
          <p:cNvSpPr/>
          <p:nvPr/>
        </p:nvSpPr>
        <p:spPr>
          <a:xfrm>
            <a:off x="877824" y="3474720"/>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Deployments</a:t>
            </a:r>
            <a:endParaRPr lang="en-US" sz="1150" dirty="0"/>
          </a:p>
        </p:txBody>
      </p:sp>
      <p:sp>
        <p:nvSpPr>
          <p:cNvPr id="18" name="Text 16"/>
          <p:cNvSpPr/>
          <p:nvPr/>
        </p:nvSpPr>
        <p:spPr>
          <a:xfrm>
            <a:off x="877824" y="3913632"/>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Approvals</a:t>
            </a:r>
            <a:endParaRPr lang="en-US" sz="1150" dirty="0"/>
          </a:p>
        </p:txBody>
      </p:sp>
      <p:sp>
        <p:nvSpPr>
          <p:cNvPr id="19" name="Text 17"/>
          <p:cNvSpPr/>
          <p:nvPr/>
        </p:nvSpPr>
        <p:spPr>
          <a:xfrm>
            <a:off x="877824" y="4352544"/>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Reports</a:t>
            </a:r>
            <a:endParaRPr lang="en-US" sz="1150" dirty="0"/>
          </a:p>
        </p:txBody>
      </p:sp>
      <p:sp>
        <p:nvSpPr>
          <p:cNvPr id="20" name="Text 18"/>
          <p:cNvSpPr/>
          <p:nvPr/>
        </p:nvSpPr>
        <p:spPr>
          <a:xfrm>
            <a:off x="877824" y="4791456"/>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Notifications</a:t>
            </a:r>
            <a:endParaRPr lang="en-US" sz="1150" dirty="0"/>
          </a:p>
        </p:txBody>
      </p:sp>
      <p:sp>
        <p:nvSpPr>
          <p:cNvPr id="21" name="Text 19"/>
          <p:cNvSpPr/>
          <p:nvPr/>
        </p:nvSpPr>
        <p:spPr>
          <a:xfrm>
            <a:off x="877824" y="5230368"/>
            <a:ext cx="1645920" cy="384048"/>
          </a:xfrm>
          <a:prstGeom prst="rect">
            <a:avLst/>
          </a:prstGeom>
          <a:noFill/>
          <a:ln/>
        </p:spPr>
        <p:txBody>
          <a:bodyPr wrap="square" lIns="0" tIns="0" rIns="0" bIns="0" rtlCol="0" anchor="ctr"/>
          <a:lstStyle/>
          <a:p>
            <a:pPr marL="0" indent="0">
              <a:buNone/>
            </a:pPr>
            <a:r>
              <a:rPr lang="en-US" sz="1150" dirty="0">
                <a:solidFill>
                  <a:srgbClr val="5B6584"/>
                </a:solidFill>
                <a:latin typeface="Calibri" pitchFamily="34" charset="0"/>
                <a:ea typeface="Calibri" pitchFamily="34" charset="-122"/>
                <a:cs typeface="Calibri" pitchFamily="34" charset="-120"/>
              </a:rPr>
              <a:t>Settings</a:t>
            </a:r>
            <a:endParaRPr lang="en-US" sz="1150" dirty="0"/>
          </a:p>
        </p:txBody>
      </p:sp>
      <p:sp>
        <p:nvSpPr>
          <p:cNvPr id="22" name="Text 20"/>
          <p:cNvSpPr/>
          <p:nvPr/>
        </p:nvSpPr>
        <p:spPr>
          <a:xfrm>
            <a:off x="3017520" y="2157984"/>
            <a:ext cx="6675120" cy="310896"/>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Welcome back, Alex</a:t>
            </a:r>
            <a:endParaRPr lang="en-US" sz="1700" dirty="0"/>
          </a:p>
        </p:txBody>
      </p:sp>
      <p:sp>
        <p:nvSpPr>
          <p:cNvPr id="23" name="Shape 21"/>
          <p:cNvSpPr/>
          <p:nvPr/>
        </p:nvSpPr>
        <p:spPr>
          <a:xfrm>
            <a:off x="9784080" y="2176272"/>
            <a:ext cx="1371600" cy="365760"/>
          </a:xfrm>
          <a:prstGeom prst="roundRect">
            <a:avLst>
              <a:gd name="adj" fmla="val 50000"/>
            </a:avLst>
          </a:prstGeom>
          <a:solidFill>
            <a:srgbClr val="2A9187"/>
          </a:solidFill>
          <a:ln/>
        </p:spPr>
        <p:txBody>
          <a:bodyPr/>
          <a:lstStyle/>
          <a:p>
            <a:endParaRPr/>
          </a:p>
        </p:txBody>
      </p:sp>
      <p:sp>
        <p:nvSpPr>
          <p:cNvPr id="24" name="Text 22"/>
          <p:cNvSpPr/>
          <p:nvPr/>
        </p:nvSpPr>
        <p:spPr>
          <a:xfrm>
            <a:off x="9784080" y="2176272"/>
            <a:ext cx="13716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New Request</a:t>
            </a:r>
            <a:endParaRPr lang="en-US" sz="1050" dirty="0"/>
          </a:p>
        </p:txBody>
      </p:sp>
      <p:sp>
        <p:nvSpPr>
          <p:cNvPr id="25" name="Text 23"/>
          <p:cNvSpPr/>
          <p:nvPr/>
        </p:nvSpPr>
        <p:spPr>
          <a:xfrm>
            <a:off x="3017520" y="2468880"/>
            <a:ext cx="6675120" cy="219456"/>
          </a:xfrm>
          <a:prstGeom prst="rect">
            <a:avLst/>
          </a:prstGeom>
          <a:noFill/>
          <a:ln/>
        </p:spPr>
        <p:txBody>
          <a:bodyPr wrap="square" lIns="0" tIns="0" rIns="0" bIns="0" rtlCol="0" anchor="ctr"/>
          <a:lstStyle/>
          <a:p>
            <a:pPr marL="0" indent="0">
              <a:buNone/>
            </a:pPr>
            <a:r>
              <a:rPr lang="en-US" sz="1100" dirty="0">
                <a:solidFill>
                  <a:srgbClr val="5B6584"/>
                </a:solidFill>
                <a:latin typeface="Calibri" pitchFamily="34" charset="0"/>
                <a:ea typeface="Calibri" pitchFamily="34" charset="-122"/>
                <a:cs typeface="Calibri" pitchFamily="34" charset="-120"/>
              </a:rPr>
              <a:t>Contoso Retail  ·  Customer Portal environment</a:t>
            </a:r>
            <a:endParaRPr lang="en-US" sz="1100" dirty="0"/>
          </a:p>
        </p:txBody>
      </p:sp>
      <p:sp>
        <p:nvSpPr>
          <p:cNvPr id="26" name="Shape 24"/>
          <p:cNvSpPr/>
          <p:nvPr/>
        </p:nvSpPr>
        <p:spPr>
          <a:xfrm>
            <a:off x="3017520" y="2816352"/>
            <a:ext cx="2590800" cy="548640"/>
          </a:xfrm>
          <a:prstGeom prst="roundRect">
            <a:avLst>
              <a:gd name="adj" fmla="val 10000"/>
            </a:avLst>
          </a:prstGeom>
          <a:solidFill>
            <a:srgbClr val="F4F7FC"/>
          </a:solidFill>
          <a:ln/>
        </p:spPr>
        <p:txBody>
          <a:bodyPr/>
          <a:lstStyle/>
          <a:p>
            <a:endParaRPr/>
          </a:p>
        </p:txBody>
      </p:sp>
      <p:sp>
        <p:nvSpPr>
          <p:cNvPr id="27" name="Text 25"/>
          <p:cNvSpPr/>
          <p:nvPr/>
        </p:nvSpPr>
        <p:spPr>
          <a:xfrm>
            <a:off x="3200400" y="2852928"/>
            <a:ext cx="2225040" cy="310896"/>
          </a:xfrm>
          <a:prstGeom prst="rect">
            <a:avLst/>
          </a:prstGeom>
          <a:noFill/>
          <a:ln/>
        </p:spPr>
        <p:txBody>
          <a:bodyPr wrap="square" lIns="0" tIns="0" rIns="0" bIns="0" rtlCol="0" anchor="ctr"/>
          <a:lstStyle/>
          <a:p>
            <a:pPr marL="0" indent="0">
              <a:buNone/>
            </a:pPr>
            <a:r>
              <a:rPr lang="en-US" sz="2000" b="1" dirty="0">
                <a:solidFill>
                  <a:srgbClr val="1F6E66"/>
                </a:solidFill>
                <a:latin typeface="Calibri" pitchFamily="34" charset="0"/>
                <a:ea typeface="Calibri" pitchFamily="34" charset="-122"/>
                <a:cs typeface="Calibri" pitchFamily="34" charset="-120"/>
              </a:rPr>
              <a:t>12</a:t>
            </a:r>
            <a:endParaRPr lang="en-US" sz="2000" dirty="0"/>
          </a:p>
        </p:txBody>
      </p:sp>
      <p:sp>
        <p:nvSpPr>
          <p:cNvPr id="28" name="Text 26"/>
          <p:cNvSpPr/>
          <p:nvPr/>
        </p:nvSpPr>
        <p:spPr>
          <a:xfrm>
            <a:off x="3200400" y="3163824"/>
            <a:ext cx="2225040" cy="182880"/>
          </a:xfrm>
          <a:prstGeom prst="rect">
            <a:avLst/>
          </a:prstGeom>
          <a:noFill/>
          <a:ln/>
        </p:spPr>
        <p:txBody>
          <a:bodyPr wrap="square" lIns="0" tIns="0" rIns="0" bIns="0" rtlCol="0" anchor="ctr"/>
          <a:lstStyle/>
          <a:p>
            <a:pPr marL="0" indent="0">
              <a:buNone/>
            </a:pPr>
            <a:r>
              <a:rPr lang="en-US" sz="950" dirty="0">
                <a:solidFill>
                  <a:srgbClr val="5B6584"/>
                </a:solidFill>
                <a:latin typeface="Calibri" pitchFamily="34" charset="0"/>
                <a:ea typeface="Calibri" pitchFamily="34" charset="-122"/>
                <a:cs typeface="Calibri" pitchFamily="34" charset="-120"/>
              </a:rPr>
              <a:t>Active Deployments</a:t>
            </a:r>
            <a:endParaRPr lang="en-US" sz="950" dirty="0"/>
          </a:p>
        </p:txBody>
      </p:sp>
      <p:sp>
        <p:nvSpPr>
          <p:cNvPr id="29" name="Shape 27"/>
          <p:cNvSpPr/>
          <p:nvPr/>
        </p:nvSpPr>
        <p:spPr>
          <a:xfrm>
            <a:off x="5791200" y="2816352"/>
            <a:ext cx="2590800" cy="548640"/>
          </a:xfrm>
          <a:prstGeom prst="roundRect">
            <a:avLst>
              <a:gd name="adj" fmla="val 10000"/>
            </a:avLst>
          </a:prstGeom>
          <a:solidFill>
            <a:srgbClr val="F4F7FC"/>
          </a:solidFill>
          <a:ln/>
        </p:spPr>
        <p:txBody>
          <a:bodyPr/>
          <a:lstStyle/>
          <a:p>
            <a:endParaRPr/>
          </a:p>
        </p:txBody>
      </p:sp>
      <p:sp>
        <p:nvSpPr>
          <p:cNvPr id="30" name="Text 28"/>
          <p:cNvSpPr/>
          <p:nvPr/>
        </p:nvSpPr>
        <p:spPr>
          <a:xfrm>
            <a:off x="5974080" y="2852928"/>
            <a:ext cx="2225040" cy="310896"/>
          </a:xfrm>
          <a:prstGeom prst="rect">
            <a:avLst/>
          </a:prstGeom>
          <a:noFill/>
          <a:ln/>
        </p:spPr>
        <p:txBody>
          <a:bodyPr wrap="square" lIns="0" tIns="0" rIns="0" bIns="0" rtlCol="0" anchor="ctr"/>
          <a:lstStyle/>
          <a:p>
            <a:pPr marL="0" indent="0">
              <a:buNone/>
            </a:pPr>
            <a:r>
              <a:rPr lang="en-US" sz="2000" b="1" dirty="0">
                <a:solidFill>
                  <a:srgbClr val="1F6E66"/>
                </a:solidFill>
                <a:latin typeface="Calibri" pitchFamily="34" charset="0"/>
                <a:ea typeface="Calibri" pitchFamily="34" charset="-122"/>
                <a:cs typeface="Calibri" pitchFamily="34" charset="-120"/>
              </a:rPr>
              <a:t>3</a:t>
            </a:r>
            <a:endParaRPr lang="en-US" sz="2000" dirty="0"/>
          </a:p>
        </p:txBody>
      </p:sp>
      <p:sp>
        <p:nvSpPr>
          <p:cNvPr id="31" name="Text 29"/>
          <p:cNvSpPr/>
          <p:nvPr/>
        </p:nvSpPr>
        <p:spPr>
          <a:xfrm>
            <a:off x="5974080" y="3163824"/>
            <a:ext cx="2225040" cy="182880"/>
          </a:xfrm>
          <a:prstGeom prst="rect">
            <a:avLst/>
          </a:prstGeom>
          <a:noFill/>
          <a:ln/>
        </p:spPr>
        <p:txBody>
          <a:bodyPr wrap="square" lIns="0" tIns="0" rIns="0" bIns="0" rtlCol="0" anchor="ctr"/>
          <a:lstStyle/>
          <a:p>
            <a:pPr marL="0" indent="0">
              <a:buNone/>
            </a:pPr>
            <a:r>
              <a:rPr lang="en-US" sz="950" dirty="0">
                <a:solidFill>
                  <a:srgbClr val="5B6584"/>
                </a:solidFill>
                <a:latin typeface="Calibri" pitchFamily="34" charset="0"/>
                <a:ea typeface="Calibri" pitchFamily="34" charset="-122"/>
                <a:cs typeface="Calibri" pitchFamily="34" charset="-120"/>
              </a:rPr>
              <a:t>Pending Approvals</a:t>
            </a:r>
            <a:endParaRPr lang="en-US" sz="950" dirty="0"/>
          </a:p>
        </p:txBody>
      </p:sp>
      <p:sp>
        <p:nvSpPr>
          <p:cNvPr id="32" name="Shape 30"/>
          <p:cNvSpPr/>
          <p:nvPr/>
        </p:nvSpPr>
        <p:spPr>
          <a:xfrm>
            <a:off x="8564880" y="2816352"/>
            <a:ext cx="2590800" cy="548640"/>
          </a:xfrm>
          <a:prstGeom prst="roundRect">
            <a:avLst>
              <a:gd name="adj" fmla="val 10000"/>
            </a:avLst>
          </a:prstGeom>
          <a:solidFill>
            <a:srgbClr val="F4F7FC"/>
          </a:solidFill>
          <a:ln/>
        </p:spPr>
        <p:txBody>
          <a:bodyPr/>
          <a:lstStyle/>
          <a:p>
            <a:endParaRPr/>
          </a:p>
        </p:txBody>
      </p:sp>
      <p:sp>
        <p:nvSpPr>
          <p:cNvPr id="33" name="Text 31"/>
          <p:cNvSpPr/>
          <p:nvPr/>
        </p:nvSpPr>
        <p:spPr>
          <a:xfrm>
            <a:off x="8747760" y="2852928"/>
            <a:ext cx="2225040" cy="310896"/>
          </a:xfrm>
          <a:prstGeom prst="rect">
            <a:avLst/>
          </a:prstGeom>
          <a:noFill/>
          <a:ln/>
        </p:spPr>
        <p:txBody>
          <a:bodyPr wrap="square" lIns="0" tIns="0" rIns="0" bIns="0" rtlCol="0" anchor="ctr"/>
          <a:lstStyle/>
          <a:p>
            <a:pPr marL="0" indent="0">
              <a:buNone/>
            </a:pPr>
            <a:r>
              <a:rPr lang="en-US" sz="2000" b="1" dirty="0">
                <a:solidFill>
                  <a:srgbClr val="1F6E66"/>
                </a:solidFill>
                <a:latin typeface="Calibri" pitchFamily="34" charset="0"/>
                <a:ea typeface="Calibri" pitchFamily="34" charset="-122"/>
                <a:cs typeface="Calibri" pitchFamily="34" charset="-120"/>
              </a:rPr>
              <a:t>48</a:t>
            </a:r>
            <a:endParaRPr lang="en-US" sz="2000" dirty="0"/>
          </a:p>
        </p:txBody>
      </p:sp>
      <p:sp>
        <p:nvSpPr>
          <p:cNvPr id="34" name="Text 32"/>
          <p:cNvSpPr/>
          <p:nvPr/>
        </p:nvSpPr>
        <p:spPr>
          <a:xfrm>
            <a:off x="8747760" y="3163824"/>
            <a:ext cx="2225040" cy="182880"/>
          </a:xfrm>
          <a:prstGeom prst="rect">
            <a:avLst/>
          </a:prstGeom>
          <a:noFill/>
          <a:ln/>
        </p:spPr>
        <p:txBody>
          <a:bodyPr wrap="square" lIns="0" tIns="0" rIns="0" bIns="0" rtlCol="0" anchor="ctr"/>
          <a:lstStyle/>
          <a:p>
            <a:pPr marL="0" indent="0">
              <a:buNone/>
            </a:pPr>
            <a:r>
              <a:rPr lang="en-US" sz="950" dirty="0">
                <a:solidFill>
                  <a:srgbClr val="5B6584"/>
                </a:solidFill>
                <a:latin typeface="Calibri" pitchFamily="34" charset="0"/>
                <a:ea typeface="Calibri" pitchFamily="34" charset="-122"/>
                <a:cs typeface="Calibri" pitchFamily="34" charset="-120"/>
              </a:rPr>
              <a:t>Workflows Run (30d)</a:t>
            </a:r>
            <a:endParaRPr lang="en-US" sz="950" dirty="0"/>
          </a:p>
        </p:txBody>
      </p:sp>
      <p:sp>
        <p:nvSpPr>
          <p:cNvPr id="35" name="Text 33"/>
          <p:cNvSpPr/>
          <p:nvPr/>
        </p:nvSpPr>
        <p:spPr>
          <a:xfrm>
            <a:off x="3017520" y="3511296"/>
            <a:ext cx="3657600" cy="201168"/>
          </a:xfrm>
          <a:prstGeom prst="rect">
            <a:avLst/>
          </a:prstGeom>
          <a:noFill/>
          <a:ln/>
        </p:spPr>
        <p:txBody>
          <a:bodyPr wrap="square" lIns="0" tIns="0" rIns="0" bIns="0" rtlCol="0" anchor="ctr"/>
          <a:lstStyle/>
          <a:p>
            <a:pPr marL="0" indent="0">
              <a:buNone/>
            </a:pPr>
            <a:r>
              <a:rPr lang="en-US" sz="1050" b="1" kern="0" spc="120" dirty="0">
                <a:solidFill>
                  <a:srgbClr val="1F6E66"/>
                </a:solidFill>
                <a:latin typeface="Calibri" pitchFamily="34" charset="0"/>
                <a:ea typeface="Calibri" pitchFamily="34" charset="-122"/>
                <a:cs typeface="Calibri" pitchFamily="34" charset="-120"/>
              </a:rPr>
              <a:t>QUICK ACTIONS</a:t>
            </a:r>
            <a:endParaRPr lang="en-US" sz="1050" dirty="0"/>
          </a:p>
        </p:txBody>
      </p:sp>
      <p:sp>
        <p:nvSpPr>
          <p:cNvPr id="36" name="Shape 34"/>
          <p:cNvSpPr/>
          <p:nvPr/>
        </p:nvSpPr>
        <p:spPr>
          <a:xfrm>
            <a:off x="3017520" y="3785616"/>
            <a:ext cx="2590800" cy="1188720"/>
          </a:xfrm>
          <a:prstGeom prst="roundRect">
            <a:avLst>
              <a:gd name="adj" fmla="val 3846"/>
            </a:avLst>
          </a:prstGeom>
          <a:solidFill>
            <a:srgbClr val="F4F7FC"/>
          </a:solidFill>
          <a:ln/>
        </p:spPr>
        <p:txBody>
          <a:bodyPr/>
          <a:lstStyle/>
          <a:p>
            <a:endParaRPr/>
          </a:p>
        </p:txBody>
      </p:sp>
      <p:sp>
        <p:nvSpPr>
          <p:cNvPr id="37" name="Shape 35"/>
          <p:cNvSpPr/>
          <p:nvPr/>
        </p:nvSpPr>
        <p:spPr>
          <a:xfrm>
            <a:off x="3182112" y="3931920"/>
            <a:ext cx="329184" cy="329184"/>
          </a:xfrm>
          <a:prstGeom prst="ellipse">
            <a:avLst/>
          </a:prstGeom>
          <a:solidFill>
            <a:srgbClr val="2A9187"/>
          </a:solidFill>
          <a:ln/>
        </p:spPr>
        <p:txBody>
          <a:bodyPr/>
          <a:lstStyle/>
          <a:p>
            <a:endParaRPr/>
          </a:p>
        </p:txBody>
      </p:sp>
      <p:sp>
        <p:nvSpPr>
          <p:cNvPr id="38" name="Text 36"/>
          <p:cNvSpPr/>
          <p:nvPr/>
        </p:nvSpPr>
        <p:spPr>
          <a:xfrm>
            <a:off x="3182112" y="3931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3621024" y="3931920"/>
            <a:ext cx="1822704" cy="329184"/>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Create Workflow</a:t>
            </a:r>
            <a:endParaRPr lang="en-US" sz="1200" dirty="0"/>
          </a:p>
        </p:txBody>
      </p:sp>
      <p:sp>
        <p:nvSpPr>
          <p:cNvPr id="40" name="Text 38"/>
          <p:cNvSpPr/>
          <p:nvPr/>
        </p:nvSpPr>
        <p:spPr>
          <a:xfrm>
            <a:off x="3182112" y="4315968"/>
            <a:ext cx="2261616" cy="384048"/>
          </a:xfrm>
          <a:prstGeom prst="rect">
            <a:avLst/>
          </a:prstGeom>
          <a:noFill/>
          <a:ln/>
        </p:spPr>
        <p:txBody>
          <a:bodyPr wrap="square" lIns="0" tIns="0" rIns="0" bIns="0" rtlCol="0" anchor="ctr"/>
          <a:lstStyle/>
          <a:p>
            <a:pPr marL="0" indent="0">
              <a:lnSpc>
                <a:spcPct val="112000"/>
              </a:lnSpc>
              <a:buNone/>
            </a:pPr>
            <a:r>
              <a:rPr lang="en-US" sz="950" dirty="0">
                <a:solidFill>
                  <a:srgbClr val="5B6584"/>
                </a:solidFill>
                <a:latin typeface="Calibri" pitchFamily="34" charset="0"/>
                <a:ea typeface="Calibri" pitchFamily="34" charset="-122"/>
                <a:cs typeface="Calibri" pitchFamily="34" charset="-120"/>
              </a:rPr>
              <a:t>Start a new deployment pipeline from scratch.</a:t>
            </a:r>
            <a:endParaRPr lang="en-US" sz="950" dirty="0"/>
          </a:p>
        </p:txBody>
      </p:sp>
      <p:sp>
        <p:nvSpPr>
          <p:cNvPr id="41" name="Text 39"/>
          <p:cNvSpPr/>
          <p:nvPr/>
        </p:nvSpPr>
        <p:spPr>
          <a:xfrm>
            <a:off x="3182112" y="4663440"/>
            <a:ext cx="2261616" cy="219456"/>
          </a:xfrm>
          <a:prstGeom prst="rect">
            <a:avLst/>
          </a:prstGeom>
          <a:noFill/>
          <a:ln/>
        </p:spPr>
        <p:txBody>
          <a:bodyPr wrap="square" lIns="0" tIns="0" rIns="0" bIns="0" rtlCol="0" anchor="ctr"/>
          <a:lstStyle/>
          <a:p>
            <a:pPr marL="0" indent="0">
              <a:buNone/>
            </a:pPr>
            <a:r>
              <a:rPr lang="en-US" sz="1000" b="1" dirty="0">
                <a:solidFill>
                  <a:srgbClr val="1F6E66"/>
                </a:solidFill>
                <a:latin typeface="Calibri" pitchFamily="34" charset="0"/>
                <a:ea typeface="Calibri" pitchFamily="34" charset="-122"/>
                <a:cs typeface="Calibri" pitchFamily="34" charset="-120"/>
              </a:rPr>
              <a:t>Start  →</a:t>
            </a:r>
            <a:endParaRPr lang="en-US" sz="1000" dirty="0"/>
          </a:p>
        </p:txBody>
      </p:sp>
      <p:sp>
        <p:nvSpPr>
          <p:cNvPr id="42" name="Shape 40"/>
          <p:cNvSpPr/>
          <p:nvPr/>
        </p:nvSpPr>
        <p:spPr>
          <a:xfrm>
            <a:off x="5791200" y="3785616"/>
            <a:ext cx="2590800" cy="1188720"/>
          </a:xfrm>
          <a:prstGeom prst="roundRect">
            <a:avLst>
              <a:gd name="adj" fmla="val 3846"/>
            </a:avLst>
          </a:prstGeom>
          <a:solidFill>
            <a:srgbClr val="F4F7FC"/>
          </a:solidFill>
          <a:ln/>
        </p:spPr>
        <p:txBody>
          <a:bodyPr/>
          <a:lstStyle/>
          <a:p>
            <a:endParaRPr/>
          </a:p>
        </p:txBody>
      </p:sp>
      <p:sp>
        <p:nvSpPr>
          <p:cNvPr id="43" name="Shape 41"/>
          <p:cNvSpPr/>
          <p:nvPr/>
        </p:nvSpPr>
        <p:spPr>
          <a:xfrm>
            <a:off x="5955792" y="3931920"/>
            <a:ext cx="329184" cy="329184"/>
          </a:xfrm>
          <a:prstGeom prst="ellipse">
            <a:avLst/>
          </a:prstGeom>
          <a:solidFill>
            <a:srgbClr val="2A9187"/>
          </a:solidFill>
          <a:ln/>
        </p:spPr>
        <p:txBody>
          <a:bodyPr/>
          <a:lstStyle/>
          <a:p>
            <a:endParaRPr/>
          </a:p>
        </p:txBody>
      </p:sp>
      <p:sp>
        <p:nvSpPr>
          <p:cNvPr id="44" name="Shape 42"/>
          <p:cNvSpPr/>
          <p:nvPr/>
        </p:nvSpPr>
        <p:spPr>
          <a:xfrm rot="5400000">
            <a:off x="6065520" y="4014216"/>
            <a:ext cx="118872" cy="164592"/>
          </a:xfrm>
          <a:prstGeom prst="triangle">
            <a:avLst/>
          </a:prstGeom>
          <a:solidFill>
            <a:srgbClr val="FFFFFF"/>
          </a:solidFill>
          <a:ln/>
        </p:spPr>
        <p:txBody>
          <a:bodyPr/>
          <a:lstStyle/>
          <a:p>
            <a:endParaRPr/>
          </a:p>
        </p:txBody>
      </p:sp>
      <p:sp>
        <p:nvSpPr>
          <p:cNvPr id="45" name="Text 43"/>
          <p:cNvSpPr/>
          <p:nvPr/>
        </p:nvSpPr>
        <p:spPr>
          <a:xfrm>
            <a:off x="6394704" y="3931920"/>
            <a:ext cx="1822704" cy="329184"/>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Run Existing Workflow</a:t>
            </a:r>
            <a:endParaRPr lang="en-US" sz="1200" dirty="0"/>
          </a:p>
        </p:txBody>
      </p:sp>
      <p:sp>
        <p:nvSpPr>
          <p:cNvPr id="46" name="Text 44"/>
          <p:cNvSpPr/>
          <p:nvPr/>
        </p:nvSpPr>
        <p:spPr>
          <a:xfrm>
            <a:off x="5955792" y="4315968"/>
            <a:ext cx="2261616" cy="384048"/>
          </a:xfrm>
          <a:prstGeom prst="rect">
            <a:avLst/>
          </a:prstGeom>
          <a:noFill/>
          <a:ln/>
        </p:spPr>
        <p:txBody>
          <a:bodyPr wrap="square" lIns="0" tIns="0" rIns="0" bIns="0" rtlCol="0" anchor="ctr"/>
          <a:lstStyle/>
          <a:p>
            <a:pPr marL="0" indent="0">
              <a:lnSpc>
                <a:spcPct val="112000"/>
              </a:lnSpc>
              <a:buNone/>
            </a:pPr>
            <a:r>
              <a:rPr lang="en-US" sz="950" dirty="0">
                <a:solidFill>
                  <a:srgbClr val="5B6584"/>
                </a:solidFill>
                <a:latin typeface="Calibri" pitchFamily="34" charset="0"/>
                <a:ea typeface="Calibri" pitchFamily="34" charset="-122"/>
                <a:cs typeface="Calibri" pitchFamily="34" charset="-120"/>
              </a:rPr>
              <a:t>Submit a request against a saved template.</a:t>
            </a:r>
            <a:endParaRPr lang="en-US" sz="950" dirty="0"/>
          </a:p>
        </p:txBody>
      </p:sp>
      <p:sp>
        <p:nvSpPr>
          <p:cNvPr id="47" name="Text 45"/>
          <p:cNvSpPr/>
          <p:nvPr/>
        </p:nvSpPr>
        <p:spPr>
          <a:xfrm>
            <a:off x="5955792" y="4663440"/>
            <a:ext cx="2261616" cy="219456"/>
          </a:xfrm>
          <a:prstGeom prst="rect">
            <a:avLst/>
          </a:prstGeom>
          <a:noFill/>
          <a:ln/>
        </p:spPr>
        <p:txBody>
          <a:bodyPr wrap="square" lIns="0" tIns="0" rIns="0" bIns="0" rtlCol="0" anchor="ctr"/>
          <a:lstStyle/>
          <a:p>
            <a:pPr marL="0" indent="0">
              <a:buNone/>
            </a:pPr>
            <a:r>
              <a:rPr lang="en-US" sz="1000" b="1" dirty="0">
                <a:solidFill>
                  <a:srgbClr val="1F6E66"/>
                </a:solidFill>
                <a:latin typeface="Calibri" pitchFamily="34" charset="0"/>
                <a:ea typeface="Calibri" pitchFamily="34" charset="-122"/>
                <a:cs typeface="Calibri" pitchFamily="34" charset="-120"/>
              </a:rPr>
              <a:t>Submit  →</a:t>
            </a:r>
            <a:endParaRPr lang="en-US" sz="1000" dirty="0"/>
          </a:p>
        </p:txBody>
      </p:sp>
      <p:sp>
        <p:nvSpPr>
          <p:cNvPr id="48" name="Shape 46"/>
          <p:cNvSpPr/>
          <p:nvPr/>
        </p:nvSpPr>
        <p:spPr>
          <a:xfrm>
            <a:off x="8564880" y="3785616"/>
            <a:ext cx="2590800" cy="1188720"/>
          </a:xfrm>
          <a:prstGeom prst="roundRect">
            <a:avLst>
              <a:gd name="adj" fmla="val 3846"/>
            </a:avLst>
          </a:prstGeom>
          <a:solidFill>
            <a:srgbClr val="F4F7FC"/>
          </a:solidFill>
          <a:ln/>
        </p:spPr>
        <p:txBody>
          <a:bodyPr/>
          <a:lstStyle/>
          <a:p>
            <a:endParaRPr/>
          </a:p>
        </p:txBody>
      </p:sp>
      <p:sp>
        <p:nvSpPr>
          <p:cNvPr id="49" name="Shape 47"/>
          <p:cNvSpPr/>
          <p:nvPr/>
        </p:nvSpPr>
        <p:spPr>
          <a:xfrm>
            <a:off x="8729472" y="3931920"/>
            <a:ext cx="329184" cy="329184"/>
          </a:xfrm>
          <a:prstGeom prst="ellipse">
            <a:avLst/>
          </a:prstGeom>
          <a:solidFill>
            <a:srgbClr val="2A9187"/>
          </a:solidFill>
          <a:ln/>
        </p:spPr>
        <p:txBody>
          <a:bodyPr/>
          <a:lstStyle/>
          <a:p>
            <a:endParaRPr/>
          </a:p>
        </p:txBody>
      </p:sp>
      <p:sp>
        <p:nvSpPr>
          <p:cNvPr id="50" name="Text 48"/>
          <p:cNvSpPr/>
          <p:nvPr/>
        </p:nvSpPr>
        <p:spPr>
          <a:xfrm>
            <a:off x="8729472" y="3931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1" name="Text 49"/>
          <p:cNvSpPr/>
          <p:nvPr/>
        </p:nvSpPr>
        <p:spPr>
          <a:xfrm>
            <a:off x="9168384" y="3931920"/>
            <a:ext cx="1822704" cy="329184"/>
          </a:xfrm>
          <a:prstGeom prst="rect">
            <a:avLst/>
          </a:prstGeom>
          <a:noFill/>
          <a:ln/>
        </p:spPr>
        <p:txBody>
          <a:bodyPr wrap="square" lIns="0" tIns="0" rIns="0" bIns="0" rtlCol="0" anchor="ctr"/>
          <a:lstStyle/>
          <a:p>
            <a:pPr marL="0" indent="0">
              <a:buNone/>
            </a:pPr>
            <a:r>
              <a:rPr lang="en-US" sz="1200" b="1" dirty="0">
                <a:solidFill>
                  <a:srgbClr val="1B1F3B"/>
                </a:solidFill>
                <a:latin typeface="Calibri" pitchFamily="34" charset="0"/>
                <a:ea typeface="Calibri" pitchFamily="34" charset="-122"/>
                <a:cs typeface="Calibri" pitchFamily="34" charset="-120"/>
              </a:rPr>
              <a:t>Check Deployments</a:t>
            </a:r>
            <a:endParaRPr lang="en-US" sz="1200" dirty="0"/>
          </a:p>
        </p:txBody>
      </p:sp>
      <p:sp>
        <p:nvSpPr>
          <p:cNvPr id="52" name="Text 50"/>
          <p:cNvSpPr/>
          <p:nvPr/>
        </p:nvSpPr>
        <p:spPr>
          <a:xfrm>
            <a:off x="8729472" y="4315968"/>
            <a:ext cx="2261616" cy="384048"/>
          </a:xfrm>
          <a:prstGeom prst="rect">
            <a:avLst/>
          </a:prstGeom>
          <a:noFill/>
          <a:ln/>
        </p:spPr>
        <p:txBody>
          <a:bodyPr wrap="square" lIns="0" tIns="0" rIns="0" bIns="0" rtlCol="0" anchor="ctr"/>
          <a:lstStyle/>
          <a:p>
            <a:pPr marL="0" indent="0">
              <a:lnSpc>
                <a:spcPct val="112000"/>
              </a:lnSpc>
              <a:buNone/>
            </a:pPr>
            <a:r>
              <a:rPr lang="en-US" sz="950" dirty="0">
                <a:solidFill>
                  <a:srgbClr val="5B6584"/>
                </a:solidFill>
                <a:latin typeface="Calibri" pitchFamily="34" charset="0"/>
                <a:ea typeface="Calibri" pitchFamily="34" charset="-122"/>
                <a:cs typeface="Calibri" pitchFamily="34" charset="-120"/>
              </a:rPr>
              <a:t>Live status across every environment.</a:t>
            </a:r>
            <a:endParaRPr lang="en-US" sz="950" dirty="0"/>
          </a:p>
        </p:txBody>
      </p:sp>
      <p:sp>
        <p:nvSpPr>
          <p:cNvPr id="53" name="Text 51"/>
          <p:cNvSpPr/>
          <p:nvPr/>
        </p:nvSpPr>
        <p:spPr>
          <a:xfrm>
            <a:off x="8729472" y="4663440"/>
            <a:ext cx="2261616" cy="219456"/>
          </a:xfrm>
          <a:prstGeom prst="rect">
            <a:avLst/>
          </a:prstGeom>
          <a:noFill/>
          <a:ln/>
        </p:spPr>
        <p:txBody>
          <a:bodyPr wrap="square" lIns="0" tIns="0" rIns="0" bIns="0" rtlCol="0" anchor="ctr"/>
          <a:lstStyle/>
          <a:p>
            <a:pPr marL="0" indent="0">
              <a:buNone/>
            </a:pPr>
            <a:r>
              <a:rPr lang="en-US" sz="1000" b="1" dirty="0">
                <a:solidFill>
                  <a:srgbClr val="1F6E66"/>
                </a:solidFill>
                <a:latin typeface="Calibri" pitchFamily="34" charset="0"/>
                <a:ea typeface="Calibri" pitchFamily="34" charset="-122"/>
                <a:cs typeface="Calibri" pitchFamily="34" charset="-120"/>
              </a:rPr>
              <a:t>View  →</a:t>
            </a:r>
            <a:endParaRPr lang="en-US" sz="1000" dirty="0"/>
          </a:p>
        </p:txBody>
      </p:sp>
      <p:sp>
        <p:nvSpPr>
          <p:cNvPr id="54" name="Text 52"/>
          <p:cNvSpPr/>
          <p:nvPr/>
        </p:nvSpPr>
        <p:spPr>
          <a:xfrm>
            <a:off x="3017520" y="5102352"/>
            <a:ext cx="3657600" cy="201168"/>
          </a:xfrm>
          <a:prstGeom prst="rect">
            <a:avLst/>
          </a:prstGeom>
          <a:noFill/>
          <a:ln/>
        </p:spPr>
        <p:txBody>
          <a:bodyPr wrap="square" lIns="0" tIns="0" rIns="0" bIns="0" rtlCol="0" anchor="ctr"/>
          <a:lstStyle/>
          <a:p>
            <a:pPr marL="0" indent="0">
              <a:buNone/>
            </a:pPr>
            <a:r>
              <a:rPr lang="en-US" sz="1050" b="1" kern="0" spc="120" dirty="0">
                <a:solidFill>
                  <a:srgbClr val="1F6E66"/>
                </a:solidFill>
                <a:latin typeface="Calibri" pitchFamily="34" charset="0"/>
                <a:ea typeface="Calibri" pitchFamily="34" charset="-122"/>
                <a:cs typeface="Calibri" pitchFamily="34" charset="-120"/>
              </a:rPr>
              <a:t>RECENT ACTIVITY</a:t>
            </a:r>
            <a:endParaRPr lang="en-US" sz="1050" dirty="0"/>
          </a:p>
        </p:txBody>
      </p:sp>
      <p:sp>
        <p:nvSpPr>
          <p:cNvPr id="55" name="Shape 53"/>
          <p:cNvSpPr/>
          <p:nvPr/>
        </p:nvSpPr>
        <p:spPr>
          <a:xfrm>
            <a:off x="3017520" y="5358384"/>
            <a:ext cx="8138160" cy="292608"/>
          </a:xfrm>
          <a:prstGeom prst="rect">
            <a:avLst/>
          </a:prstGeom>
          <a:solidFill>
            <a:srgbClr val="F4F7FC"/>
          </a:solidFill>
          <a:ln/>
        </p:spPr>
        <p:txBody>
          <a:bodyPr/>
          <a:lstStyle/>
          <a:p>
            <a:endParaRPr/>
          </a:p>
        </p:txBody>
      </p:sp>
      <p:sp>
        <p:nvSpPr>
          <p:cNvPr id="56" name="Text 54"/>
          <p:cNvSpPr/>
          <p:nvPr/>
        </p:nvSpPr>
        <p:spPr>
          <a:xfrm>
            <a:off x="3154680" y="5358384"/>
            <a:ext cx="5760720" cy="292608"/>
          </a:xfrm>
          <a:prstGeom prst="rect">
            <a:avLst/>
          </a:prstGeom>
          <a:noFill/>
          <a:ln/>
        </p:spPr>
        <p:txBody>
          <a:bodyPr wrap="square" lIns="0" tIns="0" rIns="0" bIns="0" rtlCol="0" anchor="ctr"/>
          <a:lstStyle/>
          <a:p>
            <a:pPr marL="0" indent="0">
              <a:buNone/>
            </a:pPr>
            <a:r>
              <a:rPr lang="en-US" sz="1050" dirty="0">
                <a:solidFill>
                  <a:srgbClr val="1B1F3B"/>
                </a:solidFill>
                <a:latin typeface="Calibri" pitchFamily="34" charset="0"/>
                <a:ea typeface="Calibri" pitchFamily="34" charset="-122"/>
                <a:cs typeface="Calibri" pitchFamily="34" charset="-120"/>
              </a:rPr>
              <a:t>Customer Portal — Release 2.4.1</a:t>
            </a:r>
            <a:endParaRPr lang="en-US" sz="1050" dirty="0"/>
          </a:p>
        </p:txBody>
      </p:sp>
      <p:sp>
        <p:nvSpPr>
          <p:cNvPr id="57" name="Text 55"/>
          <p:cNvSpPr/>
          <p:nvPr/>
        </p:nvSpPr>
        <p:spPr>
          <a:xfrm>
            <a:off x="8961120" y="5358384"/>
            <a:ext cx="822960" cy="292608"/>
          </a:xfrm>
          <a:prstGeom prst="rect">
            <a:avLst/>
          </a:prstGeom>
          <a:noFill/>
          <a:ln/>
        </p:spPr>
        <p:txBody>
          <a:bodyPr wrap="square" lIns="0" tIns="0" rIns="0" bIns="0" rtlCol="0" anchor="ctr"/>
          <a:lstStyle/>
          <a:p>
            <a:pPr marL="0" indent="0">
              <a:buNone/>
            </a:pPr>
            <a:r>
              <a:rPr lang="en-US" sz="1000" dirty="0">
                <a:solidFill>
                  <a:srgbClr val="5B6584"/>
                </a:solidFill>
                <a:latin typeface="Calibri" pitchFamily="34" charset="0"/>
                <a:ea typeface="Calibri" pitchFamily="34" charset="-122"/>
                <a:cs typeface="Calibri" pitchFamily="34" charset="-120"/>
              </a:rPr>
              <a:t>UAT</a:t>
            </a:r>
            <a:endParaRPr lang="en-US" sz="1000" dirty="0"/>
          </a:p>
        </p:txBody>
      </p:sp>
      <p:sp>
        <p:nvSpPr>
          <p:cNvPr id="58" name="Shape 56"/>
          <p:cNvSpPr/>
          <p:nvPr/>
        </p:nvSpPr>
        <p:spPr>
          <a:xfrm>
            <a:off x="9921240" y="5394960"/>
            <a:ext cx="1097280" cy="219456"/>
          </a:xfrm>
          <a:prstGeom prst="roundRect">
            <a:avLst>
              <a:gd name="adj" fmla="val 208333"/>
            </a:avLst>
          </a:prstGeom>
          <a:solidFill>
            <a:srgbClr val="C69749"/>
          </a:solidFill>
          <a:ln/>
        </p:spPr>
        <p:txBody>
          <a:bodyPr/>
          <a:lstStyle/>
          <a:p>
            <a:endParaRPr/>
          </a:p>
        </p:txBody>
      </p:sp>
      <p:sp>
        <p:nvSpPr>
          <p:cNvPr id="59" name="Text 57"/>
          <p:cNvSpPr/>
          <p:nvPr/>
        </p:nvSpPr>
        <p:spPr>
          <a:xfrm>
            <a:off x="9921240" y="53949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 Progress</a:t>
            </a:r>
            <a:endParaRPr lang="en-US" sz="900" dirty="0"/>
          </a:p>
        </p:txBody>
      </p:sp>
      <p:sp>
        <p:nvSpPr>
          <p:cNvPr id="60" name="Text 58"/>
          <p:cNvSpPr/>
          <p:nvPr/>
        </p:nvSpPr>
        <p:spPr>
          <a:xfrm>
            <a:off x="3154680" y="5650992"/>
            <a:ext cx="5760720" cy="292608"/>
          </a:xfrm>
          <a:prstGeom prst="rect">
            <a:avLst/>
          </a:prstGeom>
          <a:noFill/>
          <a:ln/>
        </p:spPr>
        <p:txBody>
          <a:bodyPr wrap="square" lIns="0" tIns="0" rIns="0" bIns="0" rtlCol="0" anchor="ctr"/>
          <a:lstStyle/>
          <a:p>
            <a:pPr marL="0" indent="0">
              <a:buNone/>
            </a:pPr>
            <a:r>
              <a:rPr lang="en-US" sz="1050" dirty="0">
                <a:solidFill>
                  <a:srgbClr val="1B1F3B"/>
                </a:solidFill>
                <a:latin typeface="Calibri" pitchFamily="34" charset="0"/>
                <a:ea typeface="Calibri" pitchFamily="34" charset="-122"/>
                <a:cs typeface="Calibri" pitchFamily="34" charset="-120"/>
              </a:rPr>
              <a:t>Orders API — Release 1.9.0</a:t>
            </a:r>
            <a:endParaRPr lang="en-US" sz="1050" dirty="0"/>
          </a:p>
        </p:txBody>
      </p:sp>
      <p:sp>
        <p:nvSpPr>
          <p:cNvPr id="61" name="Text 59"/>
          <p:cNvSpPr/>
          <p:nvPr/>
        </p:nvSpPr>
        <p:spPr>
          <a:xfrm>
            <a:off x="8961120" y="5650992"/>
            <a:ext cx="822960" cy="292608"/>
          </a:xfrm>
          <a:prstGeom prst="rect">
            <a:avLst/>
          </a:prstGeom>
          <a:noFill/>
          <a:ln/>
        </p:spPr>
        <p:txBody>
          <a:bodyPr wrap="square" lIns="0" tIns="0" rIns="0" bIns="0" rtlCol="0" anchor="ctr"/>
          <a:lstStyle/>
          <a:p>
            <a:pPr marL="0" indent="0">
              <a:buNone/>
            </a:pPr>
            <a:r>
              <a:rPr lang="en-US" sz="1000" dirty="0">
                <a:solidFill>
                  <a:srgbClr val="5B6584"/>
                </a:solidFill>
                <a:latin typeface="Calibri" pitchFamily="34" charset="0"/>
                <a:ea typeface="Calibri" pitchFamily="34" charset="-122"/>
                <a:cs typeface="Calibri" pitchFamily="34" charset="-120"/>
              </a:rPr>
              <a:t>PROD</a:t>
            </a:r>
            <a:endParaRPr lang="en-US" sz="1000" dirty="0"/>
          </a:p>
        </p:txBody>
      </p:sp>
      <p:sp>
        <p:nvSpPr>
          <p:cNvPr id="62" name="Shape 60"/>
          <p:cNvSpPr/>
          <p:nvPr/>
        </p:nvSpPr>
        <p:spPr>
          <a:xfrm>
            <a:off x="9921240" y="5687568"/>
            <a:ext cx="1097280" cy="219456"/>
          </a:xfrm>
          <a:prstGeom prst="roundRect">
            <a:avLst>
              <a:gd name="adj" fmla="val 208333"/>
            </a:avLst>
          </a:prstGeom>
          <a:solidFill>
            <a:srgbClr val="2A9187"/>
          </a:solidFill>
          <a:ln/>
        </p:spPr>
        <p:txBody>
          <a:bodyPr/>
          <a:lstStyle/>
          <a:p>
            <a:endParaRPr/>
          </a:p>
        </p:txBody>
      </p:sp>
      <p:sp>
        <p:nvSpPr>
          <p:cNvPr id="63" name="Text 61"/>
          <p:cNvSpPr/>
          <p:nvPr/>
        </p:nvSpPr>
        <p:spPr>
          <a:xfrm>
            <a:off x="9921240" y="5687568"/>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Deployed</a:t>
            </a:r>
            <a:endParaRPr lang="en-US" sz="900" dirty="0"/>
          </a:p>
        </p:txBody>
      </p:sp>
      <p:sp>
        <p:nvSpPr>
          <p:cNvPr id="64" name="Text 62"/>
          <p:cNvSpPr/>
          <p:nvPr/>
        </p:nvSpPr>
        <p:spPr>
          <a:xfrm>
            <a:off x="457200" y="6519672"/>
            <a:ext cx="8229600" cy="274320"/>
          </a:xfrm>
          <a:prstGeom prst="rect">
            <a:avLst/>
          </a:prstGeom>
          <a:noFill/>
          <a:ln/>
        </p:spPr>
        <p:txBody>
          <a:bodyPr wrap="square" lIns="0" tIns="0" rIns="0" bIns="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65" name="Text 63"/>
          <p:cNvSpPr/>
          <p:nvPr/>
        </p:nvSpPr>
        <p:spPr>
          <a:xfrm>
            <a:off x="11274552" y="6519672"/>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16</a:t>
            </a:r>
            <a:endParaRPr lang="en-US" sz="1000" dirty="0"/>
          </a:p>
        </p:txBody>
      </p:sp>
    </p:spTree>
    <p:extLst>
      <p:ext uri="{BB962C8B-B14F-4D97-AF65-F5344CB8AC3E}">
        <p14:creationId xmlns:p14="http://schemas.microsoft.com/office/powerpoint/2010/main" val="2303064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SAMPLE UI</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Admin Console — Deployment Phases &amp; Approvals</a:t>
            </a:r>
            <a:endParaRPr lang="en-US" sz="2600"/>
          </a:p>
        </p:txBody>
      </p:sp>
      <p:sp>
        <p:nvSpPr>
          <p:cNvPr id="4" name="Shape 2"/>
          <p:cNvSpPr/>
          <p:nvPr/>
        </p:nvSpPr>
        <p:spPr>
          <a:xfrm>
            <a:off x="548640" y="1325880"/>
            <a:ext cx="10881360" cy="402336"/>
          </a:xfrm>
          <a:prstGeom prst="roundRect">
            <a:avLst>
              <a:gd name="adj" fmla="val 18182"/>
            </a:avLst>
          </a:prstGeom>
          <a:solidFill>
            <a:srgbClr val="1E2761"/>
          </a:solidFill>
          <a:ln/>
        </p:spPr>
        <p:txBody>
          <a:bodyPr/>
          <a:lstStyle/>
          <a:p>
            <a:endParaRPr/>
          </a:p>
        </p:txBody>
      </p:sp>
      <p:sp>
        <p:nvSpPr>
          <p:cNvPr id="5" name="Shape 3"/>
          <p:cNvSpPr/>
          <p:nvPr/>
        </p:nvSpPr>
        <p:spPr>
          <a:xfrm>
            <a:off x="749808" y="1472184"/>
            <a:ext cx="109728" cy="109728"/>
          </a:xfrm>
          <a:prstGeom prst="ellipse">
            <a:avLst/>
          </a:prstGeom>
          <a:solidFill>
            <a:srgbClr val="E0475A"/>
          </a:solidFill>
          <a:ln/>
        </p:spPr>
        <p:txBody>
          <a:bodyPr/>
          <a:lstStyle/>
          <a:p>
            <a:endParaRPr/>
          </a:p>
        </p:txBody>
      </p:sp>
      <p:sp>
        <p:nvSpPr>
          <p:cNvPr id="6" name="Shape 4"/>
          <p:cNvSpPr/>
          <p:nvPr/>
        </p:nvSpPr>
        <p:spPr>
          <a:xfrm>
            <a:off x="969264" y="1472184"/>
            <a:ext cx="109728" cy="109728"/>
          </a:xfrm>
          <a:prstGeom prst="ellipse">
            <a:avLst/>
          </a:prstGeom>
          <a:solidFill>
            <a:srgbClr val="E0A93E"/>
          </a:solidFill>
          <a:ln/>
        </p:spPr>
        <p:txBody>
          <a:bodyPr/>
          <a:lstStyle/>
          <a:p>
            <a:endParaRPr/>
          </a:p>
        </p:txBody>
      </p:sp>
      <p:sp>
        <p:nvSpPr>
          <p:cNvPr id="7" name="Shape 5"/>
          <p:cNvSpPr/>
          <p:nvPr/>
        </p:nvSpPr>
        <p:spPr>
          <a:xfrm>
            <a:off x="1188720" y="1472184"/>
            <a:ext cx="109728" cy="109728"/>
          </a:xfrm>
          <a:prstGeom prst="ellipse">
            <a:avLst/>
          </a:prstGeom>
          <a:solidFill>
            <a:srgbClr val="00B8A9"/>
          </a:solidFill>
          <a:ln/>
        </p:spPr>
        <p:txBody>
          <a:bodyPr/>
          <a:lstStyle/>
          <a:p>
            <a:endParaRPr/>
          </a:p>
        </p:txBody>
      </p:sp>
      <p:sp>
        <p:nvSpPr>
          <p:cNvPr id="8" name="Text 6"/>
          <p:cNvSpPr/>
          <p:nvPr/>
        </p:nvSpPr>
        <p:spPr>
          <a:xfrm>
            <a:off x="1554480" y="1325880"/>
            <a:ext cx="9692640" cy="402336"/>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DaaS Admin  ·  Contoso Retail  ·  Configuration</a:t>
            </a:r>
            <a:endParaRPr lang="en-US" sz="1100"/>
          </a:p>
        </p:txBody>
      </p:sp>
      <p:sp>
        <p:nvSpPr>
          <p:cNvPr id="9" name="Shape 7"/>
          <p:cNvSpPr/>
          <p:nvPr/>
        </p:nvSpPr>
        <p:spPr>
          <a:xfrm>
            <a:off x="548640" y="1728216"/>
            <a:ext cx="10881360" cy="4215384"/>
          </a:xfrm>
          <a:prstGeom prst="roundRect">
            <a:avLst>
              <a:gd name="adj" fmla="val 1735"/>
            </a:avLst>
          </a:prstGeom>
          <a:solidFill>
            <a:srgbClr val="FFFFFF"/>
          </a:solidFill>
          <a:ln/>
          <a:effectLst>
            <a:outerShdw blurRad="101600" dist="38100" dir="5400000" algn="bl" rotWithShape="0">
              <a:srgbClr val="1B1F3B">
                <a:alpha val="15000"/>
              </a:srgbClr>
            </a:outerShdw>
          </a:effectLst>
        </p:spPr>
        <p:txBody>
          <a:bodyPr/>
          <a:lstStyle/>
          <a:p>
            <a:endParaRPr/>
          </a:p>
        </p:txBody>
      </p:sp>
      <p:sp>
        <p:nvSpPr>
          <p:cNvPr id="10" name="Shape 8"/>
          <p:cNvSpPr/>
          <p:nvPr/>
        </p:nvSpPr>
        <p:spPr>
          <a:xfrm>
            <a:off x="548640" y="1728216"/>
            <a:ext cx="2194560" cy="4215384"/>
          </a:xfrm>
          <a:prstGeom prst="rect">
            <a:avLst/>
          </a:prstGeom>
          <a:solidFill>
            <a:srgbClr val="F4F7FC"/>
          </a:solidFill>
          <a:ln/>
        </p:spPr>
        <p:txBody>
          <a:bodyPr/>
          <a:lstStyle/>
          <a:p>
            <a:endParaRPr/>
          </a:p>
        </p:txBody>
      </p:sp>
      <p:sp>
        <p:nvSpPr>
          <p:cNvPr id="11" name="Text 9"/>
          <p:cNvSpPr/>
          <p:nvPr/>
        </p:nvSpPr>
        <p:spPr>
          <a:xfrm>
            <a:off x="804672" y="18928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Connections</a:t>
            </a:r>
            <a:endParaRPr lang="en-US" sz="1050"/>
          </a:p>
        </p:txBody>
      </p:sp>
      <p:sp>
        <p:nvSpPr>
          <p:cNvPr id="12" name="Text 10"/>
          <p:cNvSpPr/>
          <p:nvPr/>
        </p:nvSpPr>
        <p:spPr>
          <a:xfrm>
            <a:off x="804672" y="23500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Users &amp; Access</a:t>
            </a:r>
            <a:endParaRPr lang="en-US" sz="1050"/>
          </a:p>
        </p:txBody>
      </p:sp>
      <p:sp>
        <p:nvSpPr>
          <p:cNvPr id="13" name="Shape 11"/>
          <p:cNvSpPr/>
          <p:nvPr/>
        </p:nvSpPr>
        <p:spPr>
          <a:xfrm>
            <a:off x="658368" y="2807208"/>
            <a:ext cx="1975104" cy="402336"/>
          </a:xfrm>
          <a:prstGeom prst="roundRect">
            <a:avLst>
              <a:gd name="adj" fmla="val 11364"/>
            </a:avLst>
          </a:prstGeom>
          <a:solidFill>
            <a:srgbClr val="1E2761"/>
          </a:solidFill>
          <a:ln/>
        </p:spPr>
        <p:txBody>
          <a:bodyPr/>
          <a:lstStyle/>
          <a:p>
            <a:endParaRPr/>
          </a:p>
        </p:txBody>
      </p:sp>
      <p:sp>
        <p:nvSpPr>
          <p:cNvPr id="14" name="Text 12"/>
          <p:cNvSpPr/>
          <p:nvPr/>
        </p:nvSpPr>
        <p:spPr>
          <a:xfrm>
            <a:off x="804672" y="2807208"/>
            <a:ext cx="1828800" cy="402336"/>
          </a:xfrm>
          <a:prstGeom prst="rect">
            <a:avLst/>
          </a:prstGeom>
          <a:noFill/>
          <a:ln/>
        </p:spPr>
        <p:txBody>
          <a:bodyPr wrap="square" rtlCol="0" anchor="ctr"/>
          <a:lstStyle/>
          <a:p>
            <a:pPr marL="0" indent="0">
              <a:buNone/>
            </a:pPr>
            <a:r>
              <a:rPr lang="en-US" sz="1050" b="1">
                <a:solidFill>
                  <a:srgbClr val="FFFFFF"/>
                </a:solidFill>
                <a:latin typeface="Calibri" pitchFamily="34" charset="0"/>
                <a:ea typeface="Calibri" pitchFamily="34" charset="-122"/>
                <a:cs typeface="Calibri" pitchFamily="34" charset="-120"/>
              </a:rPr>
              <a:t>Deployment Phases</a:t>
            </a:r>
            <a:endParaRPr lang="en-US" sz="1050"/>
          </a:p>
        </p:txBody>
      </p:sp>
      <p:sp>
        <p:nvSpPr>
          <p:cNvPr id="15" name="Text 13"/>
          <p:cNvSpPr/>
          <p:nvPr/>
        </p:nvSpPr>
        <p:spPr>
          <a:xfrm>
            <a:off x="804672" y="32644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Templates</a:t>
            </a:r>
            <a:endParaRPr lang="en-US" sz="1050"/>
          </a:p>
        </p:txBody>
      </p:sp>
      <p:sp>
        <p:nvSpPr>
          <p:cNvPr id="16" name="Text 14"/>
          <p:cNvSpPr/>
          <p:nvPr/>
        </p:nvSpPr>
        <p:spPr>
          <a:xfrm>
            <a:off x="804672" y="37216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Approvals</a:t>
            </a:r>
            <a:endParaRPr lang="en-US" sz="1050"/>
          </a:p>
        </p:txBody>
      </p:sp>
      <p:sp>
        <p:nvSpPr>
          <p:cNvPr id="17" name="Text 15"/>
          <p:cNvSpPr/>
          <p:nvPr/>
        </p:nvSpPr>
        <p:spPr>
          <a:xfrm>
            <a:off x="804672" y="41788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Notifications</a:t>
            </a:r>
            <a:endParaRPr lang="en-US" sz="1050"/>
          </a:p>
        </p:txBody>
      </p:sp>
      <p:sp>
        <p:nvSpPr>
          <p:cNvPr id="18" name="Text 16"/>
          <p:cNvSpPr/>
          <p:nvPr/>
        </p:nvSpPr>
        <p:spPr>
          <a:xfrm>
            <a:off x="804672" y="4636008"/>
            <a:ext cx="1828800" cy="402336"/>
          </a:xfrm>
          <a:prstGeom prst="rect">
            <a:avLst/>
          </a:prstGeom>
          <a:noFill/>
          <a:ln/>
        </p:spPr>
        <p:txBody>
          <a:bodyPr wrap="square" rtlCol="0" anchor="ctr"/>
          <a:lstStyle/>
          <a:p>
            <a:pPr marL="0" indent="0">
              <a:buNone/>
            </a:pPr>
            <a:r>
              <a:rPr lang="en-US" sz="1050">
                <a:solidFill>
                  <a:srgbClr val="5B6584"/>
                </a:solidFill>
                <a:latin typeface="Calibri" pitchFamily="34" charset="0"/>
                <a:ea typeface="Calibri" pitchFamily="34" charset="-122"/>
                <a:cs typeface="Calibri" pitchFamily="34" charset="-120"/>
              </a:rPr>
              <a:t>Promotion Rules</a:t>
            </a:r>
            <a:endParaRPr lang="en-US" sz="1050"/>
          </a:p>
        </p:txBody>
      </p:sp>
      <p:sp>
        <p:nvSpPr>
          <p:cNvPr id="19" name="Text 17"/>
          <p:cNvSpPr/>
          <p:nvPr/>
        </p:nvSpPr>
        <p:spPr>
          <a:xfrm>
            <a:off x="3017520" y="1874520"/>
            <a:ext cx="3657600" cy="320040"/>
          </a:xfrm>
          <a:prstGeom prst="rect">
            <a:avLst/>
          </a:prstGeom>
          <a:noFill/>
          <a:ln/>
        </p:spPr>
        <p:txBody>
          <a:bodyPr wrap="square" rtlCol="0" anchor="ctr"/>
          <a:lstStyle/>
          <a:p>
            <a:pPr marL="0" indent="0">
              <a:buNone/>
            </a:pPr>
            <a:r>
              <a:rPr lang="en-US" sz="1400" b="1">
                <a:solidFill>
                  <a:srgbClr val="1E2761"/>
                </a:solidFill>
                <a:latin typeface="Calibri" pitchFamily="34" charset="0"/>
                <a:ea typeface="Calibri" pitchFamily="34" charset="-122"/>
                <a:cs typeface="Calibri" pitchFamily="34" charset="-120"/>
              </a:rPr>
              <a:t>Deployment Phases</a:t>
            </a:r>
            <a:endParaRPr lang="en-US" sz="1400"/>
          </a:p>
        </p:txBody>
      </p:sp>
      <p:sp>
        <p:nvSpPr>
          <p:cNvPr id="20" name="Text 18"/>
          <p:cNvSpPr/>
          <p:nvPr/>
        </p:nvSpPr>
        <p:spPr>
          <a:xfrm>
            <a:off x="7040880" y="1874520"/>
            <a:ext cx="2926080" cy="320040"/>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Application:  Customer Portal ▾</a:t>
            </a:r>
            <a:endParaRPr lang="en-US" sz="1050"/>
          </a:p>
        </p:txBody>
      </p:sp>
      <p:sp>
        <p:nvSpPr>
          <p:cNvPr id="21" name="Shape 19"/>
          <p:cNvSpPr/>
          <p:nvPr/>
        </p:nvSpPr>
        <p:spPr>
          <a:xfrm>
            <a:off x="9829800" y="1856232"/>
            <a:ext cx="1325880" cy="365760"/>
          </a:xfrm>
          <a:prstGeom prst="roundRect">
            <a:avLst>
              <a:gd name="adj" fmla="val 50000"/>
            </a:avLst>
          </a:prstGeom>
          <a:solidFill>
            <a:srgbClr val="2A9187"/>
          </a:solidFill>
          <a:ln/>
        </p:spPr>
        <p:txBody>
          <a:bodyPr/>
          <a:lstStyle/>
          <a:p>
            <a:endParaRPr/>
          </a:p>
        </p:txBody>
      </p:sp>
      <p:sp>
        <p:nvSpPr>
          <p:cNvPr id="22" name="Text 20"/>
          <p:cNvSpPr/>
          <p:nvPr/>
        </p:nvSpPr>
        <p:spPr>
          <a:xfrm>
            <a:off x="9829800" y="1856232"/>
            <a:ext cx="1325880" cy="365760"/>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 Add Phase</a:t>
            </a:r>
            <a:endParaRPr lang="en-US" sz="950"/>
          </a:p>
        </p:txBody>
      </p:sp>
      <p:sp>
        <p:nvSpPr>
          <p:cNvPr id="23" name="Text 21"/>
          <p:cNvSpPr/>
          <p:nvPr/>
        </p:nvSpPr>
        <p:spPr>
          <a:xfrm>
            <a:off x="3063240" y="2377440"/>
            <a:ext cx="73152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ORDER</a:t>
            </a:r>
            <a:endParaRPr lang="en-US" sz="800"/>
          </a:p>
        </p:txBody>
      </p:sp>
      <p:sp>
        <p:nvSpPr>
          <p:cNvPr id="24" name="Text 22"/>
          <p:cNvSpPr/>
          <p:nvPr/>
        </p:nvSpPr>
        <p:spPr>
          <a:xfrm>
            <a:off x="3794760" y="2377440"/>
            <a:ext cx="310896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PHASE</a:t>
            </a:r>
            <a:endParaRPr lang="en-US" sz="800"/>
          </a:p>
        </p:txBody>
      </p:sp>
      <p:sp>
        <p:nvSpPr>
          <p:cNvPr id="25" name="Text 23"/>
          <p:cNvSpPr/>
          <p:nvPr/>
        </p:nvSpPr>
        <p:spPr>
          <a:xfrm>
            <a:off x="6949440" y="2377440"/>
            <a:ext cx="164592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TYPE</a:t>
            </a:r>
            <a:endParaRPr lang="en-US" sz="800"/>
          </a:p>
        </p:txBody>
      </p:sp>
      <p:sp>
        <p:nvSpPr>
          <p:cNvPr id="26" name="Text 24"/>
          <p:cNvSpPr/>
          <p:nvPr/>
        </p:nvSpPr>
        <p:spPr>
          <a:xfrm>
            <a:off x="8686800" y="2377440"/>
            <a:ext cx="1371600" cy="274320"/>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STATE</a:t>
            </a:r>
            <a:endParaRPr lang="en-US" sz="800"/>
          </a:p>
        </p:txBody>
      </p:sp>
      <p:sp>
        <p:nvSpPr>
          <p:cNvPr id="27" name="Text 25"/>
          <p:cNvSpPr/>
          <p:nvPr/>
        </p:nvSpPr>
        <p:spPr>
          <a:xfrm>
            <a:off x="3063240" y="26700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1</a:t>
            </a:r>
            <a:endParaRPr lang="en-US" sz="1000"/>
          </a:p>
        </p:txBody>
      </p:sp>
      <p:sp>
        <p:nvSpPr>
          <p:cNvPr id="28" name="Text 26"/>
          <p:cNvSpPr/>
          <p:nvPr/>
        </p:nvSpPr>
        <p:spPr>
          <a:xfrm>
            <a:off x="3794760" y="26700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Discovery</a:t>
            </a:r>
            <a:endParaRPr lang="en-US" sz="1100"/>
          </a:p>
        </p:txBody>
      </p:sp>
      <p:sp>
        <p:nvSpPr>
          <p:cNvPr id="29" name="Text 27"/>
          <p:cNvSpPr/>
          <p:nvPr/>
        </p:nvSpPr>
        <p:spPr>
          <a:xfrm>
            <a:off x="6949440" y="26700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30" name="Shape 28"/>
          <p:cNvSpPr/>
          <p:nvPr/>
        </p:nvSpPr>
        <p:spPr>
          <a:xfrm>
            <a:off x="8686800" y="2779776"/>
            <a:ext cx="566928" cy="237744"/>
          </a:xfrm>
          <a:prstGeom prst="roundRect">
            <a:avLst>
              <a:gd name="adj" fmla="val 50000"/>
            </a:avLst>
          </a:prstGeom>
          <a:solidFill>
            <a:srgbClr val="2A9187"/>
          </a:solidFill>
          <a:ln/>
        </p:spPr>
        <p:txBody>
          <a:bodyPr/>
          <a:lstStyle/>
          <a:p>
            <a:endParaRPr/>
          </a:p>
        </p:txBody>
      </p:sp>
      <p:sp>
        <p:nvSpPr>
          <p:cNvPr id="31" name="Shape 29"/>
          <p:cNvSpPr/>
          <p:nvPr/>
        </p:nvSpPr>
        <p:spPr>
          <a:xfrm>
            <a:off x="9034272" y="2807208"/>
            <a:ext cx="182880" cy="182880"/>
          </a:xfrm>
          <a:prstGeom prst="ellipse">
            <a:avLst/>
          </a:prstGeom>
          <a:solidFill>
            <a:srgbClr val="FFFFFF"/>
          </a:solidFill>
          <a:ln/>
        </p:spPr>
        <p:txBody>
          <a:bodyPr/>
          <a:lstStyle/>
          <a:p>
            <a:endParaRPr/>
          </a:p>
        </p:txBody>
      </p:sp>
      <p:sp>
        <p:nvSpPr>
          <p:cNvPr id="32" name="Text 30"/>
          <p:cNvSpPr/>
          <p:nvPr/>
        </p:nvSpPr>
        <p:spPr>
          <a:xfrm>
            <a:off x="9345168" y="26700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33" name="Shape 31"/>
          <p:cNvSpPr/>
          <p:nvPr/>
        </p:nvSpPr>
        <p:spPr>
          <a:xfrm>
            <a:off x="2971800" y="3127248"/>
            <a:ext cx="8229600" cy="457200"/>
          </a:xfrm>
          <a:prstGeom prst="rect">
            <a:avLst/>
          </a:prstGeom>
          <a:solidFill>
            <a:srgbClr val="F4F7FC"/>
          </a:solidFill>
          <a:ln/>
        </p:spPr>
        <p:txBody>
          <a:bodyPr/>
          <a:lstStyle/>
          <a:p>
            <a:endParaRPr/>
          </a:p>
        </p:txBody>
      </p:sp>
      <p:sp>
        <p:nvSpPr>
          <p:cNvPr id="34" name="Text 32"/>
          <p:cNvSpPr/>
          <p:nvPr/>
        </p:nvSpPr>
        <p:spPr>
          <a:xfrm>
            <a:off x="3063240" y="31272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2</a:t>
            </a:r>
            <a:endParaRPr lang="en-US" sz="1000"/>
          </a:p>
        </p:txBody>
      </p:sp>
      <p:sp>
        <p:nvSpPr>
          <p:cNvPr id="35" name="Text 33"/>
          <p:cNvSpPr/>
          <p:nvPr/>
        </p:nvSpPr>
        <p:spPr>
          <a:xfrm>
            <a:off x="3794760" y="31272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Comparison</a:t>
            </a:r>
            <a:endParaRPr lang="en-US" sz="1100"/>
          </a:p>
        </p:txBody>
      </p:sp>
      <p:sp>
        <p:nvSpPr>
          <p:cNvPr id="36" name="Text 34"/>
          <p:cNvSpPr/>
          <p:nvPr/>
        </p:nvSpPr>
        <p:spPr>
          <a:xfrm>
            <a:off x="6949440" y="31272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37" name="Shape 35"/>
          <p:cNvSpPr/>
          <p:nvPr/>
        </p:nvSpPr>
        <p:spPr>
          <a:xfrm>
            <a:off x="8686800" y="3236976"/>
            <a:ext cx="566928" cy="237744"/>
          </a:xfrm>
          <a:prstGeom prst="roundRect">
            <a:avLst>
              <a:gd name="adj" fmla="val 50000"/>
            </a:avLst>
          </a:prstGeom>
          <a:solidFill>
            <a:srgbClr val="2A9187"/>
          </a:solidFill>
          <a:ln/>
        </p:spPr>
        <p:txBody>
          <a:bodyPr/>
          <a:lstStyle/>
          <a:p>
            <a:endParaRPr/>
          </a:p>
        </p:txBody>
      </p:sp>
      <p:sp>
        <p:nvSpPr>
          <p:cNvPr id="38" name="Shape 36"/>
          <p:cNvSpPr/>
          <p:nvPr/>
        </p:nvSpPr>
        <p:spPr>
          <a:xfrm>
            <a:off x="9034272" y="3264408"/>
            <a:ext cx="182880" cy="182880"/>
          </a:xfrm>
          <a:prstGeom prst="ellipse">
            <a:avLst/>
          </a:prstGeom>
          <a:solidFill>
            <a:srgbClr val="FFFFFF"/>
          </a:solidFill>
          <a:ln/>
        </p:spPr>
        <p:txBody>
          <a:bodyPr/>
          <a:lstStyle/>
          <a:p>
            <a:endParaRPr/>
          </a:p>
        </p:txBody>
      </p:sp>
      <p:sp>
        <p:nvSpPr>
          <p:cNvPr id="39" name="Text 37"/>
          <p:cNvSpPr/>
          <p:nvPr/>
        </p:nvSpPr>
        <p:spPr>
          <a:xfrm>
            <a:off x="9345168" y="31272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40" name="Text 38"/>
          <p:cNvSpPr/>
          <p:nvPr/>
        </p:nvSpPr>
        <p:spPr>
          <a:xfrm>
            <a:off x="3063240" y="35844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3</a:t>
            </a:r>
            <a:endParaRPr lang="en-US" sz="1000"/>
          </a:p>
        </p:txBody>
      </p:sp>
      <p:sp>
        <p:nvSpPr>
          <p:cNvPr id="41" name="Text 39"/>
          <p:cNvSpPr/>
          <p:nvPr/>
        </p:nvSpPr>
        <p:spPr>
          <a:xfrm>
            <a:off x="3794760" y="35844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AI Readiness Assessment</a:t>
            </a:r>
            <a:endParaRPr lang="en-US" sz="1100"/>
          </a:p>
        </p:txBody>
      </p:sp>
      <p:sp>
        <p:nvSpPr>
          <p:cNvPr id="42" name="Text 40"/>
          <p:cNvSpPr/>
          <p:nvPr/>
        </p:nvSpPr>
        <p:spPr>
          <a:xfrm>
            <a:off x="6949440" y="35844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43" name="Shape 41"/>
          <p:cNvSpPr/>
          <p:nvPr/>
        </p:nvSpPr>
        <p:spPr>
          <a:xfrm>
            <a:off x="8686800" y="3694176"/>
            <a:ext cx="566928" cy="237744"/>
          </a:xfrm>
          <a:prstGeom prst="roundRect">
            <a:avLst>
              <a:gd name="adj" fmla="val 50000"/>
            </a:avLst>
          </a:prstGeom>
          <a:solidFill>
            <a:srgbClr val="2A9187"/>
          </a:solidFill>
          <a:ln/>
        </p:spPr>
        <p:txBody>
          <a:bodyPr/>
          <a:lstStyle/>
          <a:p>
            <a:endParaRPr/>
          </a:p>
        </p:txBody>
      </p:sp>
      <p:sp>
        <p:nvSpPr>
          <p:cNvPr id="44" name="Shape 42"/>
          <p:cNvSpPr/>
          <p:nvPr/>
        </p:nvSpPr>
        <p:spPr>
          <a:xfrm>
            <a:off x="9034272" y="3721608"/>
            <a:ext cx="182880" cy="182880"/>
          </a:xfrm>
          <a:prstGeom prst="ellipse">
            <a:avLst/>
          </a:prstGeom>
          <a:solidFill>
            <a:srgbClr val="FFFFFF"/>
          </a:solidFill>
          <a:ln/>
        </p:spPr>
        <p:txBody>
          <a:bodyPr/>
          <a:lstStyle/>
          <a:p>
            <a:endParaRPr/>
          </a:p>
        </p:txBody>
      </p:sp>
      <p:sp>
        <p:nvSpPr>
          <p:cNvPr id="45" name="Text 43"/>
          <p:cNvSpPr/>
          <p:nvPr/>
        </p:nvSpPr>
        <p:spPr>
          <a:xfrm>
            <a:off x="9345168" y="35844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46" name="Shape 44"/>
          <p:cNvSpPr/>
          <p:nvPr/>
        </p:nvSpPr>
        <p:spPr>
          <a:xfrm>
            <a:off x="2971800" y="4041648"/>
            <a:ext cx="8229600" cy="457200"/>
          </a:xfrm>
          <a:prstGeom prst="rect">
            <a:avLst/>
          </a:prstGeom>
          <a:solidFill>
            <a:srgbClr val="F4F7FC"/>
          </a:solidFill>
          <a:ln/>
        </p:spPr>
        <p:txBody>
          <a:bodyPr/>
          <a:lstStyle/>
          <a:p>
            <a:endParaRPr/>
          </a:p>
        </p:txBody>
      </p:sp>
      <p:sp>
        <p:nvSpPr>
          <p:cNvPr id="47" name="Text 45"/>
          <p:cNvSpPr/>
          <p:nvPr/>
        </p:nvSpPr>
        <p:spPr>
          <a:xfrm>
            <a:off x="3063240" y="40416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4</a:t>
            </a:r>
            <a:endParaRPr lang="en-US" sz="1000"/>
          </a:p>
        </p:txBody>
      </p:sp>
      <p:sp>
        <p:nvSpPr>
          <p:cNvPr id="48" name="Text 46"/>
          <p:cNvSpPr/>
          <p:nvPr/>
        </p:nvSpPr>
        <p:spPr>
          <a:xfrm>
            <a:off x="3794760" y="40416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QA Approval</a:t>
            </a:r>
            <a:endParaRPr lang="en-US" sz="1100"/>
          </a:p>
        </p:txBody>
      </p:sp>
      <p:sp>
        <p:nvSpPr>
          <p:cNvPr id="49" name="Text 47"/>
          <p:cNvSpPr/>
          <p:nvPr/>
        </p:nvSpPr>
        <p:spPr>
          <a:xfrm>
            <a:off x="6949440" y="4041648"/>
            <a:ext cx="1645920" cy="457200"/>
          </a:xfrm>
          <a:prstGeom prst="rect">
            <a:avLst/>
          </a:prstGeom>
          <a:noFill/>
          <a:ln/>
        </p:spPr>
        <p:txBody>
          <a:bodyPr wrap="square" rtlCol="0" anchor="ctr"/>
          <a:lstStyle/>
          <a:p>
            <a:pPr marL="0" indent="0">
              <a:buNone/>
            </a:pPr>
            <a:r>
              <a:rPr lang="en-US" sz="1000">
                <a:solidFill>
                  <a:srgbClr val="C69749"/>
                </a:solidFill>
                <a:latin typeface="Calibri" pitchFamily="34" charset="0"/>
                <a:ea typeface="Calibri" pitchFamily="34" charset="-122"/>
                <a:cs typeface="Calibri" pitchFamily="34" charset="-120"/>
              </a:rPr>
              <a:t>Manual gate</a:t>
            </a:r>
            <a:endParaRPr lang="en-US" sz="1000"/>
          </a:p>
        </p:txBody>
      </p:sp>
      <p:sp>
        <p:nvSpPr>
          <p:cNvPr id="50" name="Shape 48"/>
          <p:cNvSpPr/>
          <p:nvPr/>
        </p:nvSpPr>
        <p:spPr>
          <a:xfrm>
            <a:off x="8686800" y="4151376"/>
            <a:ext cx="566928" cy="237744"/>
          </a:xfrm>
          <a:prstGeom prst="roundRect">
            <a:avLst>
              <a:gd name="adj" fmla="val 50000"/>
            </a:avLst>
          </a:prstGeom>
          <a:solidFill>
            <a:srgbClr val="2A9187"/>
          </a:solidFill>
          <a:ln/>
        </p:spPr>
        <p:txBody>
          <a:bodyPr/>
          <a:lstStyle/>
          <a:p>
            <a:endParaRPr/>
          </a:p>
        </p:txBody>
      </p:sp>
      <p:sp>
        <p:nvSpPr>
          <p:cNvPr id="51" name="Shape 49"/>
          <p:cNvSpPr/>
          <p:nvPr/>
        </p:nvSpPr>
        <p:spPr>
          <a:xfrm>
            <a:off x="9034272" y="4178808"/>
            <a:ext cx="182880" cy="182880"/>
          </a:xfrm>
          <a:prstGeom prst="ellipse">
            <a:avLst/>
          </a:prstGeom>
          <a:solidFill>
            <a:srgbClr val="FFFFFF"/>
          </a:solidFill>
          <a:ln/>
        </p:spPr>
        <p:txBody>
          <a:bodyPr/>
          <a:lstStyle/>
          <a:p>
            <a:endParaRPr/>
          </a:p>
        </p:txBody>
      </p:sp>
      <p:sp>
        <p:nvSpPr>
          <p:cNvPr id="52" name="Text 50"/>
          <p:cNvSpPr/>
          <p:nvPr/>
        </p:nvSpPr>
        <p:spPr>
          <a:xfrm>
            <a:off x="9345168" y="40416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53" name="Text 51"/>
          <p:cNvSpPr/>
          <p:nvPr/>
        </p:nvSpPr>
        <p:spPr>
          <a:xfrm>
            <a:off x="3063240" y="44988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5</a:t>
            </a:r>
            <a:endParaRPr lang="en-US" sz="1000"/>
          </a:p>
        </p:txBody>
      </p:sp>
      <p:sp>
        <p:nvSpPr>
          <p:cNvPr id="54" name="Text 52"/>
          <p:cNvSpPr/>
          <p:nvPr/>
        </p:nvSpPr>
        <p:spPr>
          <a:xfrm>
            <a:off x="3794760" y="44988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Deployment</a:t>
            </a:r>
            <a:endParaRPr lang="en-US" sz="1100"/>
          </a:p>
        </p:txBody>
      </p:sp>
      <p:sp>
        <p:nvSpPr>
          <p:cNvPr id="55" name="Text 53"/>
          <p:cNvSpPr/>
          <p:nvPr/>
        </p:nvSpPr>
        <p:spPr>
          <a:xfrm>
            <a:off x="6949440" y="44988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56" name="Shape 54"/>
          <p:cNvSpPr/>
          <p:nvPr/>
        </p:nvSpPr>
        <p:spPr>
          <a:xfrm>
            <a:off x="8686800" y="4608576"/>
            <a:ext cx="566928" cy="237744"/>
          </a:xfrm>
          <a:prstGeom prst="roundRect">
            <a:avLst>
              <a:gd name="adj" fmla="val 50000"/>
            </a:avLst>
          </a:prstGeom>
          <a:solidFill>
            <a:srgbClr val="2A9187"/>
          </a:solidFill>
          <a:ln/>
        </p:spPr>
        <p:txBody>
          <a:bodyPr/>
          <a:lstStyle/>
          <a:p>
            <a:endParaRPr/>
          </a:p>
        </p:txBody>
      </p:sp>
      <p:sp>
        <p:nvSpPr>
          <p:cNvPr id="57" name="Shape 55"/>
          <p:cNvSpPr/>
          <p:nvPr/>
        </p:nvSpPr>
        <p:spPr>
          <a:xfrm>
            <a:off x="9034272" y="4636008"/>
            <a:ext cx="182880" cy="182880"/>
          </a:xfrm>
          <a:prstGeom prst="ellipse">
            <a:avLst/>
          </a:prstGeom>
          <a:solidFill>
            <a:srgbClr val="FFFFFF"/>
          </a:solidFill>
          <a:ln/>
        </p:spPr>
        <p:txBody>
          <a:bodyPr/>
          <a:lstStyle/>
          <a:p>
            <a:endParaRPr/>
          </a:p>
        </p:txBody>
      </p:sp>
      <p:sp>
        <p:nvSpPr>
          <p:cNvPr id="58" name="Text 56"/>
          <p:cNvSpPr/>
          <p:nvPr/>
        </p:nvSpPr>
        <p:spPr>
          <a:xfrm>
            <a:off x="9345168" y="44988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59" name="Shape 57"/>
          <p:cNvSpPr/>
          <p:nvPr/>
        </p:nvSpPr>
        <p:spPr>
          <a:xfrm>
            <a:off x="2971800" y="4956048"/>
            <a:ext cx="8229600" cy="457200"/>
          </a:xfrm>
          <a:prstGeom prst="rect">
            <a:avLst/>
          </a:prstGeom>
          <a:solidFill>
            <a:srgbClr val="F4F7FC"/>
          </a:solidFill>
          <a:ln/>
        </p:spPr>
        <p:txBody>
          <a:bodyPr/>
          <a:lstStyle/>
          <a:p>
            <a:endParaRPr/>
          </a:p>
        </p:txBody>
      </p:sp>
      <p:sp>
        <p:nvSpPr>
          <p:cNvPr id="60" name="Text 58"/>
          <p:cNvSpPr/>
          <p:nvPr/>
        </p:nvSpPr>
        <p:spPr>
          <a:xfrm>
            <a:off x="3063240" y="49560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6</a:t>
            </a:r>
            <a:endParaRPr lang="en-US" sz="1000"/>
          </a:p>
        </p:txBody>
      </p:sp>
      <p:sp>
        <p:nvSpPr>
          <p:cNvPr id="61" name="Text 59"/>
          <p:cNvSpPr/>
          <p:nvPr/>
        </p:nvSpPr>
        <p:spPr>
          <a:xfrm>
            <a:off x="3794760" y="49560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Post-Deploy Validation</a:t>
            </a:r>
            <a:endParaRPr lang="en-US" sz="1100"/>
          </a:p>
        </p:txBody>
      </p:sp>
      <p:sp>
        <p:nvSpPr>
          <p:cNvPr id="62" name="Text 60"/>
          <p:cNvSpPr/>
          <p:nvPr/>
        </p:nvSpPr>
        <p:spPr>
          <a:xfrm>
            <a:off x="6949440" y="4956048"/>
            <a:ext cx="16459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Automated</a:t>
            </a:r>
            <a:endParaRPr lang="en-US" sz="1000"/>
          </a:p>
        </p:txBody>
      </p:sp>
      <p:sp>
        <p:nvSpPr>
          <p:cNvPr id="63" name="Shape 61"/>
          <p:cNvSpPr/>
          <p:nvPr/>
        </p:nvSpPr>
        <p:spPr>
          <a:xfrm>
            <a:off x="8686800" y="5065776"/>
            <a:ext cx="566928" cy="237744"/>
          </a:xfrm>
          <a:prstGeom prst="roundRect">
            <a:avLst>
              <a:gd name="adj" fmla="val 50000"/>
            </a:avLst>
          </a:prstGeom>
          <a:solidFill>
            <a:srgbClr val="2A9187"/>
          </a:solidFill>
          <a:ln/>
        </p:spPr>
        <p:txBody>
          <a:bodyPr/>
          <a:lstStyle/>
          <a:p>
            <a:endParaRPr/>
          </a:p>
        </p:txBody>
      </p:sp>
      <p:sp>
        <p:nvSpPr>
          <p:cNvPr id="64" name="Shape 62"/>
          <p:cNvSpPr/>
          <p:nvPr/>
        </p:nvSpPr>
        <p:spPr>
          <a:xfrm>
            <a:off x="9034272" y="5093208"/>
            <a:ext cx="182880" cy="182880"/>
          </a:xfrm>
          <a:prstGeom prst="ellipse">
            <a:avLst/>
          </a:prstGeom>
          <a:solidFill>
            <a:srgbClr val="FFFFFF"/>
          </a:solidFill>
          <a:ln/>
        </p:spPr>
        <p:txBody>
          <a:bodyPr/>
          <a:lstStyle/>
          <a:p>
            <a:endParaRPr/>
          </a:p>
        </p:txBody>
      </p:sp>
      <p:sp>
        <p:nvSpPr>
          <p:cNvPr id="65" name="Text 63"/>
          <p:cNvSpPr/>
          <p:nvPr/>
        </p:nvSpPr>
        <p:spPr>
          <a:xfrm>
            <a:off x="9345168" y="4956048"/>
            <a:ext cx="914400" cy="457200"/>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Enabled</a:t>
            </a:r>
            <a:endParaRPr lang="en-US" sz="900"/>
          </a:p>
        </p:txBody>
      </p:sp>
      <p:sp>
        <p:nvSpPr>
          <p:cNvPr id="66" name="Text 64"/>
          <p:cNvSpPr/>
          <p:nvPr/>
        </p:nvSpPr>
        <p:spPr>
          <a:xfrm>
            <a:off x="3063240" y="5413248"/>
            <a:ext cx="731520" cy="457200"/>
          </a:xfrm>
          <a:prstGeom prst="rect">
            <a:avLst/>
          </a:prstGeom>
          <a:noFill/>
          <a:ln/>
        </p:spPr>
        <p:txBody>
          <a:bodyPr wrap="square" rtlCol="0" anchor="ctr"/>
          <a:lstStyle/>
          <a:p>
            <a:pPr marL="0" indent="0">
              <a:buNone/>
            </a:pPr>
            <a:r>
              <a:rPr lang="en-US" sz="1000">
                <a:solidFill>
                  <a:srgbClr val="5B6584"/>
                </a:solidFill>
                <a:latin typeface="Calibri" pitchFamily="34" charset="0"/>
                <a:ea typeface="Calibri" pitchFamily="34" charset="-122"/>
                <a:cs typeface="Calibri" pitchFamily="34" charset="-120"/>
              </a:rPr>
              <a:t>≡  7</a:t>
            </a:r>
            <a:endParaRPr lang="en-US" sz="1000"/>
          </a:p>
        </p:txBody>
      </p:sp>
      <p:sp>
        <p:nvSpPr>
          <p:cNvPr id="67" name="Text 65"/>
          <p:cNvSpPr/>
          <p:nvPr/>
        </p:nvSpPr>
        <p:spPr>
          <a:xfrm>
            <a:off x="3794760" y="5413248"/>
            <a:ext cx="3108960" cy="457200"/>
          </a:xfrm>
          <a:prstGeom prst="rect">
            <a:avLst/>
          </a:prstGeom>
          <a:noFill/>
          <a:ln/>
        </p:spPr>
        <p:txBody>
          <a:bodyPr wrap="square" rtlCol="0" anchor="ctr"/>
          <a:lstStyle/>
          <a:p>
            <a:pPr marL="0" indent="0">
              <a:buNone/>
            </a:pPr>
            <a:r>
              <a:rPr lang="en-US" sz="1100" b="1">
                <a:solidFill>
                  <a:srgbClr val="1B1F3B"/>
                </a:solidFill>
                <a:latin typeface="Calibri" pitchFamily="34" charset="0"/>
                <a:ea typeface="Calibri" pitchFamily="34" charset="-122"/>
                <a:cs typeface="Calibri" pitchFamily="34" charset="-120"/>
              </a:rPr>
              <a:t>Rollback Checkpoint</a:t>
            </a:r>
            <a:endParaRPr lang="en-US" sz="1100"/>
          </a:p>
        </p:txBody>
      </p:sp>
      <p:sp>
        <p:nvSpPr>
          <p:cNvPr id="68" name="Text 66"/>
          <p:cNvSpPr/>
          <p:nvPr/>
        </p:nvSpPr>
        <p:spPr>
          <a:xfrm>
            <a:off x="6949440" y="5413248"/>
            <a:ext cx="1645920" cy="457200"/>
          </a:xfrm>
          <a:prstGeom prst="rect">
            <a:avLst/>
          </a:prstGeom>
          <a:noFill/>
          <a:ln/>
        </p:spPr>
        <p:txBody>
          <a:bodyPr wrap="square" rtlCol="0" anchor="ctr"/>
          <a:lstStyle/>
          <a:p>
            <a:pPr marL="0" indent="0">
              <a:buNone/>
            </a:pPr>
            <a:r>
              <a:rPr lang="en-US" sz="1000">
                <a:solidFill>
                  <a:srgbClr val="C69749"/>
                </a:solidFill>
                <a:latin typeface="Calibri" pitchFamily="34" charset="0"/>
                <a:ea typeface="Calibri" pitchFamily="34" charset="-122"/>
                <a:cs typeface="Calibri" pitchFamily="34" charset="-120"/>
              </a:rPr>
              <a:t>Manual gate</a:t>
            </a:r>
            <a:endParaRPr lang="en-US" sz="1000"/>
          </a:p>
        </p:txBody>
      </p:sp>
      <p:sp>
        <p:nvSpPr>
          <p:cNvPr id="69" name="Shape 67"/>
          <p:cNvSpPr/>
          <p:nvPr/>
        </p:nvSpPr>
        <p:spPr>
          <a:xfrm>
            <a:off x="8686800" y="5522976"/>
            <a:ext cx="566928" cy="237744"/>
          </a:xfrm>
          <a:prstGeom prst="roundRect">
            <a:avLst>
              <a:gd name="adj" fmla="val 50000"/>
            </a:avLst>
          </a:prstGeom>
          <a:solidFill>
            <a:srgbClr val="C9CEDB"/>
          </a:solidFill>
          <a:ln/>
        </p:spPr>
        <p:txBody>
          <a:bodyPr/>
          <a:lstStyle/>
          <a:p>
            <a:endParaRPr/>
          </a:p>
        </p:txBody>
      </p:sp>
      <p:sp>
        <p:nvSpPr>
          <p:cNvPr id="70" name="Shape 68"/>
          <p:cNvSpPr/>
          <p:nvPr/>
        </p:nvSpPr>
        <p:spPr>
          <a:xfrm>
            <a:off x="8723376" y="5550408"/>
            <a:ext cx="182880" cy="182880"/>
          </a:xfrm>
          <a:prstGeom prst="ellipse">
            <a:avLst/>
          </a:prstGeom>
          <a:solidFill>
            <a:srgbClr val="FFFFFF"/>
          </a:solidFill>
          <a:ln/>
        </p:spPr>
        <p:txBody>
          <a:bodyPr/>
          <a:lstStyle/>
          <a:p>
            <a:endParaRPr/>
          </a:p>
        </p:txBody>
      </p:sp>
      <p:sp>
        <p:nvSpPr>
          <p:cNvPr id="71" name="Text 69"/>
          <p:cNvSpPr/>
          <p:nvPr/>
        </p:nvSpPr>
        <p:spPr>
          <a:xfrm>
            <a:off x="9345168" y="5413248"/>
            <a:ext cx="914400" cy="457200"/>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Disabled</a:t>
            </a:r>
            <a:endParaRPr lang="en-US" sz="900"/>
          </a:p>
        </p:txBody>
      </p:sp>
      <p:sp>
        <p:nvSpPr>
          <p:cNvPr id="72" name="Text 70"/>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p>
        </p:txBody>
      </p:sp>
      <p:sp>
        <p:nvSpPr>
          <p:cNvPr id="73" name="Text 71"/>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17</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SAMPLE UI</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Running a Deployment</a:t>
            </a:r>
            <a:endParaRPr lang="en-US" sz="2600"/>
          </a:p>
        </p:txBody>
      </p:sp>
      <p:sp>
        <p:nvSpPr>
          <p:cNvPr id="4" name="Shape 2"/>
          <p:cNvSpPr/>
          <p:nvPr/>
        </p:nvSpPr>
        <p:spPr>
          <a:xfrm>
            <a:off x="548640" y="1325880"/>
            <a:ext cx="10881360" cy="402336"/>
          </a:xfrm>
          <a:prstGeom prst="roundRect">
            <a:avLst>
              <a:gd name="adj" fmla="val 18182"/>
            </a:avLst>
          </a:prstGeom>
          <a:solidFill>
            <a:srgbClr val="1E2761"/>
          </a:solidFill>
          <a:ln/>
        </p:spPr>
        <p:txBody>
          <a:bodyPr/>
          <a:lstStyle/>
          <a:p>
            <a:endParaRPr/>
          </a:p>
        </p:txBody>
      </p:sp>
      <p:sp>
        <p:nvSpPr>
          <p:cNvPr id="5" name="Shape 3"/>
          <p:cNvSpPr/>
          <p:nvPr/>
        </p:nvSpPr>
        <p:spPr>
          <a:xfrm>
            <a:off x="749808" y="1472184"/>
            <a:ext cx="109728" cy="109728"/>
          </a:xfrm>
          <a:prstGeom prst="ellipse">
            <a:avLst/>
          </a:prstGeom>
          <a:solidFill>
            <a:srgbClr val="E0475A"/>
          </a:solidFill>
          <a:ln/>
        </p:spPr>
        <p:txBody>
          <a:bodyPr/>
          <a:lstStyle/>
          <a:p>
            <a:endParaRPr/>
          </a:p>
        </p:txBody>
      </p:sp>
      <p:sp>
        <p:nvSpPr>
          <p:cNvPr id="6" name="Shape 4"/>
          <p:cNvSpPr/>
          <p:nvPr/>
        </p:nvSpPr>
        <p:spPr>
          <a:xfrm>
            <a:off x="969264" y="1472184"/>
            <a:ext cx="109728" cy="109728"/>
          </a:xfrm>
          <a:prstGeom prst="ellipse">
            <a:avLst/>
          </a:prstGeom>
          <a:solidFill>
            <a:srgbClr val="E0A93E"/>
          </a:solidFill>
          <a:ln/>
        </p:spPr>
        <p:txBody>
          <a:bodyPr/>
          <a:lstStyle/>
          <a:p>
            <a:endParaRPr/>
          </a:p>
        </p:txBody>
      </p:sp>
      <p:sp>
        <p:nvSpPr>
          <p:cNvPr id="7" name="Shape 5"/>
          <p:cNvSpPr/>
          <p:nvPr/>
        </p:nvSpPr>
        <p:spPr>
          <a:xfrm>
            <a:off x="1188720" y="1472184"/>
            <a:ext cx="109728" cy="109728"/>
          </a:xfrm>
          <a:prstGeom prst="ellipse">
            <a:avLst/>
          </a:prstGeom>
          <a:solidFill>
            <a:srgbClr val="00B8A9"/>
          </a:solidFill>
          <a:ln/>
        </p:spPr>
        <p:txBody>
          <a:bodyPr/>
          <a:lstStyle/>
          <a:p>
            <a:endParaRPr/>
          </a:p>
        </p:txBody>
      </p:sp>
      <p:sp>
        <p:nvSpPr>
          <p:cNvPr id="8" name="Text 6"/>
          <p:cNvSpPr/>
          <p:nvPr/>
        </p:nvSpPr>
        <p:spPr>
          <a:xfrm>
            <a:off x="1554480" y="1325880"/>
            <a:ext cx="9692640" cy="402336"/>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DaaS  ·  New Deployment  ·  Contoso Retail</a:t>
            </a:r>
            <a:endParaRPr lang="en-US" sz="1100"/>
          </a:p>
        </p:txBody>
      </p:sp>
      <p:sp>
        <p:nvSpPr>
          <p:cNvPr id="9" name="Shape 7"/>
          <p:cNvSpPr/>
          <p:nvPr/>
        </p:nvSpPr>
        <p:spPr>
          <a:xfrm>
            <a:off x="548640" y="1728216"/>
            <a:ext cx="10881360" cy="4215384"/>
          </a:xfrm>
          <a:prstGeom prst="roundRect">
            <a:avLst>
              <a:gd name="adj" fmla="val 1735"/>
            </a:avLst>
          </a:prstGeom>
          <a:solidFill>
            <a:srgbClr val="FFFFFF"/>
          </a:solidFill>
          <a:ln/>
          <a:effectLst>
            <a:outerShdw blurRad="101600" dist="38100" dir="5400000" algn="bl" rotWithShape="0">
              <a:srgbClr val="1B1F3B">
                <a:alpha val="15000"/>
              </a:srgbClr>
            </a:outerShdw>
          </a:effectLst>
        </p:spPr>
        <p:txBody>
          <a:bodyPr/>
          <a:lstStyle/>
          <a:p>
            <a:endParaRPr/>
          </a:p>
        </p:txBody>
      </p:sp>
      <p:sp>
        <p:nvSpPr>
          <p:cNvPr id="10" name="Text 8"/>
          <p:cNvSpPr/>
          <p:nvPr/>
        </p:nvSpPr>
        <p:spPr>
          <a:xfrm>
            <a:off x="914400"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TEMPLATE</a:t>
            </a:r>
            <a:endParaRPr lang="en-US" sz="800"/>
          </a:p>
        </p:txBody>
      </p:sp>
      <p:sp>
        <p:nvSpPr>
          <p:cNvPr id="11" name="Shape 9"/>
          <p:cNvSpPr/>
          <p:nvPr/>
        </p:nvSpPr>
        <p:spPr>
          <a:xfrm>
            <a:off x="914400"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12" name="Text 10"/>
          <p:cNvSpPr/>
          <p:nvPr/>
        </p:nvSpPr>
        <p:spPr>
          <a:xfrm>
            <a:off x="1051560"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Standard Release ▾</a:t>
            </a:r>
            <a:endParaRPr lang="en-US" sz="1050"/>
          </a:p>
        </p:txBody>
      </p:sp>
      <p:sp>
        <p:nvSpPr>
          <p:cNvPr id="13" name="Text 11"/>
          <p:cNvSpPr/>
          <p:nvPr/>
        </p:nvSpPr>
        <p:spPr>
          <a:xfrm>
            <a:off x="3515868"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APPLICATION</a:t>
            </a:r>
            <a:endParaRPr lang="en-US" sz="800"/>
          </a:p>
        </p:txBody>
      </p:sp>
      <p:sp>
        <p:nvSpPr>
          <p:cNvPr id="14" name="Shape 12"/>
          <p:cNvSpPr/>
          <p:nvPr/>
        </p:nvSpPr>
        <p:spPr>
          <a:xfrm>
            <a:off x="3515868"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15" name="Text 13"/>
          <p:cNvSpPr/>
          <p:nvPr/>
        </p:nvSpPr>
        <p:spPr>
          <a:xfrm>
            <a:off x="3653028"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Customer Portal ▾</a:t>
            </a:r>
            <a:endParaRPr lang="en-US" sz="1050"/>
          </a:p>
        </p:txBody>
      </p:sp>
      <p:sp>
        <p:nvSpPr>
          <p:cNvPr id="16" name="Text 14"/>
          <p:cNvSpPr/>
          <p:nvPr/>
        </p:nvSpPr>
        <p:spPr>
          <a:xfrm>
            <a:off x="6117336"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ENVIRONMENT</a:t>
            </a:r>
            <a:endParaRPr lang="en-US" sz="800"/>
          </a:p>
        </p:txBody>
      </p:sp>
      <p:sp>
        <p:nvSpPr>
          <p:cNvPr id="17" name="Shape 15"/>
          <p:cNvSpPr/>
          <p:nvPr/>
        </p:nvSpPr>
        <p:spPr>
          <a:xfrm>
            <a:off x="6117336"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18" name="Text 16"/>
          <p:cNvSpPr/>
          <p:nvPr/>
        </p:nvSpPr>
        <p:spPr>
          <a:xfrm>
            <a:off x="6254496"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UAT ▾</a:t>
            </a:r>
            <a:endParaRPr lang="en-US" sz="1050"/>
          </a:p>
        </p:txBody>
      </p:sp>
      <p:sp>
        <p:nvSpPr>
          <p:cNvPr id="19" name="Text 17"/>
          <p:cNvSpPr/>
          <p:nvPr/>
        </p:nvSpPr>
        <p:spPr>
          <a:xfrm>
            <a:off x="8718804" y="2011680"/>
            <a:ext cx="2345436" cy="219456"/>
          </a:xfrm>
          <a:prstGeom prst="rect">
            <a:avLst/>
          </a:prstGeom>
          <a:noFill/>
          <a:ln/>
        </p:spPr>
        <p:txBody>
          <a:bodyPr wrap="square" rtlCol="0" anchor="ctr"/>
          <a:lstStyle/>
          <a:p>
            <a:pPr marL="0" indent="0">
              <a:buNone/>
            </a:pPr>
            <a:r>
              <a:rPr lang="en-US" sz="800" b="1" kern="0" spc="50">
                <a:solidFill>
                  <a:srgbClr val="5B6584"/>
                </a:solidFill>
                <a:latin typeface="Calibri" pitchFamily="34" charset="0"/>
                <a:ea typeface="Calibri" pitchFamily="34" charset="-122"/>
                <a:cs typeface="Calibri" pitchFamily="34" charset="-120"/>
              </a:rPr>
              <a:t>RELEASE</a:t>
            </a:r>
            <a:endParaRPr lang="en-US" sz="800"/>
          </a:p>
        </p:txBody>
      </p:sp>
      <p:sp>
        <p:nvSpPr>
          <p:cNvPr id="20" name="Shape 18"/>
          <p:cNvSpPr/>
          <p:nvPr/>
        </p:nvSpPr>
        <p:spPr>
          <a:xfrm>
            <a:off x="8718804" y="2249424"/>
            <a:ext cx="2345436" cy="438912"/>
          </a:xfrm>
          <a:prstGeom prst="roundRect">
            <a:avLst>
              <a:gd name="adj" fmla="val 10417"/>
            </a:avLst>
          </a:prstGeom>
          <a:solidFill>
            <a:srgbClr val="F4F7FC"/>
          </a:solidFill>
          <a:ln w="15875">
            <a:solidFill>
              <a:srgbClr val="CADCFC"/>
            </a:solidFill>
            <a:prstDash val="solid"/>
          </a:ln>
        </p:spPr>
        <p:txBody>
          <a:bodyPr/>
          <a:lstStyle/>
          <a:p>
            <a:endParaRPr/>
          </a:p>
        </p:txBody>
      </p:sp>
      <p:sp>
        <p:nvSpPr>
          <p:cNvPr id="21" name="Text 19"/>
          <p:cNvSpPr/>
          <p:nvPr/>
        </p:nvSpPr>
        <p:spPr>
          <a:xfrm>
            <a:off x="8855964" y="2249424"/>
            <a:ext cx="2071116" cy="438912"/>
          </a:xfrm>
          <a:prstGeom prst="rect">
            <a:avLst/>
          </a:prstGeom>
          <a:noFill/>
          <a:ln/>
        </p:spPr>
        <p:txBody>
          <a:bodyPr wrap="square" rtlCol="0" anchor="ctr"/>
          <a:lstStyle/>
          <a:p>
            <a:pPr marL="0" indent="0">
              <a:buNone/>
            </a:pPr>
            <a:r>
              <a:rPr lang="en-US" sz="1050" b="1">
                <a:solidFill>
                  <a:srgbClr val="1E2761"/>
                </a:solidFill>
                <a:latin typeface="Calibri" pitchFamily="34" charset="0"/>
                <a:ea typeface="Calibri" pitchFamily="34" charset="-122"/>
                <a:cs typeface="Calibri" pitchFamily="34" charset="-120"/>
              </a:rPr>
              <a:t>2.4.1 ▾</a:t>
            </a:r>
            <a:endParaRPr lang="en-US" sz="1050"/>
          </a:p>
        </p:txBody>
      </p:sp>
      <p:sp>
        <p:nvSpPr>
          <p:cNvPr id="22" name="Text 20"/>
          <p:cNvSpPr/>
          <p:nvPr/>
        </p:nvSpPr>
        <p:spPr>
          <a:xfrm>
            <a:off x="914400" y="2926080"/>
            <a:ext cx="5486400" cy="219456"/>
          </a:xfrm>
          <a:prstGeom prst="rect">
            <a:avLst/>
          </a:prstGeom>
          <a:noFill/>
          <a:ln/>
        </p:spPr>
        <p:txBody>
          <a:bodyPr wrap="square" rtlCol="0" anchor="ctr"/>
          <a:lstStyle/>
          <a:p>
            <a:pPr marL="0" indent="0">
              <a:buNone/>
            </a:pPr>
            <a:r>
              <a:rPr lang="en-US" sz="850" b="1" kern="0" spc="50">
                <a:solidFill>
                  <a:srgbClr val="1F6E66"/>
                </a:solidFill>
                <a:latin typeface="Calibri" pitchFamily="34" charset="0"/>
                <a:ea typeface="Calibri" pitchFamily="34" charset="-122"/>
                <a:cs typeface="Calibri" pitchFamily="34" charset="-120"/>
              </a:rPr>
              <a:t>PIPELINE  ·  phases from Admin configuration</a:t>
            </a:r>
            <a:endParaRPr lang="en-US" sz="850"/>
          </a:p>
        </p:txBody>
      </p:sp>
      <p:sp>
        <p:nvSpPr>
          <p:cNvPr id="23" name="Shape 21"/>
          <p:cNvSpPr/>
          <p:nvPr/>
        </p:nvSpPr>
        <p:spPr>
          <a:xfrm>
            <a:off x="914400" y="3200400"/>
            <a:ext cx="1584960" cy="566928"/>
          </a:xfrm>
          <a:prstGeom prst="roundRect">
            <a:avLst>
              <a:gd name="adj" fmla="val 8065"/>
            </a:avLst>
          </a:prstGeom>
          <a:solidFill>
            <a:srgbClr val="2A9187"/>
          </a:solidFill>
          <a:ln/>
        </p:spPr>
        <p:txBody>
          <a:bodyPr/>
          <a:lstStyle/>
          <a:p>
            <a:endParaRPr/>
          </a:p>
        </p:txBody>
      </p:sp>
      <p:sp>
        <p:nvSpPr>
          <p:cNvPr id="24" name="Text 22"/>
          <p:cNvSpPr/>
          <p:nvPr/>
        </p:nvSpPr>
        <p:spPr>
          <a:xfrm>
            <a:off x="960120" y="3200400"/>
            <a:ext cx="1493520" cy="56692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Discovery</a:t>
            </a:r>
            <a:endParaRPr lang="en-US" sz="950"/>
          </a:p>
        </p:txBody>
      </p:sp>
      <p:sp>
        <p:nvSpPr>
          <p:cNvPr id="25" name="Shape 23"/>
          <p:cNvSpPr/>
          <p:nvPr/>
        </p:nvSpPr>
        <p:spPr>
          <a:xfrm>
            <a:off x="2499360" y="3483864"/>
            <a:ext cx="128016" cy="0"/>
          </a:xfrm>
          <a:prstGeom prst="line">
            <a:avLst/>
          </a:prstGeom>
          <a:noFill/>
          <a:ln w="12700">
            <a:solidFill>
              <a:srgbClr val="5B6584"/>
            </a:solidFill>
            <a:prstDash val="solid"/>
            <a:tailEnd type="triangle"/>
          </a:ln>
        </p:spPr>
        <p:txBody>
          <a:bodyPr/>
          <a:lstStyle/>
          <a:p>
            <a:endParaRPr/>
          </a:p>
        </p:txBody>
      </p:sp>
      <p:sp>
        <p:nvSpPr>
          <p:cNvPr id="26" name="Shape 24"/>
          <p:cNvSpPr/>
          <p:nvPr/>
        </p:nvSpPr>
        <p:spPr>
          <a:xfrm>
            <a:off x="2627376" y="3200400"/>
            <a:ext cx="1584960" cy="566928"/>
          </a:xfrm>
          <a:prstGeom prst="roundRect">
            <a:avLst>
              <a:gd name="adj" fmla="val 8065"/>
            </a:avLst>
          </a:prstGeom>
          <a:solidFill>
            <a:srgbClr val="2A9187"/>
          </a:solidFill>
          <a:ln/>
        </p:spPr>
        <p:txBody>
          <a:bodyPr/>
          <a:lstStyle/>
          <a:p>
            <a:endParaRPr/>
          </a:p>
        </p:txBody>
      </p:sp>
      <p:sp>
        <p:nvSpPr>
          <p:cNvPr id="27" name="Text 25"/>
          <p:cNvSpPr/>
          <p:nvPr/>
        </p:nvSpPr>
        <p:spPr>
          <a:xfrm>
            <a:off x="2673096" y="3200400"/>
            <a:ext cx="1493520" cy="56692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Comparison</a:t>
            </a:r>
            <a:endParaRPr lang="en-US" sz="950"/>
          </a:p>
        </p:txBody>
      </p:sp>
      <p:sp>
        <p:nvSpPr>
          <p:cNvPr id="28" name="Shape 26"/>
          <p:cNvSpPr/>
          <p:nvPr/>
        </p:nvSpPr>
        <p:spPr>
          <a:xfrm>
            <a:off x="4212336" y="3483864"/>
            <a:ext cx="128016" cy="0"/>
          </a:xfrm>
          <a:prstGeom prst="line">
            <a:avLst/>
          </a:prstGeom>
          <a:noFill/>
          <a:ln w="12700">
            <a:solidFill>
              <a:srgbClr val="5B6584"/>
            </a:solidFill>
            <a:prstDash val="solid"/>
            <a:tailEnd type="triangle"/>
          </a:ln>
        </p:spPr>
        <p:txBody>
          <a:bodyPr/>
          <a:lstStyle/>
          <a:p>
            <a:endParaRPr/>
          </a:p>
        </p:txBody>
      </p:sp>
      <p:sp>
        <p:nvSpPr>
          <p:cNvPr id="29" name="Shape 27"/>
          <p:cNvSpPr/>
          <p:nvPr/>
        </p:nvSpPr>
        <p:spPr>
          <a:xfrm>
            <a:off x="4340352" y="3200400"/>
            <a:ext cx="1584960" cy="566928"/>
          </a:xfrm>
          <a:prstGeom prst="roundRect">
            <a:avLst>
              <a:gd name="adj" fmla="val 8065"/>
            </a:avLst>
          </a:prstGeom>
          <a:solidFill>
            <a:srgbClr val="2A9187"/>
          </a:solidFill>
          <a:ln/>
        </p:spPr>
        <p:txBody>
          <a:bodyPr/>
          <a:lstStyle/>
          <a:p>
            <a:endParaRPr/>
          </a:p>
        </p:txBody>
      </p:sp>
      <p:sp>
        <p:nvSpPr>
          <p:cNvPr id="30" name="Text 28"/>
          <p:cNvSpPr/>
          <p:nvPr/>
        </p:nvSpPr>
        <p:spPr>
          <a:xfrm>
            <a:off x="4386072" y="3200400"/>
            <a:ext cx="1493520" cy="566928"/>
          </a:xfrm>
          <a:prstGeom prst="rect">
            <a:avLst/>
          </a:prstGeom>
          <a:noFill/>
          <a:ln/>
        </p:spPr>
        <p:txBody>
          <a:bodyPr wrap="square" lIns="0" tIns="0" rIns="0" bIns="0" rtlCol="0" anchor="ctr"/>
          <a:lstStyle/>
          <a:p>
            <a:pPr marL="0" indent="0" algn="ctr">
              <a:buNone/>
            </a:pPr>
            <a:r>
              <a:rPr lang="en-US" sz="950" b="1">
                <a:solidFill>
                  <a:srgbClr val="FFFFFF"/>
                </a:solidFill>
                <a:latin typeface="Calibri" pitchFamily="34" charset="0"/>
                <a:ea typeface="Calibri" pitchFamily="34" charset="-122"/>
                <a:cs typeface="Calibri" pitchFamily="34" charset="-120"/>
              </a:rPr>
              <a:t>AI Readiness</a:t>
            </a:r>
            <a:endParaRPr lang="en-US" sz="950"/>
          </a:p>
        </p:txBody>
      </p:sp>
      <p:sp>
        <p:nvSpPr>
          <p:cNvPr id="31" name="Shape 29"/>
          <p:cNvSpPr/>
          <p:nvPr/>
        </p:nvSpPr>
        <p:spPr>
          <a:xfrm>
            <a:off x="5925312" y="3483864"/>
            <a:ext cx="128016" cy="0"/>
          </a:xfrm>
          <a:prstGeom prst="line">
            <a:avLst/>
          </a:prstGeom>
          <a:noFill/>
          <a:ln w="12700">
            <a:solidFill>
              <a:srgbClr val="5B6584"/>
            </a:solidFill>
            <a:prstDash val="solid"/>
            <a:tailEnd type="triangle"/>
          </a:ln>
        </p:spPr>
        <p:txBody>
          <a:bodyPr/>
          <a:lstStyle/>
          <a:p>
            <a:endParaRPr/>
          </a:p>
        </p:txBody>
      </p:sp>
      <p:sp>
        <p:nvSpPr>
          <p:cNvPr id="32" name="Shape 30"/>
          <p:cNvSpPr/>
          <p:nvPr/>
        </p:nvSpPr>
        <p:spPr>
          <a:xfrm>
            <a:off x="6053328" y="3200400"/>
            <a:ext cx="1584960" cy="566928"/>
          </a:xfrm>
          <a:prstGeom prst="roundRect">
            <a:avLst>
              <a:gd name="adj" fmla="val 8065"/>
            </a:avLst>
          </a:prstGeom>
          <a:solidFill>
            <a:srgbClr val="C69749"/>
          </a:solidFill>
          <a:ln/>
        </p:spPr>
        <p:txBody>
          <a:bodyPr/>
          <a:lstStyle/>
          <a:p>
            <a:endParaRPr/>
          </a:p>
        </p:txBody>
      </p:sp>
      <p:sp>
        <p:nvSpPr>
          <p:cNvPr id="33" name="Text 31"/>
          <p:cNvSpPr/>
          <p:nvPr/>
        </p:nvSpPr>
        <p:spPr>
          <a:xfrm>
            <a:off x="6099048" y="3200400"/>
            <a:ext cx="1493520" cy="566928"/>
          </a:xfrm>
          <a:prstGeom prst="rect">
            <a:avLst/>
          </a:prstGeom>
          <a:noFill/>
          <a:ln/>
        </p:spPr>
        <p:txBody>
          <a:bodyPr wrap="square" lIns="0" tIns="0" rIns="0" bIns="0" rtlCol="0" anchor="ctr"/>
          <a:lstStyle/>
          <a:p>
            <a:pPr marL="0" indent="0" algn="ctr">
              <a:buNone/>
            </a:pPr>
            <a:r>
              <a:rPr lang="en-US" sz="950" b="1">
                <a:solidFill>
                  <a:srgbClr val="141B47"/>
                </a:solidFill>
                <a:latin typeface="Calibri" pitchFamily="34" charset="0"/>
                <a:ea typeface="Calibri" pitchFamily="34" charset="-122"/>
                <a:cs typeface="Calibri" pitchFamily="34" charset="-120"/>
              </a:rPr>
              <a:t>QA Approval</a:t>
            </a:r>
            <a:endParaRPr lang="en-US" sz="950"/>
          </a:p>
        </p:txBody>
      </p:sp>
      <p:sp>
        <p:nvSpPr>
          <p:cNvPr id="34" name="Shape 32"/>
          <p:cNvSpPr/>
          <p:nvPr/>
        </p:nvSpPr>
        <p:spPr>
          <a:xfrm>
            <a:off x="7638288" y="3483864"/>
            <a:ext cx="128016" cy="0"/>
          </a:xfrm>
          <a:prstGeom prst="line">
            <a:avLst/>
          </a:prstGeom>
          <a:noFill/>
          <a:ln w="12700">
            <a:solidFill>
              <a:srgbClr val="5B6584"/>
            </a:solidFill>
            <a:prstDash val="solid"/>
            <a:tailEnd type="triangle"/>
          </a:ln>
        </p:spPr>
        <p:txBody>
          <a:bodyPr/>
          <a:lstStyle/>
          <a:p>
            <a:endParaRPr/>
          </a:p>
        </p:txBody>
      </p:sp>
      <p:sp>
        <p:nvSpPr>
          <p:cNvPr id="35" name="Shape 33"/>
          <p:cNvSpPr/>
          <p:nvPr/>
        </p:nvSpPr>
        <p:spPr>
          <a:xfrm>
            <a:off x="7766304" y="3200400"/>
            <a:ext cx="1584960" cy="566928"/>
          </a:xfrm>
          <a:prstGeom prst="roundRect">
            <a:avLst>
              <a:gd name="adj" fmla="val 8065"/>
            </a:avLst>
          </a:prstGeom>
          <a:solidFill>
            <a:srgbClr val="F4F7FC"/>
          </a:solidFill>
          <a:ln w="12700">
            <a:solidFill>
              <a:srgbClr val="CADCFC"/>
            </a:solidFill>
            <a:prstDash val="solid"/>
          </a:ln>
        </p:spPr>
        <p:txBody>
          <a:bodyPr/>
          <a:lstStyle/>
          <a:p>
            <a:endParaRPr/>
          </a:p>
        </p:txBody>
      </p:sp>
      <p:sp>
        <p:nvSpPr>
          <p:cNvPr id="36" name="Text 34"/>
          <p:cNvSpPr/>
          <p:nvPr/>
        </p:nvSpPr>
        <p:spPr>
          <a:xfrm>
            <a:off x="7812024" y="3200400"/>
            <a:ext cx="1493520" cy="566928"/>
          </a:xfrm>
          <a:prstGeom prst="rect">
            <a:avLst/>
          </a:prstGeom>
          <a:noFill/>
          <a:ln/>
        </p:spPr>
        <p:txBody>
          <a:bodyPr wrap="square" lIns="0" tIns="0" rIns="0" bIns="0" rtlCol="0" anchor="ctr"/>
          <a:lstStyle/>
          <a:p>
            <a:pPr marL="0" indent="0" algn="ctr">
              <a:buNone/>
            </a:pPr>
            <a:r>
              <a:rPr lang="en-US" sz="950" b="1">
                <a:solidFill>
                  <a:srgbClr val="5B6584"/>
                </a:solidFill>
                <a:latin typeface="Calibri" pitchFamily="34" charset="0"/>
                <a:ea typeface="Calibri" pitchFamily="34" charset="-122"/>
                <a:cs typeface="Calibri" pitchFamily="34" charset="-120"/>
              </a:rPr>
              <a:t>Deployment</a:t>
            </a:r>
            <a:endParaRPr lang="en-US" sz="950"/>
          </a:p>
        </p:txBody>
      </p:sp>
      <p:sp>
        <p:nvSpPr>
          <p:cNvPr id="37" name="Shape 35"/>
          <p:cNvSpPr/>
          <p:nvPr/>
        </p:nvSpPr>
        <p:spPr>
          <a:xfrm>
            <a:off x="9351264" y="3483864"/>
            <a:ext cx="128016" cy="0"/>
          </a:xfrm>
          <a:prstGeom prst="line">
            <a:avLst/>
          </a:prstGeom>
          <a:noFill/>
          <a:ln w="12700">
            <a:solidFill>
              <a:srgbClr val="5B6584"/>
            </a:solidFill>
            <a:prstDash val="solid"/>
            <a:tailEnd type="triangle"/>
          </a:ln>
        </p:spPr>
        <p:txBody>
          <a:bodyPr/>
          <a:lstStyle/>
          <a:p>
            <a:endParaRPr/>
          </a:p>
        </p:txBody>
      </p:sp>
      <p:sp>
        <p:nvSpPr>
          <p:cNvPr id="38" name="Shape 36"/>
          <p:cNvSpPr/>
          <p:nvPr/>
        </p:nvSpPr>
        <p:spPr>
          <a:xfrm>
            <a:off x="9479280" y="3200400"/>
            <a:ext cx="1584960" cy="566928"/>
          </a:xfrm>
          <a:prstGeom prst="roundRect">
            <a:avLst>
              <a:gd name="adj" fmla="val 8065"/>
            </a:avLst>
          </a:prstGeom>
          <a:solidFill>
            <a:srgbClr val="F4F7FC"/>
          </a:solidFill>
          <a:ln w="12700">
            <a:solidFill>
              <a:srgbClr val="CADCFC"/>
            </a:solidFill>
            <a:prstDash val="solid"/>
          </a:ln>
        </p:spPr>
        <p:txBody>
          <a:bodyPr/>
          <a:lstStyle/>
          <a:p>
            <a:endParaRPr/>
          </a:p>
        </p:txBody>
      </p:sp>
      <p:sp>
        <p:nvSpPr>
          <p:cNvPr id="39" name="Text 37"/>
          <p:cNvSpPr/>
          <p:nvPr/>
        </p:nvSpPr>
        <p:spPr>
          <a:xfrm>
            <a:off x="9525000" y="3200400"/>
            <a:ext cx="1493520" cy="566928"/>
          </a:xfrm>
          <a:prstGeom prst="rect">
            <a:avLst/>
          </a:prstGeom>
          <a:noFill/>
          <a:ln/>
        </p:spPr>
        <p:txBody>
          <a:bodyPr wrap="square" lIns="0" tIns="0" rIns="0" bIns="0" rtlCol="0" anchor="ctr"/>
          <a:lstStyle/>
          <a:p>
            <a:pPr marL="0" indent="0" algn="ctr">
              <a:buNone/>
            </a:pPr>
            <a:r>
              <a:rPr lang="en-US" sz="950" b="1">
                <a:solidFill>
                  <a:srgbClr val="5B6584"/>
                </a:solidFill>
                <a:latin typeface="Calibri" pitchFamily="34" charset="0"/>
                <a:ea typeface="Calibri" pitchFamily="34" charset="-122"/>
                <a:cs typeface="Calibri" pitchFamily="34" charset="-120"/>
              </a:rPr>
              <a:t>Validation</a:t>
            </a:r>
            <a:endParaRPr lang="en-US" sz="950"/>
          </a:p>
        </p:txBody>
      </p:sp>
      <p:sp>
        <p:nvSpPr>
          <p:cNvPr id="40" name="Shape 38"/>
          <p:cNvSpPr/>
          <p:nvPr/>
        </p:nvSpPr>
        <p:spPr>
          <a:xfrm>
            <a:off x="914400" y="3977640"/>
            <a:ext cx="6035040" cy="1737360"/>
          </a:xfrm>
          <a:prstGeom prst="roundRect">
            <a:avLst>
              <a:gd name="adj" fmla="val 4211"/>
            </a:avLst>
          </a:prstGeom>
          <a:solidFill>
            <a:srgbClr val="F4F7FC"/>
          </a:solidFill>
          <a:ln w="12700">
            <a:solidFill>
              <a:srgbClr val="CADCFC"/>
            </a:solidFill>
            <a:prstDash val="solid"/>
          </a:ln>
        </p:spPr>
        <p:txBody>
          <a:bodyPr/>
          <a:lstStyle/>
          <a:p>
            <a:endParaRPr/>
          </a:p>
        </p:txBody>
      </p:sp>
      <p:sp>
        <p:nvSpPr>
          <p:cNvPr id="41" name="Text 39"/>
          <p:cNvSpPr/>
          <p:nvPr/>
        </p:nvSpPr>
        <p:spPr>
          <a:xfrm>
            <a:off x="1115568" y="4105656"/>
            <a:ext cx="4572000" cy="292608"/>
          </a:xfrm>
          <a:prstGeom prst="rect">
            <a:avLst/>
          </a:prstGeom>
          <a:noFill/>
          <a:ln/>
        </p:spPr>
        <p:txBody>
          <a:bodyPr wrap="square" rtlCol="0" anchor="ctr"/>
          <a:lstStyle/>
          <a:p>
            <a:pPr marL="0" indent="0">
              <a:buNone/>
            </a:pPr>
            <a:r>
              <a:rPr lang="en-US" sz="1200" b="1">
                <a:solidFill>
                  <a:srgbClr val="1E2761"/>
                </a:solidFill>
                <a:latin typeface="Calibri" pitchFamily="34" charset="0"/>
                <a:ea typeface="Calibri" pitchFamily="34" charset="-122"/>
                <a:cs typeface="Calibri" pitchFamily="34" charset="-120"/>
              </a:rPr>
              <a:t>Current stage · QA Approval</a:t>
            </a:r>
            <a:endParaRPr lang="en-US" sz="1200"/>
          </a:p>
        </p:txBody>
      </p:sp>
      <p:sp>
        <p:nvSpPr>
          <p:cNvPr id="42" name="Text 40"/>
          <p:cNvSpPr/>
          <p:nvPr/>
        </p:nvSpPr>
        <p:spPr>
          <a:xfrm>
            <a:off x="1115568" y="4480560"/>
            <a:ext cx="3291840" cy="347472"/>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QA Lead</a:t>
            </a:r>
            <a:endParaRPr lang="en-US" sz="1050"/>
          </a:p>
        </p:txBody>
      </p:sp>
      <p:sp>
        <p:nvSpPr>
          <p:cNvPr id="43" name="Shape 41"/>
          <p:cNvSpPr/>
          <p:nvPr/>
        </p:nvSpPr>
        <p:spPr>
          <a:xfrm>
            <a:off x="4572000" y="4526280"/>
            <a:ext cx="1188720" cy="256032"/>
          </a:xfrm>
          <a:prstGeom prst="roundRect">
            <a:avLst>
              <a:gd name="adj" fmla="val 50000"/>
            </a:avLst>
          </a:prstGeom>
          <a:solidFill>
            <a:srgbClr val="2A9187"/>
          </a:solidFill>
          <a:ln/>
        </p:spPr>
        <p:txBody>
          <a:bodyPr/>
          <a:lstStyle/>
          <a:p>
            <a:endParaRPr/>
          </a:p>
        </p:txBody>
      </p:sp>
      <p:sp>
        <p:nvSpPr>
          <p:cNvPr id="44" name="Text 42"/>
          <p:cNvSpPr/>
          <p:nvPr/>
        </p:nvSpPr>
        <p:spPr>
          <a:xfrm>
            <a:off x="4572000" y="4526280"/>
            <a:ext cx="1188720" cy="256032"/>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Approved</a:t>
            </a:r>
            <a:endParaRPr lang="en-US" sz="850"/>
          </a:p>
        </p:txBody>
      </p:sp>
      <p:sp>
        <p:nvSpPr>
          <p:cNvPr id="45" name="Text 43"/>
          <p:cNvSpPr/>
          <p:nvPr/>
        </p:nvSpPr>
        <p:spPr>
          <a:xfrm>
            <a:off x="1115568" y="4892040"/>
            <a:ext cx="3291840" cy="347472"/>
          </a:xfrm>
          <a:prstGeom prst="rect">
            <a:avLst/>
          </a:prstGeom>
          <a:noFill/>
          <a:ln/>
        </p:spPr>
        <p:txBody>
          <a:bodyPr wrap="square" rtlCol="0" anchor="ctr"/>
          <a:lstStyle/>
          <a:p>
            <a:pPr marL="0" indent="0">
              <a:buNone/>
            </a:pPr>
            <a:r>
              <a:rPr lang="en-US" sz="1050">
                <a:solidFill>
                  <a:srgbClr val="1B1F3B"/>
                </a:solidFill>
                <a:latin typeface="Calibri" pitchFamily="34" charset="0"/>
                <a:ea typeface="Calibri" pitchFamily="34" charset="-122"/>
                <a:cs typeface="Calibri" pitchFamily="34" charset="-120"/>
              </a:rPr>
              <a:t>QA Manager</a:t>
            </a:r>
            <a:endParaRPr lang="en-US" sz="1050"/>
          </a:p>
        </p:txBody>
      </p:sp>
      <p:sp>
        <p:nvSpPr>
          <p:cNvPr id="46" name="Shape 44"/>
          <p:cNvSpPr/>
          <p:nvPr/>
        </p:nvSpPr>
        <p:spPr>
          <a:xfrm>
            <a:off x="4572000" y="4937760"/>
            <a:ext cx="1188720" cy="256032"/>
          </a:xfrm>
          <a:prstGeom prst="roundRect">
            <a:avLst>
              <a:gd name="adj" fmla="val 50000"/>
            </a:avLst>
          </a:prstGeom>
          <a:solidFill>
            <a:srgbClr val="C69749"/>
          </a:solidFill>
          <a:ln/>
        </p:spPr>
        <p:txBody>
          <a:bodyPr/>
          <a:lstStyle/>
          <a:p>
            <a:endParaRPr/>
          </a:p>
        </p:txBody>
      </p:sp>
      <p:sp>
        <p:nvSpPr>
          <p:cNvPr id="47" name="Text 45"/>
          <p:cNvSpPr/>
          <p:nvPr/>
        </p:nvSpPr>
        <p:spPr>
          <a:xfrm>
            <a:off x="4572000" y="4937760"/>
            <a:ext cx="1188720" cy="256032"/>
          </a:xfrm>
          <a:prstGeom prst="rect">
            <a:avLst/>
          </a:prstGeom>
          <a:noFill/>
          <a:ln/>
        </p:spPr>
        <p:txBody>
          <a:bodyPr wrap="square" lIns="0" tIns="0" rIns="0" bIns="0" rtlCol="0" anchor="ctr"/>
          <a:lstStyle/>
          <a:p>
            <a:pPr marL="0" indent="0" algn="ctr">
              <a:buNone/>
            </a:pPr>
            <a:r>
              <a:rPr lang="en-US" sz="850" b="1">
                <a:solidFill>
                  <a:srgbClr val="141B47"/>
                </a:solidFill>
                <a:latin typeface="Calibri" pitchFamily="34" charset="0"/>
                <a:ea typeface="Calibri" pitchFamily="34" charset="-122"/>
                <a:cs typeface="Calibri" pitchFamily="34" charset="-120"/>
              </a:rPr>
              <a:t>Pending</a:t>
            </a:r>
            <a:endParaRPr lang="en-US" sz="850"/>
          </a:p>
        </p:txBody>
      </p:sp>
      <p:sp>
        <p:nvSpPr>
          <p:cNvPr id="48" name="Text 46"/>
          <p:cNvSpPr/>
          <p:nvPr/>
        </p:nvSpPr>
        <p:spPr>
          <a:xfrm>
            <a:off x="1115568" y="5330952"/>
            <a:ext cx="5486400" cy="274320"/>
          </a:xfrm>
          <a:prstGeom prst="rect">
            <a:avLst/>
          </a:prstGeom>
          <a:noFill/>
          <a:ln/>
        </p:spPr>
        <p:txBody>
          <a:bodyPr wrap="square" rtlCol="0" anchor="ctr"/>
          <a:lstStyle/>
          <a:p>
            <a:pPr marL="0" indent="0">
              <a:buNone/>
            </a:pPr>
            <a:r>
              <a:rPr lang="en-US" sz="900" i="1">
                <a:solidFill>
                  <a:srgbClr val="5B6584"/>
                </a:solidFill>
                <a:latin typeface="Calibri" pitchFamily="34" charset="0"/>
                <a:ea typeface="Calibri" pitchFamily="34" charset="-122"/>
                <a:cs typeface="Calibri" pitchFamily="34" charset="-120"/>
              </a:rPr>
              <a:t>Notification sent to QA Manager via Teams · SLA 24h</a:t>
            </a:r>
            <a:endParaRPr lang="en-US" sz="900"/>
          </a:p>
        </p:txBody>
      </p:sp>
      <p:sp>
        <p:nvSpPr>
          <p:cNvPr id="49" name="Shape 47"/>
          <p:cNvSpPr/>
          <p:nvPr/>
        </p:nvSpPr>
        <p:spPr>
          <a:xfrm>
            <a:off x="7132320" y="3977640"/>
            <a:ext cx="3931920" cy="1737360"/>
          </a:xfrm>
          <a:prstGeom prst="roundRect">
            <a:avLst>
              <a:gd name="adj" fmla="val 4211"/>
            </a:avLst>
          </a:prstGeom>
          <a:solidFill>
            <a:srgbClr val="1E2761"/>
          </a:solidFill>
          <a:ln/>
        </p:spPr>
        <p:txBody>
          <a:bodyPr/>
          <a:lstStyle/>
          <a:p>
            <a:endParaRPr/>
          </a:p>
        </p:txBody>
      </p:sp>
      <p:sp>
        <p:nvSpPr>
          <p:cNvPr id="50" name="Text 48"/>
          <p:cNvSpPr/>
          <p:nvPr/>
        </p:nvSpPr>
        <p:spPr>
          <a:xfrm>
            <a:off x="7360920" y="4105656"/>
            <a:ext cx="3474720" cy="256032"/>
          </a:xfrm>
          <a:prstGeom prst="rect">
            <a:avLst/>
          </a:prstGeom>
          <a:noFill/>
          <a:ln/>
        </p:spPr>
        <p:txBody>
          <a:bodyPr wrap="square" rtlCol="0" anchor="ctr"/>
          <a:lstStyle/>
          <a:p>
            <a:pPr marL="0" indent="0">
              <a:buNone/>
            </a:pPr>
            <a:r>
              <a:rPr lang="en-US" sz="850" b="1" kern="0" spc="80">
                <a:solidFill>
                  <a:srgbClr val="2A9187"/>
                </a:solidFill>
                <a:latin typeface="Calibri" pitchFamily="34" charset="0"/>
                <a:ea typeface="Calibri" pitchFamily="34" charset="-122"/>
                <a:cs typeface="Calibri" pitchFamily="34" charset="-120"/>
              </a:rPr>
              <a:t>AI READINESS</a:t>
            </a:r>
            <a:endParaRPr lang="en-US" sz="850"/>
          </a:p>
        </p:txBody>
      </p:sp>
      <p:sp>
        <p:nvSpPr>
          <p:cNvPr id="51" name="Text 49"/>
          <p:cNvSpPr/>
          <p:nvPr/>
        </p:nvSpPr>
        <p:spPr>
          <a:xfrm>
            <a:off x="7360920" y="4361688"/>
            <a:ext cx="1463040" cy="548640"/>
          </a:xfrm>
          <a:prstGeom prst="rect">
            <a:avLst/>
          </a:prstGeom>
          <a:noFill/>
          <a:ln/>
        </p:spPr>
        <p:txBody>
          <a:bodyPr wrap="square" rtlCol="0" anchor="ctr"/>
          <a:lstStyle/>
          <a:p>
            <a:pPr marL="0" indent="0">
              <a:buNone/>
            </a:pPr>
            <a:r>
              <a:rPr lang="en-US" sz="2800" b="1">
                <a:solidFill>
                  <a:srgbClr val="FFFFFF"/>
                </a:solidFill>
                <a:latin typeface="Cambria" pitchFamily="34" charset="0"/>
                <a:ea typeface="Cambria" pitchFamily="34" charset="-122"/>
                <a:cs typeface="Cambria" pitchFamily="34" charset="-120"/>
              </a:rPr>
              <a:t>92%</a:t>
            </a:r>
            <a:endParaRPr lang="en-US" sz="2800"/>
          </a:p>
        </p:txBody>
      </p:sp>
      <p:sp>
        <p:nvSpPr>
          <p:cNvPr id="52" name="Text 50"/>
          <p:cNvSpPr/>
          <p:nvPr/>
        </p:nvSpPr>
        <p:spPr>
          <a:xfrm>
            <a:off x="8823960" y="4480560"/>
            <a:ext cx="1280160" cy="365760"/>
          </a:xfrm>
          <a:prstGeom prst="rect">
            <a:avLst/>
          </a:prstGeom>
          <a:noFill/>
          <a:ln/>
        </p:spPr>
        <p:txBody>
          <a:bodyPr wrap="square" rtlCol="0" anchor="ctr"/>
          <a:lstStyle/>
          <a:p>
            <a:pPr marL="0" indent="0">
              <a:buNone/>
            </a:pPr>
            <a:r>
              <a:rPr lang="en-US" sz="1200" b="1">
                <a:solidFill>
                  <a:srgbClr val="2A9187"/>
                </a:solidFill>
                <a:latin typeface="Calibri" pitchFamily="34" charset="0"/>
                <a:ea typeface="Calibri" pitchFamily="34" charset="-122"/>
                <a:cs typeface="Calibri" pitchFamily="34" charset="-120"/>
              </a:rPr>
              <a:t>Ready</a:t>
            </a:r>
            <a:endParaRPr lang="en-US" sz="1200"/>
          </a:p>
        </p:txBody>
      </p:sp>
      <p:sp>
        <p:nvSpPr>
          <p:cNvPr id="53" name="Text 51"/>
          <p:cNvSpPr/>
          <p:nvPr/>
        </p:nvSpPr>
        <p:spPr>
          <a:xfrm>
            <a:off x="7360920" y="4983480"/>
            <a:ext cx="3520440" cy="594360"/>
          </a:xfrm>
          <a:prstGeom prst="rect">
            <a:avLst/>
          </a:prstGeom>
          <a:noFill/>
          <a:ln/>
        </p:spPr>
        <p:txBody>
          <a:bodyPr wrap="square" rtlCol="0" anchor="ctr"/>
          <a:lstStyle/>
          <a:p>
            <a:pPr marL="0" indent="0">
              <a:lnSpc>
                <a:spcPct val="120000"/>
              </a:lnSpc>
              <a:buNone/>
            </a:pPr>
            <a:r>
              <a:rPr lang="en-US" sz="900">
                <a:solidFill>
                  <a:srgbClr val="CADCFC"/>
                </a:solidFill>
                <a:latin typeface="Calibri" pitchFamily="34" charset="0"/>
                <a:ea typeface="Calibri" pitchFamily="34" charset="-122"/>
                <a:cs typeface="Calibri" pitchFamily="34" charset="-120"/>
              </a:rPr>
              <a:t>12 changes · 6 services affected · 1 DB migration · no blocking issues</a:t>
            </a:r>
            <a:endParaRPr lang="en-US" sz="900"/>
          </a:p>
        </p:txBody>
      </p:sp>
      <p:sp>
        <p:nvSpPr>
          <p:cNvPr id="54" name="Text 52"/>
          <p:cNvSpPr/>
          <p:nvPr/>
        </p:nvSpPr>
        <p:spPr>
          <a:xfrm>
            <a:off x="457200" y="6519672"/>
            <a:ext cx="8229600" cy="274320"/>
          </a:xfrm>
          <a:prstGeom prst="rect">
            <a:avLst/>
          </a:prstGeom>
          <a:noFill/>
          <a:ln/>
        </p:spPr>
        <p:txBody>
          <a:bodyPr wrap="square" lIns="91440" tIns="45720" rIns="91440" bIns="45720" rtlCol="0" anchor="ctr"/>
          <a:lstStyle/>
          <a:p>
            <a:r>
              <a:rPr lang="en-US" sz="1000">
                <a:solidFill>
                  <a:srgbClr val="5B6584"/>
                </a:solidFill>
                <a:latin typeface="Calibri"/>
                <a:ea typeface="Calibri"/>
                <a:cs typeface="Calibri"/>
              </a:rPr>
              <a:t>Deployment as a Service</a:t>
            </a:r>
            <a:endParaRPr lang="en-US" sz="1000"/>
          </a:p>
        </p:txBody>
      </p:sp>
      <p:sp>
        <p:nvSpPr>
          <p:cNvPr id="55" name="Text 53"/>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18</a:t>
            </a:r>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74320"/>
          </a:xfrm>
          <a:prstGeom prst="rect">
            <a:avLst/>
          </a:prstGeom>
          <a:noFill/>
          <a:ln/>
        </p:spPr>
        <p:txBody>
          <a:bodyPr wrap="square" rtlCol="0" anchor="ctr"/>
          <a:lstStyle/>
          <a:p>
            <a:pPr marL="0" indent="0">
              <a:buNone/>
            </a:pPr>
            <a:r>
              <a:rPr lang="en-US" sz="1200" b="1" kern="0" spc="200">
                <a:solidFill>
                  <a:srgbClr val="1F6E66"/>
                </a:solidFill>
                <a:latin typeface="Calibri" pitchFamily="34" charset="0"/>
                <a:ea typeface="Calibri" pitchFamily="34" charset="-122"/>
                <a:cs typeface="Calibri" pitchFamily="34" charset="-120"/>
              </a:rPr>
              <a:t>ADMIN CONSOLE</a:t>
            </a:r>
            <a:endParaRPr lang="en-US" sz="1200"/>
          </a:p>
        </p:txBody>
      </p:sp>
      <p:sp>
        <p:nvSpPr>
          <p:cNvPr id="3" name="Text 1"/>
          <p:cNvSpPr/>
          <p:nvPr/>
        </p:nvSpPr>
        <p:spPr>
          <a:xfrm>
            <a:off x="548640" y="603504"/>
            <a:ext cx="10881360" cy="640080"/>
          </a:xfrm>
          <a:prstGeom prst="rect">
            <a:avLst/>
          </a:prstGeom>
          <a:noFill/>
          <a:ln/>
        </p:spPr>
        <p:txBody>
          <a:bodyPr wrap="square" rtlCol="0" anchor="ctr"/>
          <a:lstStyle/>
          <a:p>
            <a:pPr marL="0" indent="0">
              <a:buNone/>
            </a:pPr>
            <a:r>
              <a:rPr lang="en-US" sz="2600" b="1">
                <a:solidFill>
                  <a:srgbClr val="1E2761"/>
                </a:solidFill>
                <a:latin typeface="Cambria" pitchFamily="34" charset="0"/>
                <a:ea typeface="Cambria" pitchFamily="34" charset="-122"/>
                <a:cs typeface="Cambria" pitchFamily="34" charset="-120"/>
              </a:rPr>
              <a:t>Notifications — Pub-Sub, Configurable Per Page</a:t>
            </a:r>
            <a:endParaRPr lang="en-US" sz="2600"/>
          </a:p>
        </p:txBody>
      </p:sp>
      <p:sp>
        <p:nvSpPr>
          <p:cNvPr id="4" name="Text 2"/>
          <p:cNvSpPr/>
          <p:nvPr/>
        </p:nvSpPr>
        <p:spPr>
          <a:xfrm>
            <a:off x="548640" y="1298448"/>
            <a:ext cx="10881360" cy="320040"/>
          </a:xfrm>
          <a:prstGeom prst="rect">
            <a:avLst/>
          </a:prstGeom>
          <a:noFill/>
          <a:ln/>
        </p:spPr>
        <p:txBody>
          <a:bodyPr wrap="square" rtlCol="0" anchor="ctr"/>
          <a:lstStyle/>
          <a:p>
            <a:pPr marL="0" indent="0">
              <a:buNone/>
            </a:pPr>
            <a:r>
              <a:rPr lang="en-US" sz="1200" i="1">
                <a:solidFill>
                  <a:srgbClr val="5B6584"/>
                </a:solidFill>
                <a:latin typeface="Calibri" pitchFamily="34" charset="0"/>
                <a:ea typeface="Calibri" pitchFamily="34" charset="-122"/>
                <a:cs typeface="Calibri" pitchFamily="34" charset="-120"/>
              </a:rPr>
              <a:t>Admin controls which events publish, who subscribes, on which channel — and can switch notifications off at page level.</a:t>
            </a:r>
            <a:endParaRPr lang="en-US" sz="1200"/>
          </a:p>
        </p:txBody>
      </p:sp>
      <p:sp>
        <p:nvSpPr>
          <p:cNvPr id="5" name="Text 3"/>
          <p:cNvSpPr/>
          <p:nvPr/>
        </p:nvSpPr>
        <p:spPr>
          <a:xfrm>
            <a:off x="548640" y="1737360"/>
            <a:ext cx="3657600" cy="219456"/>
          </a:xfrm>
          <a:prstGeom prst="rect">
            <a:avLst/>
          </a:prstGeom>
          <a:noFill/>
          <a:ln/>
        </p:spPr>
        <p:txBody>
          <a:bodyPr wrap="square" rtlCol="0" anchor="ctr"/>
          <a:lstStyle/>
          <a:p>
            <a:pPr marL="0" indent="0">
              <a:buNone/>
            </a:pPr>
            <a:r>
              <a:rPr lang="en-US" sz="850" b="1" kern="0" spc="50">
                <a:solidFill>
                  <a:srgbClr val="1F6E66"/>
                </a:solidFill>
                <a:latin typeface="Calibri" pitchFamily="34" charset="0"/>
                <a:ea typeface="Calibri" pitchFamily="34" charset="-122"/>
                <a:cs typeface="Calibri" pitchFamily="34" charset="-120"/>
              </a:rPr>
              <a:t>PUBLISHERS · platform events</a:t>
            </a:r>
            <a:endParaRPr lang="en-US" sz="850"/>
          </a:p>
        </p:txBody>
      </p:sp>
      <p:sp>
        <p:nvSpPr>
          <p:cNvPr id="6" name="Shape 4"/>
          <p:cNvSpPr/>
          <p:nvPr/>
        </p:nvSpPr>
        <p:spPr>
          <a:xfrm>
            <a:off x="548640" y="201168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7" name="Text 5"/>
          <p:cNvSpPr/>
          <p:nvPr/>
        </p:nvSpPr>
        <p:spPr>
          <a:xfrm>
            <a:off x="685800" y="201168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Approval requested</a:t>
            </a:r>
            <a:endParaRPr lang="en-US" sz="1000"/>
          </a:p>
        </p:txBody>
      </p:sp>
      <p:sp>
        <p:nvSpPr>
          <p:cNvPr id="8" name="Shape 6"/>
          <p:cNvSpPr/>
          <p:nvPr/>
        </p:nvSpPr>
        <p:spPr>
          <a:xfrm>
            <a:off x="548640" y="251460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9" name="Text 7"/>
          <p:cNvSpPr/>
          <p:nvPr/>
        </p:nvSpPr>
        <p:spPr>
          <a:xfrm>
            <a:off x="685800" y="251460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Deployment started</a:t>
            </a:r>
            <a:endParaRPr lang="en-US" sz="1000"/>
          </a:p>
        </p:txBody>
      </p:sp>
      <p:sp>
        <p:nvSpPr>
          <p:cNvPr id="10" name="Shape 8"/>
          <p:cNvSpPr/>
          <p:nvPr/>
        </p:nvSpPr>
        <p:spPr>
          <a:xfrm>
            <a:off x="548640" y="301752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11" name="Text 9"/>
          <p:cNvSpPr/>
          <p:nvPr/>
        </p:nvSpPr>
        <p:spPr>
          <a:xfrm>
            <a:off x="685800" y="301752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Validation failed</a:t>
            </a:r>
            <a:endParaRPr lang="en-US" sz="1000"/>
          </a:p>
        </p:txBody>
      </p:sp>
      <p:sp>
        <p:nvSpPr>
          <p:cNvPr id="12" name="Shape 10"/>
          <p:cNvSpPr/>
          <p:nvPr/>
        </p:nvSpPr>
        <p:spPr>
          <a:xfrm>
            <a:off x="548640" y="3520440"/>
            <a:ext cx="283464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13" name="Text 11"/>
          <p:cNvSpPr/>
          <p:nvPr/>
        </p:nvSpPr>
        <p:spPr>
          <a:xfrm>
            <a:off x="685800" y="3520440"/>
            <a:ext cx="2651760" cy="420624"/>
          </a:xfrm>
          <a:prstGeom prst="rect">
            <a:avLst/>
          </a:prstGeom>
          <a:noFill/>
          <a:ln/>
        </p:spPr>
        <p:txBody>
          <a:bodyPr wrap="square" rtlCol="0" anchor="ctr"/>
          <a:lstStyle/>
          <a:p>
            <a:pPr marL="0" indent="0">
              <a:buNone/>
            </a:pPr>
            <a:r>
              <a:rPr lang="en-US" sz="1000">
                <a:solidFill>
                  <a:srgbClr val="1B1F3B"/>
                </a:solidFill>
                <a:latin typeface="Calibri" pitchFamily="34" charset="0"/>
                <a:ea typeface="Calibri" pitchFamily="34" charset="-122"/>
                <a:cs typeface="Calibri" pitchFamily="34" charset="-120"/>
              </a:rPr>
              <a:t>Rollback triggered</a:t>
            </a:r>
            <a:endParaRPr lang="en-US" sz="1000"/>
          </a:p>
        </p:txBody>
      </p:sp>
      <p:sp>
        <p:nvSpPr>
          <p:cNvPr id="14" name="Shape 12"/>
          <p:cNvSpPr/>
          <p:nvPr/>
        </p:nvSpPr>
        <p:spPr>
          <a:xfrm>
            <a:off x="3977640" y="2011680"/>
            <a:ext cx="2148840" cy="1874520"/>
          </a:xfrm>
          <a:prstGeom prst="roundRect">
            <a:avLst>
              <a:gd name="adj" fmla="val 3902"/>
            </a:avLst>
          </a:prstGeom>
          <a:solidFill>
            <a:srgbClr val="002060"/>
          </a:solidFill>
          <a:ln/>
        </p:spPr>
        <p:txBody>
          <a:bodyPr/>
          <a:lstStyle/>
          <a:p>
            <a:endParaRPr/>
          </a:p>
        </p:txBody>
      </p:sp>
      <p:sp>
        <p:nvSpPr>
          <p:cNvPr id="15" name="Text 13"/>
          <p:cNvSpPr/>
          <p:nvPr/>
        </p:nvSpPr>
        <p:spPr>
          <a:xfrm>
            <a:off x="3977640" y="2240280"/>
            <a:ext cx="2148840" cy="731520"/>
          </a:xfrm>
          <a:prstGeom prst="rect">
            <a:avLst/>
          </a:prstGeom>
          <a:noFill/>
          <a:ln/>
        </p:spPr>
        <p:txBody>
          <a:bodyPr wrap="square" rtlCol="0" anchor="ctr"/>
          <a:lstStyle/>
          <a:p>
            <a:pPr marL="0" indent="0" algn="ctr">
              <a:lnSpc>
                <a:spcPct val="110000"/>
              </a:lnSpc>
              <a:buNone/>
            </a:pPr>
            <a:r>
              <a:rPr lang="en-US" sz="1300" b="1">
                <a:solidFill>
                  <a:srgbClr val="FFFFFF"/>
                </a:solidFill>
                <a:latin typeface="Calibri" pitchFamily="34" charset="0"/>
                <a:ea typeface="Calibri" pitchFamily="34" charset="-122"/>
                <a:cs typeface="Calibri" pitchFamily="34" charset="-120"/>
              </a:rPr>
              <a:t>Notification</a:t>
            </a:r>
            <a:endParaRPr lang="en-US" sz="1300"/>
          </a:p>
          <a:p>
            <a:pPr marL="0" indent="0" algn="ctr">
              <a:lnSpc>
                <a:spcPct val="110000"/>
              </a:lnSpc>
              <a:buNone/>
            </a:pPr>
            <a:r>
              <a:rPr lang="en-US" sz="1300" b="1">
                <a:solidFill>
                  <a:srgbClr val="FFFFFF"/>
                </a:solidFill>
                <a:latin typeface="Calibri" pitchFamily="34" charset="0"/>
                <a:ea typeface="Calibri" pitchFamily="34" charset="-122"/>
                <a:cs typeface="Calibri" pitchFamily="34" charset="-120"/>
              </a:rPr>
              <a:t>Broker</a:t>
            </a:r>
            <a:endParaRPr lang="en-US" sz="1300"/>
          </a:p>
        </p:txBody>
      </p:sp>
      <p:sp>
        <p:nvSpPr>
          <p:cNvPr id="16" name="Text 14"/>
          <p:cNvSpPr/>
          <p:nvPr/>
        </p:nvSpPr>
        <p:spPr>
          <a:xfrm>
            <a:off x="4114800" y="2971800"/>
            <a:ext cx="1874520" cy="777240"/>
          </a:xfrm>
          <a:prstGeom prst="rect">
            <a:avLst/>
          </a:prstGeom>
          <a:noFill/>
          <a:ln/>
        </p:spPr>
        <p:txBody>
          <a:bodyPr wrap="square" lIns="91440" tIns="45720" rIns="91440" bIns="45720" rtlCol="0" anchor="ctr"/>
          <a:lstStyle/>
          <a:p>
            <a:pPr marL="0" indent="0" algn="ctr">
              <a:lnSpc>
                <a:spcPct val="115000"/>
              </a:lnSpc>
              <a:buNone/>
            </a:pPr>
            <a:r>
              <a:rPr lang="en-US" sz="900">
                <a:solidFill>
                  <a:schemeClr val="bg1">
                    <a:lumMod val="85000"/>
                  </a:schemeClr>
                </a:solidFill>
                <a:latin typeface="Calibri"/>
                <a:ea typeface="Calibri"/>
                <a:cs typeface="Calibri"/>
              </a:rPr>
              <a:t>Admin rules decide</a:t>
            </a:r>
          </a:p>
          <a:p>
            <a:pPr marL="0" indent="0" algn="ctr">
              <a:lnSpc>
                <a:spcPct val="115000"/>
              </a:lnSpc>
              <a:buNone/>
            </a:pPr>
            <a:r>
              <a:rPr lang="en-US" sz="900">
                <a:solidFill>
                  <a:schemeClr val="bg1">
                    <a:lumMod val="85000"/>
                  </a:schemeClr>
                </a:solidFill>
                <a:latin typeface="Calibri"/>
                <a:ea typeface="Calibri"/>
                <a:cs typeface="Calibri"/>
              </a:rPr>
              <a:t>who gets what,</a:t>
            </a:r>
          </a:p>
          <a:p>
            <a:pPr marL="0" indent="0" algn="ctr">
              <a:lnSpc>
                <a:spcPct val="115000"/>
              </a:lnSpc>
              <a:buNone/>
            </a:pPr>
            <a:r>
              <a:rPr lang="en-US" sz="900">
                <a:solidFill>
                  <a:schemeClr val="bg1">
                    <a:lumMod val="85000"/>
                  </a:schemeClr>
                </a:solidFill>
                <a:latin typeface="Calibri"/>
                <a:ea typeface="Calibri"/>
                <a:cs typeface="Calibri"/>
              </a:rPr>
              <a:t>where, and when</a:t>
            </a:r>
          </a:p>
        </p:txBody>
      </p:sp>
      <p:sp>
        <p:nvSpPr>
          <p:cNvPr id="17" name="Shape 15"/>
          <p:cNvSpPr/>
          <p:nvPr/>
        </p:nvSpPr>
        <p:spPr>
          <a:xfrm>
            <a:off x="3383280" y="2926080"/>
            <a:ext cx="548640" cy="0"/>
          </a:xfrm>
          <a:prstGeom prst="line">
            <a:avLst/>
          </a:prstGeom>
          <a:noFill/>
          <a:ln w="19050">
            <a:solidFill>
              <a:srgbClr val="5B6584"/>
            </a:solidFill>
            <a:prstDash val="solid"/>
            <a:tailEnd type="triangle"/>
          </a:ln>
        </p:spPr>
        <p:txBody>
          <a:bodyPr/>
          <a:lstStyle/>
          <a:p>
            <a:endParaRPr/>
          </a:p>
        </p:txBody>
      </p:sp>
      <p:sp>
        <p:nvSpPr>
          <p:cNvPr id="18" name="Shape 16"/>
          <p:cNvSpPr/>
          <p:nvPr/>
        </p:nvSpPr>
        <p:spPr>
          <a:xfrm>
            <a:off x="6126480" y="2926080"/>
            <a:ext cx="548640" cy="0"/>
          </a:xfrm>
          <a:prstGeom prst="line">
            <a:avLst/>
          </a:prstGeom>
          <a:noFill/>
          <a:ln w="19050">
            <a:solidFill>
              <a:srgbClr val="5B6584"/>
            </a:solidFill>
            <a:prstDash val="solid"/>
            <a:tailEnd type="triangle"/>
          </a:ln>
        </p:spPr>
        <p:txBody>
          <a:bodyPr/>
          <a:lstStyle/>
          <a:p>
            <a:endParaRPr/>
          </a:p>
        </p:txBody>
      </p:sp>
      <p:sp>
        <p:nvSpPr>
          <p:cNvPr id="19" name="Text 17"/>
          <p:cNvSpPr/>
          <p:nvPr/>
        </p:nvSpPr>
        <p:spPr>
          <a:xfrm>
            <a:off x="6720840" y="1737360"/>
            <a:ext cx="4572000" cy="219456"/>
          </a:xfrm>
          <a:prstGeom prst="rect">
            <a:avLst/>
          </a:prstGeom>
          <a:noFill/>
          <a:ln/>
        </p:spPr>
        <p:txBody>
          <a:bodyPr wrap="square" rtlCol="0" anchor="ctr"/>
          <a:lstStyle/>
          <a:p>
            <a:pPr marL="0" indent="0">
              <a:buNone/>
            </a:pPr>
            <a:r>
              <a:rPr lang="en-US" sz="850" b="1" kern="0" spc="50">
                <a:solidFill>
                  <a:srgbClr val="1F6E66"/>
                </a:solidFill>
                <a:latin typeface="Calibri" pitchFamily="34" charset="0"/>
                <a:ea typeface="Calibri" pitchFamily="34" charset="-122"/>
                <a:cs typeface="Calibri" pitchFamily="34" charset="-120"/>
              </a:rPr>
              <a:t>SUBSCRIBERS · channels &amp; roles</a:t>
            </a:r>
            <a:endParaRPr lang="en-US" sz="850"/>
          </a:p>
        </p:txBody>
      </p:sp>
      <p:sp>
        <p:nvSpPr>
          <p:cNvPr id="20" name="Shape 18"/>
          <p:cNvSpPr/>
          <p:nvPr/>
        </p:nvSpPr>
        <p:spPr>
          <a:xfrm>
            <a:off x="6720840" y="201168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21" name="Text 19"/>
          <p:cNvSpPr/>
          <p:nvPr/>
        </p:nvSpPr>
        <p:spPr>
          <a:xfrm>
            <a:off x="6858000" y="201168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Email</a:t>
            </a:r>
            <a:endParaRPr lang="en-US" sz="1000"/>
          </a:p>
        </p:txBody>
      </p:sp>
      <p:sp>
        <p:nvSpPr>
          <p:cNvPr id="22" name="Text 20"/>
          <p:cNvSpPr/>
          <p:nvPr/>
        </p:nvSpPr>
        <p:spPr>
          <a:xfrm>
            <a:off x="8686800" y="201168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QA Lead, Release Mgr</a:t>
            </a:r>
            <a:endParaRPr lang="en-US" sz="950"/>
          </a:p>
        </p:txBody>
      </p:sp>
      <p:sp>
        <p:nvSpPr>
          <p:cNvPr id="23" name="Shape 21"/>
          <p:cNvSpPr/>
          <p:nvPr/>
        </p:nvSpPr>
        <p:spPr>
          <a:xfrm>
            <a:off x="6720840" y="251460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24" name="Text 22"/>
          <p:cNvSpPr/>
          <p:nvPr/>
        </p:nvSpPr>
        <p:spPr>
          <a:xfrm>
            <a:off x="6858000" y="251460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Microsoft Teams</a:t>
            </a:r>
            <a:endParaRPr lang="en-US" sz="1000"/>
          </a:p>
        </p:txBody>
      </p:sp>
      <p:sp>
        <p:nvSpPr>
          <p:cNvPr id="25" name="Text 23"/>
          <p:cNvSpPr/>
          <p:nvPr/>
        </p:nvSpPr>
        <p:spPr>
          <a:xfrm>
            <a:off x="8686800" y="251460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Platform channel</a:t>
            </a:r>
            <a:endParaRPr lang="en-US" sz="950"/>
          </a:p>
        </p:txBody>
      </p:sp>
      <p:sp>
        <p:nvSpPr>
          <p:cNvPr id="26" name="Shape 24"/>
          <p:cNvSpPr/>
          <p:nvPr/>
        </p:nvSpPr>
        <p:spPr>
          <a:xfrm>
            <a:off x="6720840" y="301752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27" name="Text 25"/>
          <p:cNvSpPr/>
          <p:nvPr/>
        </p:nvSpPr>
        <p:spPr>
          <a:xfrm>
            <a:off x="6858000" y="301752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Slack</a:t>
            </a:r>
            <a:endParaRPr lang="en-US" sz="1000"/>
          </a:p>
        </p:txBody>
      </p:sp>
      <p:sp>
        <p:nvSpPr>
          <p:cNvPr id="28" name="Text 26"/>
          <p:cNvSpPr/>
          <p:nvPr/>
        </p:nvSpPr>
        <p:spPr>
          <a:xfrm>
            <a:off x="8686800" y="301752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#deployments</a:t>
            </a:r>
            <a:endParaRPr lang="en-US" sz="950"/>
          </a:p>
        </p:txBody>
      </p:sp>
      <p:sp>
        <p:nvSpPr>
          <p:cNvPr id="29" name="Shape 27"/>
          <p:cNvSpPr/>
          <p:nvPr/>
        </p:nvSpPr>
        <p:spPr>
          <a:xfrm>
            <a:off x="6720840" y="3520440"/>
            <a:ext cx="4709160" cy="420624"/>
          </a:xfrm>
          <a:prstGeom prst="roundRect">
            <a:avLst>
              <a:gd name="adj" fmla="val 10870"/>
            </a:avLst>
          </a:prstGeom>
          <a:solidFill>
            <a:srgbClr val="FFFFFF"/>
          </a:solidFill>
          <a:ln w="12700">
            <a:solidFill>
              <a:srgbClr val="CADCFC"/>
            </a:solidFill>
            <a:prstDash val="solid"/>
          </a:ln>
        </p:spPr>
        <p:txBody>
          <a:bodyPr/>
          <a:lstStyle/>
          <a:p>
            <a:endParaRPr/>
          </a:p>
        </p:txBody>
      </p:sp>
      <p:sp>
        <p:nvSpPr>
          <p:cNvPr id="30" name="Text 28"/>
          <p:cNvSpPr/>
          <p:nvPr/>
        </p:nvSpPr>
        <p:spPr>
          <a:xfrm>
            <a:off x="6858000" y="3520440"/>
            <a:ext cx="1828800" cy="420624"/>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Webhook</a:t>
            </a:r>
            <a:endParaRPr lang="en-US" sz="1000"/>
          </a:p>
        </p:txBody>
      </p:sp>
      <p:sp>
        <p:nvSpPr>
          <p:cNvPr id="31" name="Text 29"/>
          <p:cNvSpPr/>
          <p:nvPr/>
        </p:nvSpPr>
        <p:spPr>
          <a:xfrm>
            <a:off x="8686800" y="3520440"/>
            <a:ext cx="2651760" cy="420624"/>
          </a:xfrm>
          <a:prstGeom prst="rect">
            <a:avLst/>
          </a:prstGeom>
          <a:noFill/>
          <a:ln/>
        </p:spPr>
        <p:txBody>
          <a:bodyPr wrap="square" rtlCol="0" anchor="ctr"/>
          <a:lstStyle/>
          <a:p>
            <a:pPr marL="0" indent="0">
              <a:buNone/>
            </a:pPr>
            <a:r>
              <a:rPr lang="en-US" sz="950">
                <a:solidFill>
                  <a:srgbClr val="5B6584"/>
                </a:solidFill>
                <a:latin typeface="Calibri" pitchFamily="34" charset="0"/>
                <a:ea typeface="Calibri" pitchFamily="34" charset="-122"/>
                <a:cs typeface="Calibri" pitchFamily="34" charset="-120"/>
              </a:rPr>
              <a:t>Client ITSM</a:t>
            </a:r>
            <a:endParaRPr lang="en-US" sz="950"/>
          </a:p>
        </p:txBody>
      </p:sp>
      <p:sp>
        <p:nvSpPr>
          <p:cNvPr id="32" name="Text 30"/>
          <p:cNvSpPr/>
          <p:nvPr/>
        </p:nvSpPr>
        <p:spPr>
          <a:xfrm>
            <a:off x="548640" y="4206240"/>
            <a:ext cx="8229600" cy="228600"/>
          </a:xfrm>
          <a:prstGeom prst="rect">
            <a:avLst/>
          </a:prstGeom>
          <a:noFill/>
          <a:ln/>
        </p:spPr>
        <p:txBody>
          <a:bodyPr wrap="square" rtlCol="0" anchor="ctr"/>
          <a:lstStyle/>
          <a:p>
            <a:pPr marL="0" indent="0">
              <a:buNone/>
            </a:pPr>
            <a:r>
              <a:rPr lang="en-US" sz="900" b="1" kern="0" spc="50">
                <a:solidFill>
                  <a:srgbClr val="1F6E66"/>
                </a:solidFill>
                <a:latin typeface="Calibri" pitchFamily="34" charset="0"/>
                <a:ea typeface="Calibri" pitchFamily="34" charset="-122"/>
                <a:cs typeface="Calibri" pitchFamily="34" charset="-120"/>
              </a:rPr>
              <a:t>PER-PAGE CONTROL — Admin can enable or disable notifications for any screen</a:t>
            </a:r>
            <a:endParaRPr lang="en-US" sz="900"/>
          </a:p>
        </p:txBody>
      </p:sp>
      <p:sp>
        <p:nvSpPr>
          <p:cNvPr id="33" name="Shape 31"/>
          <p:cNvSpPr/>
          <p:nvPr/>
        </p:nvSpPr>
        <p:spPr>
          <a:xfrm>
            <a:off x="548640"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34" name="Text 32"/>
          <p:cNvSpPr/>
          <p:nvPr/>
        </p:nvSpPr>
        <p:spPr>
          <a:xfrm>
            <a:off x="685800"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Approval page</a:t>
            </a:r>
            <a:endParaRPr lang="en-US" sz="1000"/>
          </a:p>
        </p:txBody>
      </p:sp>
      <p:sp>
        <p:nvSpPr>
          <p:cNvPr id="35" name="Shape 33"/>
          <p:cNvSpPr/>
          <p:nvPr/>
        </p:nvSpPr>
        <p:spPr>
          <a:xfrm>
            <a:off x="685800" y="4983480"/>
            <a:ext cx="566928" cy="237744"/>
          </a:xfrm>
          <a:prstGeom prst="roundRect">
            <a:avLst>
              <a:gd name="adj" fmla="val 50000"/>
            </a:avLst>
          </a:prstGeom>
          <a:solidFill>
            <a:srgbClr val="2A9187"/>
          </a:solidFill>
          <a:ln/>
        </p:spPr>
        <p:txBody>
          <a:bodyPr/>
          <a:lstStyle/>
          <a:p>
            <a:endParaRPr/>
          </a:p>
        </p:txBody>
      </p:sp>
      <p:sp>
        <p:nvSpPr>
          <p:cNvPr id="36" name="Shape 34"/>
          <p:cNvSpPr/>
          <p:nvPr/>
        </p:nvSpPr>
        <p:spPr>
          <a:xfrm>
            <a:off x="1033272" y="5010912"/>
            <a:ext cx="182880" cy="182880"/>
          </a:xfrm>
          <a:prstGeom prst="ellipse">
            <a:avLst/>
          </a:prstGeom>
          <a:solidFill>
            <a:srgbClr val="FFFFFF"/>
          </a:solidFill>
          <a:ln/>
        </p:spPr>
        <p:txBody>
          <a:bodyPr/>
          <a:lstStyle/>
          <a:p>
            <a:endParaRPr/>
          </a:p>
        </p:txBody>
      </p:sp>
      <p:sp>
        <p:nvSpPr>
          <p:cNvPr id="37" name="Text 35"/>
          <p:cNvSpPr/>
          <p:nvPr/>
        </p:nvSpPr>
        <p:spPr>
          <a:xfrm>
            <a:off x="1325880"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38" name="Shape 36"/>
          <p:cNvSpPr/>
          <p:nvPr/>
        </p:nvSpPr>
        <p:spPr>
          <a:xfrm>
            <a:off x="2761488"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39" name="Text 37"/>
          <p:cNvSpPr/>
          <p:nvPr/>
        </p:nvSpPr>
        <p:spPr>
          <a:xfrm>
            <a:off x="2898648"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Deployment run</a:t>
            </a:r>
            <a:endParaRPr lang="en-US" sz="1000"/>
          </a:p>
        </p:txBody>
      </p:sp>
      <p:sp>
        <p:nvSpPr>
          <p:cNvPr id="40" name="Shape 38"/>
          <p:cNvSpPr/>
          <p:nvPr/>
        </p:nvSpPr>
        <p:spPr>
          <a:xfrm>
            <a:off x="2898648" y="4983480"/>
            <a:ext cx="566928" cy="237744"/>
          </a:xfrm>
          <a:prstGeom prst="roundRect">
            <a:avLst>
              <a:gd name="adj" fmla="val 50000"/>
            </a:avLst>
          </a:prstGeom>
          <a:solidFill>
            <a:srgbClr val="2A9187"/>
          </a:solidFill>
          <a:ln/>
        </p:spPr>
        <p:txBody>
          <a:bodyPr/>
          <a:lstStyle/>
          <a:p>
            <a:endParaRPr/>
          </a:p>
        </p:txBody>
      </p:sp>
      <p:sp>
        <p:nvSpPr>
          <p:cNvPr id="41" name="Shape 39"/>
          <p:cNvSpPr/>
          <p:nvPr/>
        </p:nvSpPr>
        <p:spPr>
          <a:xfrm>
            <a:off x="3246120" y="5010912"/>
            <a:ext cx="182880" cy="182880"/>
          </a:xfrm>
          <a:prstGeom prst="ellipse">
            <a:avLst/>
          </a:prstGeom>
          <a:solidFill>
            <a:srgbClr val="FFFFFF"/>
          </a:solidFill>
          <a:ln/>
        </p:spPr>
        <p:txBody>
          <a:bodyPr/>
          <a:lstStyle/>
          <a:p>
            <a:endParaRPr/>
          </a:p>
        </p:txBody>
      </p:sp>
      <p:sp>
        <p:nvSpPr>
          <p:cNvPr id="42" name="Text 40"/>
          <p:cNvSpPr/>
          <p:nvPr/>
        </p:nvSpPr>
        <p:spPr>
          <a:xfrm>
            <a:off x="3538728"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43" name="Shape 41"/>
          <p:cNvSpPr/>
          <p:nvPr/>
        </p:nvSpPr>
        <p:spPr>
          <a:xfrm>
            <a:off x="4974336"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44" name="Text 42"/>
          <p:cNvSpPr/>
          <p:nvPr/>
        </p:nvSpPr>
        <p:spPr>
          <a:xfrm>
            <a:off x="5111496"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Validation results</a:t>
            </a:r>
            <a:endParaRPr lang="en-US" sz="1000"/>
          </a:p>
        </p:txBody>
      </p:sp>
      <p:sp>
        <p:nvSpPr>
          <p:cNvPr id="45" name="Shape 43"/>
          <p:cNvSpPr/>
          <p:nvPr/>
        </p:nvSpPr>
        <p:spPr>
          <a:xfrm>
            <a:off x="5111496" y="4983480"/>
            <a:ext cx="566928" cy="237744"/>
          </a:xfrm>
          <a:prstGeom prst="roundRect">
            <a:avLst>
              <a:gd name="adj" fmla="val 50000"/>
            </a:avLst>
          </a:prstGeom>
          <a:solidFill>
            <a:srgbClr val="2A9187"/>
          </a:solidFill>
          <a:ln/>
        </p:spPr>
        <p:txBody>
          <a:bodyPr/>
          <a:lstStyle/>
          <a:p>
            <a:endParaRPr/>
          </a:p>
        </p:txBody>
      </p:sp>
      <p:sp>
        <p:nvSpPr>
          <p:cNvPr id="46" name="Shape 44"/>
          <p:cNvSpPr/>
          <p:nvPr/>
        </p:nvSpPr>
        <p:spPr>
          <a:xfrm>
            <a:off x="5458968" y="5010912"/>
            <a:ext cx="182880" cy="182880"/>
          </a:xfrm>
          <a:prstGeom prst="ellipse">
            <a:avLst/>
          </a:prstGeom>
          <a:solidFill>
            <a:srgbClr val="FFFFFF"/>
          </a:solidFill>
          <a:ln/>
        </p:spPr>
        <p:txBody>
          <a:bodyPr/>
          <a:lstStyle/>
          <a:p>
            <a:endParaRPr/>
          </a:p>
        </p:txBody>
      </p:sp>
      <p:sp>
        <p:nvSpPr>
          <p:cNvPr id="47" name="Text 45"/>
          <p:cNvSpPr/>
          <p:nvPr/>
        </p:nvSpPr>
        <p:spPr>
          <a:xfrm>
            <a:off x="5751576"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48" name="Shape 46"/>
          <p:cNvSpPr/>
          <p:nvPr/>
        </p:nvSpPr>
        <p:spPr>
          <a:xfrm>
            <a:off x="7187184"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49" name="Text 47"/>
          <p:cNvSpPr/>
          <p:nvPr/>
        </p:nvSpPr>
        <p:spPr>
          <a:xfrm>
            <a:off x="7324344"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Release summary</a:t>
            </a:r>
            <a:endParaRPr lang="en-US" sz="1000"/>
          </a:p>
        </p:txBody>
      </p:sp>
      <p:sp>
        <p:nvSpPr>
          <p:cNvPr id="50" name="Shape 48"/>
          <p:cNvSpPr/>
          <p:nvPr/>
        </p:nvSpPr>
        <p:spPr>
          <a:xfrm>
            <a:off x="7324344" y="4983480"/>
            <a:ext cx="566928" cy="237744"/>
          </a:xfrm>
          <a:prstGeom prst="roundRect">
            <a:avLst>
              <a:gd name="adj" fmla="val 50000"/>
            </a:avLst>
          </a:prstGeom>
          <a:solidFill>
            <a:srgbClr val="C9CEDB"/>
          </a:solidFill>
          <a:ln/>
        </p:spPr>
        <p:txBody>
          <a:bodyPr/>
          <a:lstStyle/>
          <a:p>
            <a:endParaRPr/>
          </a:p>
        </p:txBody>
      </p:sp>
      <p:sp>
        <p:nvSpPr>
          <p:cNvPr id="51" name="Shape 49"/>
          <p:cNvSpPr/>
          <p:nvPr/>
        </p:nvSpPr>
        <p:spPr>
          <a:xfrm>
            <a:off x="7360920" y="5010912"/>
            <a:ext cx="182880" cy="182880"/>
          </a:xfrm>
          <a:prstGeom prst="ellipse">
            <a:avLst/>
          </a:prstGeom>
          <a:solidFill>
            <a:srgbClr val="FFFFFF"/>
          </a:solidFill>
          <a:ln/>
        </p:spPr>
        <p:txBody>
          <a:bodyPr/>
          <a:lstStyle/>
          <a:p>
            <a:endParaRPr/>
          </a:p>
        </p:txBody>
      </p:sp>
      <p:sp>
        <p:nvSpPr>
          <p:cNvPr id="52" name="Text 50"/>
          <p:cNvSpPr/>
          <p:nvPr/>
        </p:nvSpPr>
        <p:spPr>
          <a:xfrm>
            <a:off x="7964424" y="4983480"/>
            <a:ext cx="731520" cy="237744"/>
          </a:xfrm>
          <a:prstGeom prst="rect">
            <a:avLst/>
          </a:prstGeom>
          <a:noFill/>
          <a:ln/>
        </p:spPr>
        <p:txBody>
          <a:bodyPr wrap="square" rtlCol="0" anchor="ctr"/>
          <a:lstStyle/>
          <a:p>
            <a:pPr marL="0" indent="0">
              <a:buNone/>
            </a:pPr>
            <a:r>
              <a:rPr lang="en-US" sz="900">
                <a:solidFill>
                  <a:srgbClr val="5B6584"/>
                </a:solidFill>
                <a:latin typeface="Calibri" pitchFamily="34" charset="0"/>
                <a:ea typeface="Calibri" pitchFamily="34" charset="-122"/>
                <a:cs typeface="Calibri" pitchFamily="34" charset="-120"/>
              </a:rPr>
              <a:t>Off</a:t>
            </a:r>
            <a:endParaRPr lang="en-US" sz="900"/>
          </a:p>
        </p:txBody>
      </p:sp>
      <p:sp>
        <p:nvSpPr>
          <p:cNvPr id="53" name="Shape 51"/>
          <p:cNvSpPr/>
          <p:nvPr/>
        </p:nvSpPr>
        <p:spPr>
          <a:xfrm>
            <a:off x="9400032" y="4526280"/>
            <a:ext cx="2029968" cy="868680"/>
          </a:xfrm>
          <a:prstGeom prst="roundRect">
            <a:avLst>
              <a:gd name="adj" fmla="val 8421"/>
            </a:avLst>
          </a:prstGeom>
          <a:solidFill>
            <a:srgbClr val="FFFFFF"/>
          </a:solidFill>
          <a:ln/>
          <a:effectLst>
            <a:outerShdw blurRad="50800" dist="25400" dir="5400000" algn="bl" rotWithShape="0">
              <a:srgbClr val="1B1F3B">
                <a:alpha val="12000"/>
              </a:srgbClr>
            </a:outerShdw>
          </a:effectLst>
        </p:spPr>
        <p:txBody>
          <a:bodyPr/>
          <a:lstStyle/>
          <a:p>
            <a:endParaRPr/>
          </a:p>
        </p:txBody>
      </p:sp>
      <p:sp>
        <p:nvSpPr>
          <p:cNvPr id="54" name="Text 52"/>
          <p:cNvSpPr/>
          <p:nvPr/>
        </p:nvSpPr>
        <p:spPr>
          <a:xfrm>
            <a:off x="9537192" y="4617720"/>
            <a:ext cx="1755648" cy="292608"/>
          </a:xfrm>
          <a:prstGeom prst="rect">
            <a:avLst/>
          </a:prstGeom>
          <a:noFill/>
          <a:ln/>
        </p:spPr>
        <p:txBody>
          <a:bodyPr wrap="square" rtlCol="0" anchor="ctr"/>
          <a:lstStyle/>
          <a:p>
            <a:pPr marL="0" indent="0">
              <a:buNone/>
            </a:pPr>
            <a:r>
              <a:rPr lang="en-US" sz="1000" b="1">
                <a:solidFill>
                  <a:srgbClr val="1B1F3B"/>
                </a:solidFill>
                <a:latin typeface="Calibri" pitchFamily="34" charset="0"/>
                <a:ea typeface="Calibri" pitchFamily="34" charset="-122"/>
                <a:cs typeface="Calibri" pitchFamily="34" charset="-120"/>
              </a:rPr>
              <a:t>Rollback</a:t>
            </a:r>
            <a:endParaRPr lang="en-US" sz="1000"/>
          </a:p>
        </p:txBody>
      </p:sp>
      <p:sp>
        <p:nvSpPr>
          <p:cNvPr id="55" name="Shape 53"/>
          <p:cNvSpPr/>
          <p:nvPr/>
        </p:nvSpPr>
        <p:spPr>
          <a:xfrm>
            <a:off x="9537192" y="4983480"/>
            <a:ext cx="566928" cy="237744"/>
          </a:xfrm>
          <a:prstGeom prst="roundRect">
            <a:avLst>
              <a:gd name="adj" fmla="val 50000"/>
            </a:avLst>
          </a:prstGeom>
          <a:solidFill>
            <a:srgbClr val="2A9187"/>
          </a:solidFill>
          <a:ln/>
        </p:spPr>
        <p:txBody>
          <a:bodyPr/>
          <a:lstStyle/>
          <a:p>
            <a:endParaRPr/>
          </a:p>
        </p:txBody>
      </p:sp>
      <p:sp>
        <p:nvSpPr>
          <p:cNvPr id="56" name="Shape 54"/>
          <p:cNvSpPr/>
          <p:nvPr/>
        </p:nvSpPr>
        <p:spPr>
          <a:xfrm>
            <a:off x="9884664" y="5010912"/>
            <a:ext cx="182880" cy="182880"/>
          </a:xfrm>
          <a:prstGeom prst="ellipse">
            <a:avLst/>
          </a:prstGeom>
          <a:solidFill>
            <a:srgbClr val="FFFFFF"/>
          </a:solidFill>
          <a:ln/>
        </p:spPr>
        <p:txBody>
          <a:bodyPr/>
          <a:lstStyle/>
          <a:p>
            <a:endParaRPr/>
          </a:p>
        </p:txBody>
      </p:sp>
      <p:sp>
        <p:nvSpPr>
          <p:cNvPr id="57" name="Text 55"/>
          <p:cNvSpPr/>
          <p:nvPr/>
        </p:nvSpPr>
        <p:spPr>
          <a:xfrm>
            <a:off x="10177272" y="4983480"/>
            <a:ext cx="731520" cy="237744"/>
          </a:xfrm>
          <a:prstGeom prst="rect">
            <a:avLst/>
          </a:prstGeom>
          <a:noFill/>
          <a:ln/>
        </p:spPr>
        <p:txBody>
          <a:bodyPr wrap="square" rtlCol="0" anchor="ctr"/>
          <a:lstStyle/>
          <a:p>
            <a:pPr marL="0" indent="0">
              <a:buNone/>
            </a:pPr>
            <a:r>
              <a:rPr lang="en-US" sz="900">
                <a:solidFill>
                  <a:srgbClr val="1F6E66"/>
                </a:solidFill>
                <a:latin typeface="Calibri" pitchFamily="34" charset="0"/>
                <a:ea typeface="Calibri" pitchFamily="34" charset="-122"/>
                <a:cs typeface="Calibri" pitchFamily="34" charset="-120"/>
              </a:rPr>
              <a:t>On</a:t>
            </a:r>
            <a:endParaRPr lang="en-US" sz="900"/>
          </a:p>
        </p:txBody>
      </p:sp>
      <p:sp>
        <p:nvSpPr>
          <p:cNvPr id="58" name="Text 56"/>
          <p:cNvSpPr/>
          <p:nvPr/>
        </p:nvSpPr>
        <p:spPr>
          <a:xfrm>
            <a:off x="457200" y="6519672"/>
            <a:ext cx="8229600" cy="274320"/>
          </a:xfrm>
          <a:prstGeom prst="rect">
            <a:avLst/>
          </a:prstGeom>
          <a:noFill/>
          <a:ln/>
        </p:spPr>
        <p:txBody>
          <a:bodyPr wrap="square" lIns="91440" tIns="45720" rIns="91440" bIns="45720" rtlCol="0" anchor="ctr"/>
          <a:lstStyle/>
          <a:p>
            <a:pPr marL="0" indent="0">
              <a:buNone/>
            </a:pPr>
            <a:r>
              <a:rPr lang="en-US" sz="1000">
                <a:solidFill>
                  <a:srgbClr val="5B6584"/>
                </a:solidFill>
                <a:latin typeface="Calibri"/>
                <a:ea typeface="Calibri"/>
                <a:cs typeface="Calibri"/>
              </a:rPr>
              <a:t>Deployment as a Service</a:t>
            </a:r>
            <a:endParaRPr lang="en-US" sz="1000">
              <a:latin typeface="Calibri"/>
              <a:ea typeface="Calibri"/>
              <a:cs typeface="Calibri"/>
            </a:endParaRPr>
          </a:p>
        </p:txBody>
      </p:sp>
      <p:sp>
        <p:nvSpPr>
          <p:cNvPr id="59" name="Text 57"/>
          <p:cNvSpPr/>
          <p:nvPr/>
        </p:nvSpPr>
        <p:spPr>
          <a:xfrm>
            <a:off x="11274552" y="6519672"/>
            <a:ext cx="457200" cy="274320"/>
          </a:xfrm>
          <a:prstGeom prst="rect">
            <a:avLst/>
          </a:prstGeom>
          <a:noFill/>
          <a:ln/>
        </p:spPr>
        <p:txBody>
          <a:bodyPr wrap="square" rtlCol="0" anchor="ctr"/>
          <a:lstStyle/>
          <a:p>
            <a:pPr marL="0" indent="0" algn="r">
              <a:buNone/>
            </a:pPr>
            <a:r>
              <a:rPr lang="en-US" sz="1000">
                <a:solidFill>
                  <a:srgbClr val="5B6584"/>
                </a:solidFill>
                <a:latin typeface="Calibri" pitchFamily="34" charset="0"/>
                <a:ea typeface="Calibri" pitchFamily="34" charset="-122"/>
                <a:cs typeface="Calibri" pitchFamily="34" charset="-120"/>
              </a:rPr>
              <a:t>19</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12</Notes>
  <HiddenSlides>1</HiddenSlides>
  <ScaleCrop>false</ScaleCrop>
  <HeadingPairs>
    <vt:vector size="4" baseType="variant">
      <vt:variant>
        <vt:lpstr>Theme</vt:lpstr>
      </vt:variant>
      <vt:variant>
        <vt:i4>3</vt:i4>
      </vt:variant>
      <vt:variant>
        <vt:lpstr>Slide Titles</vt:lpstr>
      </vt:variant>
      <vt:variant>
        <vt:i4>19</vt:i4>
      </vt:variant>
    </vt:vector>
  </HeadingPairs>
  <TitlesOfParts>
    <vt:vector size="22" baseType="lpstr">
      <vt:lpstr>Office Theme</vt:lpstr>
      <vt:lpstr>2_Office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330</cp:revision>
  <dcterms:created xsi:type="dcterms:W3CDTF">2026-08-18T03:30:14Z</dcterms:created>
  <dcterms:modified xsi:type="dcterms:W3CDTF">2026-08-24T05:23:56Z</dcterms:modified>
</cp:coreProperties>
</file>