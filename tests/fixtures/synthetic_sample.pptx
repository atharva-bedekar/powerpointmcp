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497D"/>
                </a:solidFill>
                <a:latin typeface="Calibri"/>
              </a:defRPr>
            </a:pPr>
            <a:r>
              <a:t>Quarterly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95959"/>
                </a:solidFill>
                <a:latin typeface="Calibri"/>
              </a:defRPr>
            </a:pPr>
            <a:r>
              <a:t>Q3 2026 Executive Summary</a:t>
            </a:r>
          </a:p>
        </p:txBody>
      </p:sp>
      <p:sp>
        <p:nvSpPr>
          <p:cNvPr id="4" name="KPI Card: Revenue"/>
          <p:cNvSpPr/>
          <p:nvPr/>
        </p:nvSpPr>
        <p:spPr>
          <a:xfrm>
            <a:off x="914400" y="2286000"/>
            <a:ext cx="3200400" cy="201168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505050"/>
                </a:solidFill>
                <a:latin typeface="Calibri"/>
              </a:defRPr>
            </a:pPr>
            <a:r>
              <a:t>Total Revenue</a:t>
            </a:r>
          </a:p>
          <a:p>
            <a:pPr>
              <a:spcAft>
                <a:spcPts val="400"/>
              </a:spcAft>
              <a:defRPr sz="2800" b="1">
                <a:solidFill>
                  <a:srgbClr val="2980B9"/>
                </a:solidFill>
                <a:latin typeface="Calibri"/>
              </a:defRPr>
            </a:pPr>
            <a:r>
              <a:t>$12.4M</a:t>
            </a:r>
          </a:p>
          <a:p>
            <a:pPr>
              <a:defRPr sz="1100" i="1">
                <a:solidFill>
                  <a:srgbClr val="646464"/>
                </a:solidFill>
                <a:latin typeface="Calibri"/>
              </a:defRPr>
            </a:pPr>
            <a:r>
              <a:t>+18.2% vs Plan</a:t>
            </a:r>
          </a:p>
        </p:txBody>
      </p:sp>
      <p:sp>
        <p:nvSpPr>
          <p:cNvPr id="5" name="KPI Card: Users"/>
          <p:cNvSpPr/>
          <p:nvPr/>
        </p:nvSpPr>
        <p:spPr>
          <a:xfrm>
            <a:off x="4480560" y="2286000"/>
            <a:ext cx="3200400" cy="2011680"/>
          </a:xfrm>
          <a:prstGeom prst="roundRect">
            <a:avLst/>
          </a:prstGeom>
          <a:solidFill>
            <a:srgbClr val="E8F8E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505050"/>
                </a:solidFill>
                <a:latin typeface="Calibri"/>
              </a:defRPr>
            </a:pPr>
            <a:r>
              <a:t>Active Users</a:t>
            </a:r>
          </a:p>
          <a:p>
            <a:pPr>
              <a:spcAft>
                <a:spcPts val="400"/>
              </a:spcAft>
              <a:defRPr sz="2800" b="1">
                <a:solidFill>
                  <a:srgbClr val="27AE60"/>
                </a:solidFill>
                <a:latin typeface="Calibri"/>
              </a:defRPr>
            </a:pPr>
            <a:r>
              <a:t>450K</a:t>
            </a:r>
          </a:p>
          <a:p>
            <a:pPr>
              <a:defRPr sz="1100" i="1">
                <a:solidFill>
                  <a:srgbClr val="646464"/>
                </a:solidFill>
                <a:latin typeface="Calibri"/>
              </a:defRPr>
            </a:pPr>
            <a:r>
              <a:t>+24% YoY Growth</a:t>
            </a:r>
          </a:p>
        </p:txBody>
      </p:sp>
      <p:sp>
        <p:nvSpPr>
          <p:cNvPr id="6" name="KPI Card: NPS"/>
          <p:cNvSpPr/>
          <p:nvPr/>
        </p:nvSpPr>
        <p:spPr>
          <a:xfrm>
            <a:off x="8046720" y="2286000"/>
            <a:ext cx="3200400" cy="201168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505050"/>
                </a:solidFill>
                <a:latin typeface="Calibri"/>
              </a:defRPr>
            </a:pPr>
            <a:r>
              <a:t>Customer NPS</a:t>
            </a:r>
          </a:p>
          <a:p>
            <a:pPr>
              <a:spcAft>
                <a:spcPts val="400"/>
              </a:spcAft>
              <a:defRPr sz="2800" b="1">
                <a:solidFill>
                  <a:srgbClr val="E67E22"/>
                </a:solidFill>
                <a:latin typeface="Calibri"/>
              </a:defRPr>
            </a:pPr>
            <a:r>
              <a:t>78 / 100</a:t>
            </a:r>
          </a:p>
          <a:p>
            <a:pPr>
              <a:defRPr sz="1100" i="1">
                <a:solidFill>
                  <a:srgbClr val="646464"/>
                </a:solidFill>
                <a:latin typeface="Calibri"/>
              </a:defRPr>
            </a:pPr>
            <a:r>
              <a:t>Top Quartile Benchmark</a:t>
            </a:r>
          </a:p>
        </p:txBody>
      </p:sp>
      <p:pic>
        <p:nvPicPr>
          <p:cNvPr id="7" name="Performance Dashboard Ch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103327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497D"/>
                </a:solidFill>
                <a:latin typeface="Calibri"/>
              </a:defRPr>
            </a:pPr>
            <a:r>
              <a:t>Operational Architecture</a:t>
            </a:r>
          </a:p>
        </p:txBody>
      </p:sp>
      <p:sp>
        <p:nvSpPr>
          <p:cNvPr id="3" name="Column: Key Initiatives"/>
          <p:cNvSpPr/>
          <p:nvPr/>
        </p:nvSpPr>
        <p:spPr>
          <a:xfrm>
            <a:off x="914400" y="1737360"/>
            <a:ext cx="4937760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F497D"/>
                </a:solidFill>
                <a:latin typeface="Calibri"/>
              </a:defRPr>
            </a:pPr>
            <a:r>
              <a:t>Key Initiatives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Automated ingestion pipeline migration to high-speed bus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Deterministic geometric alignment &amp; text run preservation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Headless COM &amp; LibreOffice cross-platform rendering engine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Antigravity skill integration with recursive verification loop</a:t>
            </a:r>
          </a:p>
        </p:txBody>
      </p:sp>
      <p:sp>
        <p:nvSpPr>
          <p:cNvPr id="4" name="Column: Milestones"/>
          <p:cNvSpPr/>
          <p:nvPr/>
        </p:nvSpPr>
        <p:spPr>
          <a:xfrm>
            <a:off x="6309360" y="1737360"/>
            <a:ext cx="4937760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F497D"/>
                </a:solidFill>
                <a:latin typeface="Calibri"/>
              </a:defRPr>
            </a:pPr>
            <a:r>
              <a:t>Program Milestones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M1: Inspection Engine &amp; Shape Hierarchy Spec (Done)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M2: Coordinate Geometry &amp; Text Manipulation (In Progress)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M3: Multi-Engine Slide Rendering &amp; Visual Diffing</a:t>
            </a:r>
          </a:p>
          <a:p>
            <a:pPr>
              <a:spcAft>
                <a:spcPts val="4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•  M4: Session Safety, Versioning &amp; Rule Validation</a:t>
            </a:r>
          </a:p>
        </p:txBody>
      </p:sp>
      <p:sp>
        <p:nvSpPr>
          <p:cNvPr id="5" name="Process Box 1: Ingest"/>
          <p:cNvSpPr/>
          <p:nvPr/>
        </p:nvSpPr>
        <p:spPr>
          <a:xfrm>
            <a:off x="914400" y="4480560"/>
            <a:ext cx="3108960" cy="1280160"/>
          </a:xfrm>
          <a:prstGeom prst="chevron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Ingest &amp; Inspect</a:t>
            </a:r>
          </a:p>
          <a:p>
            <a:pPr algn="ctr">
              <a:defRPr sz="950">
                <a:solidFill>
                  <a:srgbClr val="F0F0F0"/>
                </a:solidFill>
                <a:latin typeface="Calibri"/>
              </a:defRPr>
            </a:pPr>
            <a:r>
              <a:t>Extract EMU coordinates, text frames, styles, and shape tree</a:t>
            </a:r>
          </a:p>
        </p:txBody>
      </p:sp>
      <p:sp>
        <p:nvSpPr>
          <p:cNvPr id="6" name="Process Box 2: Transform"/>
          <p:cNvSpPr/>
          <p:nvPr/>
        </p:nvSpPr>
        <p:spPr>
          <a:xfrm>
            <a:off x="4526280" y="4480560"/>
            <a:ext cx="3108960" cy="1280160"/>
          </a:xfrm>
          <a:prstGeom prst="chevro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Transform &amp; Edit</a:t>
            </a:r>
          </a:p>
          <a:p>
            <a:pPr algn="ctr">
              <a:defRPr sz="950">
                <a:solidFill>
                  <a:srgbClr val="F0F0F0"/>
                </a:solidFill>
                <a:latin typeface="Calibri"/>
              </a:defRPr>
            </a:pPr>
            <a:r>
              <a:t>Deterministic math alignment, text update, and OOXML patching</a:t>
            </a:r>
          </a:p>
        </p:txBody>
      </p:sp>
      <p:sp>
        <p:nvSpPr>
          <p:cNvPr id="7" name="Process Box 3: Verify"/>
          <p:cNvSpPr/>
          <p:nvPr/>
        </p:nvSpPr>
        <p:spPr>
          <a:xfrm>
            <a:off x="8138160" y="4480560"/>
            <a:ext cx="3108960" cy="1280160"/>
          </a:xfrm>
          <a:prstGeom prst="chevron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Render &amp; Verify</a:t>
            </a:r>
          </a:p>
          <a:p>
            <a:pPr algn="ctr">
              <a:defRPr sz="950">
                <a:solidFill>
                  <a:srgbClr val="F0F0F0"/>
                </a:solidFill>
                <a:latin typeface="Calibri"/>
              </a:defRPr>
            </a:pPr>
            <a:r>
              <a:t>Headless PNG generation, pixel diffing, and rule validation</a:t>
            </a:r>
          </a:p>
        </p:txBody>
      </p:sp>
      <p:sp>
        <p:nvSpPr>
          <p:cNvPr id="8" name="Footer: Confidential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  <a:latin typeface="Calibri"/>
              </a:defRPr>
            </a:pPr>
            <a:r>
              <a:t>Confidential — Antigravity Operational Architecture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C00000"/>
                </a:solidFill>
                <a:latin typeface="Calibri"/>
              </a:defRPr>
            </a:pPr>
            <a:r>
              <a:t>Audit &amp; Compliance Issues</a:t>
            </a:r>
          </a:p>
        </p:txBody>
      </p:sp>
      <p:sp>
        <p:nvSpPr>
          <p:cNvPr id="3" name="Defect Box A (Alpha Underlay)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FFCCCC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60000"/>
                </a:solidFill>
                <a:latin typeface="Calibri"/>
              </a:defRPr>
            </a:pPr>
            <a:r>
              <a:t>Audit Box Alpha</a:t>
            </a:r>
            <a:br/>
            <a:r>
              <a:t>(Base element positioned at x=1.0, y=2.0)</a:t>
            </a:r>
          </a:p>
        </p:txBody>
      </p:sp>
      <p:sp>
        <p:nvSpPr>
          <p:cNvPr id="4" name="Defect Box B (Beta Overlap)"/>
          <p:cNvSpPr/>
          <p:nvPr/>
        </p:nvSpPr>
        <p:spPr>
          <a:xfrm>
            <a:off x="2286000" y="2286000"/>
            <a:ext cx="3200400" cy="1828800"/>
          </a:xfrm>
          <a:prstGeom prst="rect">
            <a:avLst/>
          </a:prstGeom>
          <a:solidFill>
            <a:srgbClr val="CCE5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03296"/>
                </a:solidFill>
                <a:latin typeface="Calibri"/>
              </a:defRPr>
            </a:pPr>
            <a:r>
              <a:t>Audit Box Beta</a:t>
            </a:r>
            <a:br/>
            <a:r>
              <a:t>(Overlaps Box Alpha by 2.0 inches horizontal &amp; 1.5 inches vertical)</a:t>
            </a:r>
          </a:p>
        </p:txBody>
      </p:sp>
      <p:sp>
        <p:nvSpPr>
          <p:cNvPr id="5" name="Defect Box C (Right Edge Boundary Clipping)"/>
          <p:cNvSpPr/>
          <p:nvPr/>
        </p:nvSpPr>
        <p:spPr>
          <a:xfrm>
            <a:off x="10515600" y="1828800"/>
            <a:ext cx="2743200" cy="1828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84600"/>
                </a:solidFill>
                <a:latin typeface="Calibri"/>
              </a:defRPr>
            </a:pPr>
            <a:r>
              <a:t>Clipped Boundary Shape</a:t>
            </a:r>
            <a:br/>
            <a:r>
              <a:t>(Extends 1.17 inches past 13.333" slide width limit)</a:t>
            </a:r>
          </a:p>
        </p:txBody>
      </p:sp>
      <p:sp>
        <p:nvSpPr>
          <p:cNvPr id="6" name="Defect Box D (Tiny Font Warning)"/>
          <p:cNvSpPr/>
          <p:nvPr/>
        </p:nvSpPr>
        <p:spPr>
          <a:xfrm>
            <a:off x="914400" y="4389120"/>
            <a:ext cx="411480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23232"/>
                </a:solidFill>
                <a:latin typeface="Calibri"/>
              </a:defRPr>
            </a:pPr>
            <a:r>
              <a:t>Tiny Font Warning Section:</a:t>
            </a:r>
          </a:p>
          <a:p>
            <a:pPr>
              <a:defRPr sz="550">
                <a:solidFill>
                  <a:srgbClr val="505050"/>
                </a:solidFill>
                <a:latin typeface="Calibri"/>
              </a:defRPr>
            </a:pPr>
            <a:r>
              <a:rPr sz="550">
                <a:solidFill>
                  <a:srgbClr val="505050"/>
                </a:solidFill>
                <a:latin typeface="Calibri"/>
              </a:rPr>
              <a:t>LEGAL NOTICE: This microscopic disclaimer paragraph has intentionally been styled with a 5.5 point font size to rigorously trigger the rule-based slide validation engine's suspiciously tiny font warning (VAL-05 threshold &lt; 8.0 pt). All terms herein are binding.</a:t>
            </a:r>
          </a:p>
        </p:txBody>
      </p:sp>
      <p:sp>
        <p:nvSpPr>
          <p:cNvPr id="7" name="Defect Box E (Text Overflow Condition)"/>
          <p:cNvSpPr/>
          <p:nvPr/>
        </p:nvSpPr>
        <p:spPr>
          <a:xfrm>
            <a:off x="5669280" y="4389120"/>
            <a:ext cx="2926080" cy="1463040"/>
          </a:xfrm>
          <a:prstGeom prst="rect">
            <a:avLst/>
          </a:prstGeom>
          <a:solidFill>
            <a:srgbClr val="FFEBEE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2000" b="1">
                <a:solidFill>
                  <a:srgbClr val="B40000"/>
                </a:solidFill>
                <a:latin typeface="Calibri"/>
              </a:defRPr>
            </a:pPr>
            <a:r>
              <a:t>CRITICAL OVERFLOW:</a:t>
            </a:r>
          </a:p>
          <a:p>
            <a:pPr>
              <a:defRPr sz="1800">
                <a:solidFill>
                  <a:srgbClr val="780000"/>
                </a:solidFill>
                <a:latin typeface="Calibri"/>
              </a:defRPr>
            </a:pPr>
            <a:r>
              <a:t>This long high-point sentence is guaranteed to exceed the physical container bounds of this 3.2x1.6 inch box creating an intentional text overflow defect.</a:t>
            </a:r>
          </a:p>
        </p:txBody>
      </p:sp>
      <p:sp>
        <p:nvSpPr>
          <p:cNvPr id="8" name="Diagnostic Companion Box"/>
          <p:cNvSpPr/>
          <p:nvPr/>
        </p:nvSpPr>
        <p:spPr>
          <a:xfrm>
            <a:off x="8961120" y="4389120"/>
            <a:ext cx="2286000" cy="1463040"/>
          </a:xfrm>
          <a:prstGeom prst="rect">
            <a:avLst/>
          </a:prstGeom>
          <a:solidFill>
            <a:srgbClr val="F0F8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4678"/>
                </a:solidFill>
                <a:latin typeface="Calibri"/>
              </a:defRPr>
            </a:pPr>
            <a:r>
              <a:t>Validation Target</a:t>
            </a:r>
            <a:br/>
            <a:r>
              <a:t>(Properly formatted standard box for baseline diffing)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